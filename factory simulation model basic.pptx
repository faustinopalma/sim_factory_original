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20.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6"/>
  </p:notesMasterIdLst>
  <p:handoutMasterIdLst>
    <p:handoutMasterId r:id="rId37"/>
  </p:handoutMasterIdLst>
  <p:sldIdLst>
    <p:sldId id="384" r:id="rId2"/>
    <p:sldId id="376" r:id="rId3"/>
    <p:sldId id="380" r:id="rId4"/>
    <p:sldId id="390" r:id="rId5"/>
    <p:sldId id="386" r:id="rId6"/>
    <p:sldId id="392" r:id="rId7"/>
    <p:sldId id="394" r:id="rId8"/>
    <p:sldId id="393" r:id="rId9"/>
    <p:sldId id="395" r:id="rId10"/>
    <p:sldId id="396" r:id="rId11"/>
    <p:sldId id="397" r:id="rId12"/>
    <p:sldId id="399" r:id="rId13"/>
    <p:sldId id="400" r:id="rId14"/>
    <p:sldId id="387" r:id="rId15"/>
    <p:sldId id="401" r:id="rId16"/>
    <p:sldId id="402" r:id="rId17"/>
    <p:sldId id="403" r:id="rId18"/>
    <p:sldId id="404" r:id="rId19"/>
    <p:sldId id="405" r:id="rId20"/>
    <p:sldId id="411" r:id="rId21"/>
    <p:sldId id="418" r:id="rId22"/>
    <p:sldId id="412" r:id="rId23"/>
    <p:sldId id="414" r:id="rId24"/>
    <p:sldId id="417" r:id="rId25"/>
    <p:sldId id="415" r:id="rId26"/>
    <p:sldId id="416" r:id="rId27"/>
    <p:sldId id="389" r:id="rId28"/>
    <p:sldId id="406" r:id="rId29"/>
    <p:sldId id="382" r:id="rId30"/>
    <p:sldId id="407" r:id="rId31"/>
    <p:sldId id="408" r:id="rId32"/>
    <p:sldId id="391" r:id="rId33"/>
    <p:sldId id="409" r:id="rId34"/>
    <p:sldId id="410" r:id="rId35"/>
  </p:sldIdLst>
  <p:sldSz cx="9906000" cy="6858000" type="A4"/>
  <p:notesSz cx="6797675" cy="9872663"/>
  <p:custDataLst>
    <p:tags r:id="rId38"/>
  </p:custDataLst>
  <p:defaultTextStyle>
    <a:defPPr>
      <a:defRPr lang="it-IT"/>
    </a:defPPr>
    <a:lvl1pPr algn="ctr" rtl="0" eaLnBrk="0" fontAlgn="base" hangingPunct="0">
      <a:spcBef>
        <a:spcPct val="0"/>
      </a:spcBef>
      <a:spcAft>
        <a:spcPct val="0"/>
      </a:spcAft>
      <a:defRPr sz="2400" b="1" kern="1200">
        <a:solidFill>
          <a:schemeClr val="tx1"/>
        </a:solidFill>
        <a:latin typeface="Arial" charset="0"/>
        <a:ea typeface="Arial Unicode MS" pitchFamily="34" charset="-128"/>
        <a:cs typeface="Arial Unicode MS" pitchFamily="34" charset="-128"/>
      </a:defRPr>
    </a:lvl1pPr>
    <a:lvl2pPr marL="457200" algn="ctr" rtl="0" eaLnBrk="0" fontAlgn="base" hangingPunct="0">
      <a:spcBef>
        <a:spcPct val="0"/>
      </a:spcBef>
      <a:spcAft>
        <a:spcPct val="0"/>
      </a:spcAft>
      <a:defRPr sz="2400" b="1" kern="1200">
        <a:solidFill>
          <a:schemeClr val="tx1"/>
        </a:solidFill>
        <a:latin typeface="Arial" charset="0"/>
        <a:ea typeface="Arial Unicode MS" pitchFamily="34" charset="-128"/>
        <a:cs typeface="Arial Unicode MS" pitchFamily="34" charset="-128"/>
      </a:defRPr>
    </a:lvl2pPr>
    <a:lvl3pPr marL="914400" algn="ctr" rtl="0" eaLnBrk="0" fontAlgn="base" hangingPunct="0">
      <a:spcBef>
        <a:spcPct val="0"/>
      </a:spcBef>
      <a:spcAft>
        <a:spcPct val="0"/>
      </a:spcAft>
      <a:defRPr sz="2400" b="1" kern="1200">
        <a:solidFill>
          <a:schemeClr val="tx1"/>
        </a:solidFill>
        <a:latin typeface="Arial" charset="0"/>
        <a:ea typeface="Arial Unicode MS" pitchFamily="34" charset="-128"/>
        <a:cs typeface="Arial Unicode MS" pitchFamily="34" charset="-128"/>
      </a:defRPr>
    </a:lvl3pPr>
    <a:lvl4pPr marL="1371600" algn="ctr" rtl="0" eaLnBrk="0" fontAlgn="base" hangingPunct="0">
      <a:spcBef>
        <a:spcPct val="0"/>
      </a:spcBef>
      <a:spcAft>
        <a:spcPct val="0"/>
      </a:spcAft>
      <a:defRPr sz="2400" b="1" kern="1200">
        <a:solidFill>
          <a:schemeClr val="tx1"/>
        </a:solidFill>
        <a:latin typeface="Arial" charset="0"/>
        <a:ea typeface="Arial Unicode MS" pitchFamily="34" charset="-128"/>
        <a:cs typeface="Arial Unicode MS" pitchFamily="34" charset="-128"/>
      </a:defRPr>
    </a:lvl4pPr>
    <a:lvl5pPr marL="1828800" algn="ctr" rtl="0" eaLnBrk="0" fontAlgn="base" hangingPunct="0">
      <a:spcBef>
        <a:spcPct val="0"/>
      </a:spcBef>
      <a:spcAft>
        <a:spcPct val="0"/>
      </a:spcAft>
      <a:defRPr sz="2400" b="1" kern="1200">
        <a:solidFill>
          <a:schemeClr val="tx1"/>
        </a:solidFill>
        <a:latin typeface="Arial" charset="0"/>
        <a:ea typeface="Arial Unicode MS" pitchFamily="34" charset="-128"/>
        <a:cs typeface="Arial Unicode MS" pitchFamily="34" charset="-128"/>
      </a:defRPr>
    </a:lvl5pPr>
    <a:lvl6pPr marL="2286000" algn="l" defTabSz="914400" rtl="0" eaLnBrk="1" latinLnBrk="0" hangingPunct="1">
      <a:defRPr sz="2400" b="1" kern="1200">
        <a:solidFill>
          <a:schemeClr val="tx1"/>
        </a:solidFill>
        <a:latin typeface="Arial" charset="0"/>
        <a:ea typeface="Arial Unicode MS" pitchFamily="34" charset="-128"/>
        <a:cs typeface="Arial Unicode MS" pitchFamily="34" charset="-128"/>
      </a:defRPr>
    </a:lvl6pPr>
    <a:lvl7pPr marL="2743200" algn="l" defTabSz="914400" rtl="0" eaLnBrk="1" latinLnBrk="0" hangingPunct="1">
      <a:defRPr sz="2400" b="1" kern="1200">
        <a:solidFill>
          <a:schemeClr val="tx1"/>
        </a:solidFill>
        <a:latin typeface="Arial" charset="0"/>
        <a:ea typeface="Arial Unicode MS" pitchFamily="34" charset="-128"/>
        <a:cs typeface="Arial Unicode MS" pitchFamily="34" charset="-128"/>
      </a:defRPr>
    </a:lvl7pPr>
    <a:lvl8pPr marL="3200400" algn="l" defTabSz="914400" rtl="0" eaLnBrk="1" latinLnBrk="0" hangingPunct="1">
      <a:defRPr sz="2400" b="1" kern="1200">
        <a:solidFill>
          <a:schemeClr val="tx1"/>
        </a:solidFill>
        <a:latin typeface="Arial" charset="0"/>
        <a:ea typeface="Arial Unicode MS" pitchFamily="34" charset="-128"/>
        <a:cs typeface="Arial Unicode MS" pitchFamily="34" charset="-128"/>
      </a:defRPr>
    </a:lvl8pPr>
    <a:lvl9pPr marL="3657600" algn="l" defTabSz="914400" rtl="0" eaLnBrk="1" latinLnBrk="0" hangingPunct="1">
      <a:defRPr sz="2400" b="1" kern="1200">
        <a:solidFill>
          <a:schemeClr val="tx1"/>
        </a:solidFill>
        <a:latin typeface="Arial" charset="0"/>
        <a:ea typeface="Arial Unicode MS" pitchFamily="34" charset="-128"/>
        <a:cs typeface="Arial Unicode MS" pitchFamily="34" charset="-128"/>
      </a:defRPr>
    </a:lvl9pPr>
  </p:defaultTextStyle>
  <p:extLst>
    <p:ext uri="{EFAFB233-063F-42B5-8137-9DF3F51BA10A}">
      <p15:sldGuideLst xmlns:p15="http://schemas.microsoft.com/office/powerpoint/2012/main">
        <p15:guide id="1" orient="horz" pos="681">
          <p15:clr>
            <a:srgbClr val="A4A3A4"/>
          </p15:clr>
        </p15:guide>
        <p15:guide id="2" orient="horz" pos="1025">
          <p15:clr>
            <a:srgbClr val="A4A3A4"/>
          </p15:clr>
        </p15:guide>
        <p15:guide id="3" orient="horz" pos="837">
          <p15:clr>
            <a:srgbClr val="A4A3A4"/>
          </p15:clr>
        </p15:guide>
        <p15:guide id="4" orient="horz" pos="863">
          <p15:clr>
            <a:srgbClr val="A4A3A4"/>
          </p15:clr>
        </p15:guide>
        <p15:guide id="5" orient="horz" pos="2541">
          <p15:clr>
            <a:srgbClr val="A4A3A4"/>
          </p15:clr>
        </p15:guide>
        <p15:guide id="6" orient="horz" pos="4059">
          <p15:clr>
            <a:srgbClr val="A4A3A4"/>
          </p15:clr>
        </p15:guide>
        <p15:guide id="7" orient="horz" pos="4193">
          <p15:clr>
            <a:srgbClr val="A4A3A4"/>
          </p15:clr>
        </p15:guide>
        <p15:guide id="8" orient="horz" pos="1069">
          <p15:clr>
            <a:srgbClr val="A4A3A4"/>
          </p15:clr>
        </p15:guide>
        <p15:guide id="9" pos="3120">
          <p15:clr>
            <a:srgbClr val="A4A3A4"/>
          </p15:clr>
        </p15:guide>
        <p15:guide id="10" pos="152">
          <p15:clr>
            <a:srgbClr val="A4A3A4"/>
          </p15:clr>
        </p15:guide>
        <p15:guide id="11" pos="285">
          <p15:clr>
            <a:srgbClr val="A4A3A4"/>
          </p15:clr>
        </p15:guide>
        <p15:guide id="12" pos="2867">
          <p15:clr>
            <a:srgbClr val="A4A3A4"/>
          </p15:clr>
        </p15:guide>
        <p15:guide id="13" pos="3074">
          <p15:clr>
            <a:srgbClr val="A4A3A4"/>
          </p15:clr>
        </p15:guide>
        <p15:guide id="14" pos="3165">
          <p15:clr>
            <a:srgbClr val="A4A3A4"/>
          </p15:clr>
        </p15:guide>
        <p15:guide id="15" pos="3373">
          <p15:clr>
            <a:srgbClr val="A4A3A4"/>
          </p15:clr>
        </p15:guide>
        <p15:guide id="16" pos="6089">
          <p15:clr>
            <a:srgbClr val="A4A3A4"/>
          </p15:clr>
        </p15:guide>
        <p15:guide id="17" pos="5956">
          <p15:clr>
            <a:srgbClr val="A4A3A4"/>
          </p15:clr>
        </p15:guide>
      </p15:sldGuideLst>
    </p:ext>
    <p:ext uri="{2D200454-40CA-4A62-9FC3-DE9A4176ACB9}">
      <p15:notesGuideLst xmlns:p15="http://schemas.microsoft.com/office/powerpoint/2012/main">
        <p15:guide id="1" orient="horz" pos="3109">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400"/>
    <a:srgbClr val="FF9933"/>
    <a:srgbClr val="4D4D4D"/>
    <a:srgbClr val="808080"/>
    <a:srgbClr val="21007E"/>
    <a:srgbClr val="DDDDDD"/>
    <a:srgbClr val="FF99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09" autoAdjust="0"/>
    <p:restoredTop sz="94646" autoAdjust="0"/>
  </p:normalViewPr>
  <p:slideViewPr>
    <p:cSldViewPr snapToGrid="0">
      <p:cViewPr varScale="1">
        <p:scale>
          <a:sx n="125" d="100"/>
          <a:sy n="125" d="100"/>
        </p:scale>
        <p:origin x="88" y="172"/>
      </p:cViewPr>
      <p:guideLst>
        <p:guide orient="horz" pos="681"/>
        <p:guide orient="horz" pos="1025"/>
        <p:guide orient="horz" pos="837"/>
        <p:guide orient="horz" pos="863"/>
        <p:guide orient="horz" pos="2541"/>
        <p:guide orient="horz" pos="4059"/>
        <p:guide orient="horz" pos="4193"/>
        <p:guide orient="horz" pos="1069"/>
        <p:guide pos="3120"/>
        <p:guide pos="152"/>
        <p:guide pos="285"/>
        <p:guide pos="2867"/>
        <p:guide pos="3074"/>
        <p:guide pos="3165"/>
        <p:guide pos="3373"/>
        <p:guide pos="6089"/>
        <p:guide pos="5956"/>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0" d="100"/>
          <a:sy n="50" d="100"/>
        </p:scale>
        <p:origin x="-2496" y="-96"/>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6" name="Rectangle 4"/>
          <p:cNvSpPr>
            <a:spLocks noGrp="1" noChangeArrowheads="1"/>
          </p:cNvSpPr>
          <p:nvPr>
            <p:ph type="ftr" sz="quarter" idx="2"/>
          </p:nvPr>
        </p:nvSpPr>
        <p:spPr bwMode="auto">
          <a:xfrm>
            <a:off x="190250" y="9147709"/>
            <a:ext cx="2946065" cy="494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057" tIns="48528" rIns="97057" bIns="48528" numCol="1" anchor="b" anchorCtr="0" compatLnSpc="1">
            <a:prstTxWarp prst="textNoShape">
              <a:avLst/>
            </a:prstTxWarp>
          </a:bodyPr>
          <a:lstStyle>
            <a:lvl1pPr algn="l" defTabSz="969679">
              <a:defRPr sz="1200" b="0"/>
            </a:lvl1pPr>
          </a:lstStyle>
          <a:p>
            <a:endParaRPr lang="it-IT" sz="1100" dirty="0">
              <a:solidFill>
                <a:schemeClr val="bg2"/>
              </a:solidFill>
            </a:endParaRPr>
          </a:p>
        </p:txBody>
      </p:sp>
      <p:sp>
        <p:nvSpPr>
          <p:cNvPr id="59397" name="Rectangle 5"/>
          <p:cNvSpPr>
            <a:spLocks noGrp="1" noChangeArrowheads="1"/>
          </p:cNvSpPr>
          <p:nvPr>
            <p:ph type="sldNum" sz="quarter" idx="3"/>
          </p:nvPr>
        </p:nvSpPr>
        <p:spPr bwMode="auto">
          <a:xfrm>
            <a:off x="3604287" y="9147709"/>
            <a:ext cx="2946064" cy="494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057" tIns="48528" rIns="97057" bIns="48528" numCol="1" anchor="b" anchorCtr="0" compatLnSpc="1">
            <a:prstTxWarp prst="textNoShape">
              <a:avLst/>
            </a:prstTxWarp>
          </a:bodyPr>
          <a:lstStyle>
            <a:lvl1pPr algn="r" defTabSz="969679">
              <a:defRPr sz="1200" b="0"/>
            </a:lvl1pPr>
          </a:lstStyle>
          <a:p>
            <a:fld id="{11A193D9-9DD5-41D1-A99F-7B720C8AAB64}" type="slidenum">
              <a:rPr lang="it-IT" sz="1100">
                <a:solidFill>
                  <a:schemeClr val="bg2"/>
                </a:solidFill>
              </a:rPr>
              <a:pPr/>
              <a:t>‹#›</a:t>
            </a:fld>
            <a:endParaRPr lang="it-IT" sz="1100">
              <a:solidFill>
                <a:schemeClr val="bg2"/>
              </a:solidFill>
            </a:endParaRPr>
          </a:p>
        </p:txBody>
      </p:sp>
    </p:spTree>
    <p:extLst>
      <p:ext uri="{BB962C8B-B14F-4D97-AF65-F5344CB8AC3E}">
        <p14:creationId xmlns:p14="http://schemas.microsoft.com/office/powerpoint/2010/main" val="3778566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23900" y="739775"/>
            <a:ext cx="5349875" cy="3703638"/>
          </a:xfrm>
          <a:prstGeom prst="rect">
            <a:avLst/>
          </a:prstGeom>
          <a:noFill/>
          <a:ln w="12700">
            <a:solidFill>
              <a:prstClr val="black"/>
            </a:solidFill>
          </a:ln>
        </p:spPr>
        <p:txBody>
          <a:bodyPr vert="horz" lIns="87545" tIns="43772" rIns="87545" bIns="43772" rtlCol="0" anchor="ctr"/>
          <a:lstStyle/>
          <a:p>
            <a:endParaRPr lang="en-GB"/>
          </a:p>
        </p:txBody>
      </p:sp>
      <p:sp>
        <p:nvSpPr>
          <p:cNvPr id="3" name="Notes Placeholder 2"/>
          <p:cNvSpPr>
            <a:spLocks noGrp="1"/>
          </p:cNvSpPr>
          <p:nvPr>
            <p:ph type="body" sz="quarter" idx="3"/>
          </p:nvPr>
        </p:nvSpPr>
        <p:spPr>
          <a:xfrm>
            <a:off x="679161" y="4688941"/>
            <a:ext cx="5439356" cy="4443847"/>
          </a:xfrm>
          <a:prstGeom prst="rect">
            <a:avLst/>
          </a:prstGeom>
        </p:spPr>
        <p:txBody>
          <a:bodyPr vert="horz" lIns="87545" tIns="43772" rIns="87545" bIns="43772" rtlCol="0"/>
          <a:lstStyle/>
          <a:p>
            <a:pPr lvl="0"/>
            <a:r>
              <a:rPr lang="en-GB" dirty="0"/>
              <a:t>Click to edit Master text styles</a:t>
            </a:r>
          </a:p>
          <a:p>
            <a:pPr lvl="1"/>
            <a:r>
              <a:rPr lang="en-GB" dirty="0"/>
              <a:t>Second level</a:t>
            </a:r>
          </a:p>
        </p:txBody>
      </p:sp>
      <p:sp>
        <p:nvSpPr>
          <p:cNvPr id="4" name="Slide Number Placeholder 3"/>
          <p:cNvSpPr>
            <a:spLocks noGrp="1"/>
          </p:cNvSpPr>
          <p:nvPr>
            <p:ph type="sldNum" sz="quarter" idx="5"/>
          </p:nvPr>
        </p:nvSpPr>
        <p:spPr>
          <a:xfrm>
            <a:off x="6366998" y="9531330"/>
            <a:ext cx="143784" cy="137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lang="en-GB" sz="900" b="0" smtClean="0">
                <a:solidFill>
                  <a:schemeClr val="bg2"/>
                </a:solidFill>
                <a:latin typeface="+mj-lt"/>
              </a:defRPr>
            </a:lvl1pPr>
          </a:lstStyle>
          <a:p>
            <a:pPr algn="r"/>
            <a:fld id="{29AF8116-849A-4068-82DB-A48A8852C82E}" type="slidenum">
              <a:rPr lang="en-GB" smtClean="0"/>
              <a:pPr algn="r"/>
              <a:t>‹#›</a:t>
            </a:fld>
            <a:endParaRPr lang="en-GB" dirty="0"/>
          </a:p>
        </p:txBody>
      </p:sp>
    </p:spTree>
    <p:extLst>
      <p:ext uri="{BB962C8B-B14F-4D97-AF65-F5344CB8AC3E}">
        <p14:creationId xmlns:p14="http://schemas.microsoft.com/office/powerpoint/2010/main" val="244108242"/>
      </p:ext>
    </p:extLst>
  </p:cSld>
  <p:clrMap bg1="lt1" tx1="dk1" bg2="lt2" tx2="dk2" accent1="accent1" accent2="accent2" accent3="accent3" accent4="accent4" accent5="accent5" accent6="accent6" hlink="hlink" folHlink="folHlink"/>
  <p:hf sldNum="0" hdr="0" ftr="0" dt="0"/>
  <p:notesStyle>
    <a:lvl1pPr marL="182563" indent="-182563" algn="l" rtl="0" eaLnBrk="0" fontAlgn="base" hangingPunct="0">
      <a:spcBef>
        <a:spcPts val="400"/>
      </a:spcBef>
      <a:spcAft>
        <a:spcPts val="400"/>
      </a:spcAft>
      <a:buClr>
        <a:schemeClr val="accent2"/>
      </a:buClr>
      <a:buSzPct val="95000"/>
      <a:buFont typeface="Wingdings 2" panose="05020102010507070707" pitchFamily="18" charset="2"/>
      <a:buChar char="¾"/>
      <a:defRPr lang="it-IT" sz="1100" kern="1200" dirty="0" smtClean="0">
        <a:solidFill>
          <a:schemeClr val="tx1"/>
        </a:solidFill>
        <a:latin typeface="Arial" panose="020B0604020202020204" pitchFamily="34" charset="0"/>
        <a:ea typeface="+mn-ea"/>
        <a:cs typeface="Arial" panose="020B0604020202020204" pitchFamily="34" charset="0"/>
      </a:defRPr>
    </a:lvl1pPr>
    <a:lvl2pPr marL="358775" indent="-176213" algn="l" rtl="0" eaLnBrk="0" fontAlgn="base" hangingPunct="0">
      <a:spcBef>
        <a:spcPts val="400"/>
      </a:spcBef>
      <a:spcAft>
        <a:spcPts val="400"/>
      </a:spcAft>
      <a:buClr>
        <a:schemeClr val="accent2"/>
      </a:buClr>
      <a:buSzPct val="100000"/>
      <a:buFont typeface="Arial Unicode MS" panose="020B0604020202020204" pitchFamily="34" charset="-128"/>
      <a:buChar char="-"/>
      <a:defRPr lang="it-IT" sz="1100" kern="1200" dirty="0" smtClean="0">
        <a:solidFill>
          <a:schemeClr val="tx1"/>
        </a:solidFill>
        <a:latin typeface="Arial" panose="020B0604020202020204" pitchFamily="34" charset="0"/>
        <a:ea typeface="+mn-ea"/>
        <a:cs typeface="Arial" panose="020B0604020202020204" pitchFamily="34" charset="0"/>
      </a:defRPr>
    </a:lvl2pPr>
    <a:lvl3pPr marL="636588" indent="-179388" algn="l" rtl="0" eaLnBrk="0" fontAlgn="base" hangingPunct="0">
      <a:spcBef>
        <a:spcPts val="400"/>
      </a:spcBef>
      <a:spcAft>
        <a:spcPts val="400"/>
      </a:spcAft>
      <a:buClr>
        <a:schemeClr val="accent2"/>
      </a:buClr>
      <a:buSzPct val="85000"/>
      <a:buFont typeface="Wingdings 2" panose="05020102010507070707" pitchFamily="18" charset="2"/>
      <a:buChar char="¡"/>
      <a:defRPr lang="it-IT" sz="1100" kern="1200" dirty="0" smtClean="0">
        <a:solidFill>
          <a:schemeClr val="tx1"/>
        </a:solidFill>
        <a:latin typeface="Arial" panose="020B0604020202020204" pitchFamily="34" charset="0"/>
        <a:ea typeface="+mn-ea"/>
        <a:cs typeface="Arial" panose="020B0604020202020204" pitchFamily="34" charset="0"/>
      </a:defRPr>
    </a:lvl3pPr>
    <a:lvl4pPr marL="809625" indent="-173038" algn="l" rtl="0" eaLnBrk="0" fontAlgn="base" hangingPunct="0">
      <a:spcBef>
        <a:spcPts val="400"/>
      </a:spcBef>
      <a:spcAft>
        <a:spcPts val="400"/>
      </a:spcAft>
      <a:buClr>
        <a:schemeClr val="accent2"/>
      </a:buClr>
      <a:buFont typeface="Arial Unicode MS" panose="020B0604020202020204" pitchFamily="34" charset="-128"/>
      <a:buChar char="-"/>
      <a:defRPr lang="it-IT" sz="1100" kern="1200" baseline="0" dirty="0" smtClean="0">
        <a:solidFill>
          <a:schemeClr val="tx1"/>
        </a:solidFill>
        <a:latin typeface="Arial" panose="020B0604020202020204" pitchFamily="34" charset="0"/>
        <a:ea typeface="+mn-ea"/>
        <a:cs typeface="Arial" panose="020B0604020202020204" pitchFamily="34" charset="0"/>
      </a:defRPr>
    </a:lvl4pPr>
    <a:lvl5pPr marL="990600" indent="-180975" algn="l" rtl="0" eaLnBrk="0" fontAlgn="base" hangingPunct="0">
      <a:spcBef>
        <a:spcPts val="400"/>
      </a:spcBef>
      <a:spcAft>
        <a:spcPts val="400"/>
      </a:spcAft>
      <a:buClr>
        <a:schemeClr val="accent2"/>
      </a:buClr>
      <a:buFont typeface="Arial Unicode MS" panose="020B0604020202020204" pitchFamily="34" charset="-128"/>
      <a:buChar char="-"/>
      <a:defRPr lang="it-IT" sz="1100" kern="1200" dirty="0" smtClean="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9499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08625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85082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06470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058795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01600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28535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44483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33307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56394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97924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8585055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048562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44893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421888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93540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147328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14391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068219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6544678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883057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74511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313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81551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ctory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63238"/>
                </a:solidFill>
              </a:defRPr>
            </a:lvl1pPr>
          </a:lstStyle>
          <a:p>
            <a:r>
              <a:rPr lang="en-GB" noProof="0" dirty="0"/>
              <a:t>Click to edit Master title style</a:t>
            </a:r>
          </a:p>
        </p:txBody>
      </p:sp>
    </p:spTree>
    <p:extLst>
      <p:ext uri="{BB962C8B-B14F-4D97-AF65-F5344CB8AC3E}">
        <p14:creationId xmlns:p14="http://schemas.microsoft.com/office/powerpoint/2010/main" val="2827163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actory Content">
    <p:bg>
      <p:bgPr>
        <a:solidFill>
          <a:schemeClr val="bg1"/>
        </a:solidFill>
        <a:effectLst/>
      </p:bgPr>
    </p:bg>
    <p:spTree>
      <p:nvGrpSpPr>
        <p:cNvPr id="1" name=""/>
        <p:cNvGrpSpPr/>
        <p:nvPr/>
      </p:nvGrpSpPr>
      <p:grpSpPr>
        <a:xfrm>
          <a:off x="0" y="0"/>
          <a:ext cx="0" cy="0"/>
          <a:chOff x="0" y="0"/>
          <a:chExt cx="0" cy="0"/>
        </a:xfrm>
      </p:grpSpPr>
      <p:sp>
        <p:nvSpPr>
          <p:cNvPr id="183348" name="Rectangle 52"/>
          <p:cNvSpPr>
            <a:spLocks noGrp="1" noChangeArrowheads="1"/>
          </p:cNvSpPr>
          <p:nvPr>
            <p:ph type="title"/>
          </p:nvPr>
        </p:nvSpPr>
        <p:spPr bwMode="auto">
          <a:xfrm>
            <a:off x="657361" y="225425"/>
            <a:ext cx="879493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4000" tIns="36000" rIns="36000" bIns="36000" numCol="1" anchor="ctr" anchorCtr="0" compatLnSpc="1">
            <a:prstTxWarp prst="textNoShape">
              <a:avLst/>
            </a:prstTxWarp>
          </a:bodyPr>
          <a:lstStyle/>
          <a:p>
            <a:pPr lvl="0"/>
            <a:r>
              <a:rPr lang="en-GB" noProof="0" dirty="0"/>
              <a:t>Click to edit Master title style</a:t>
            </a:r>
            <a:endParaRPr lang="en-GB" altLang="ko-KR" noProof="0" dirty="0"/>
          </a:p>
        </p:txBody>
      </p:sp>
      <p:sp>
        <p:nvSpPr>
          <p:cNvPr id="9" name="Rectangle 54"/>
          <p:cNvSpPr>
            <a:spLocks noGrp="1" noChangeArrowheads="1"/>
          </p:cNvSpPr>
          <p:nvPr>
            <p:ph type="body" idx="1"/>
          </p:nvPr>
        </p:nvSpPr>
        <p:spPr bwMode="auto">
          <a:xfrm>
            <a:off x="448750" y="1697038"/>
            <a:ext cx="9003541" cy="4719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Autofit/>
          </a:bodyPr>
          <a:lstStyle/>
          <a:p>
            <a:pPr lvl="1"/>
            <a:r>
              <a:rPr lang="en-GB" noProof="0" dirty="0"/>
              <a:t>Click to edit text</a:t>
            </a:r>
          </a:p>
          <a:p>
            <a:pPr lvl="2"/>
            <a:r>
              <a:rPr lang="en-GB" noProof="0" dirty="0"/>
              <a:t>Second level</a:t>
            </a:r>
          </a:p>
          <a:p>
            <a:pPr lvl="3"/>
            <a:r>
              <a:rPr lang="en-GB" noProof="0" dirty="0"/>
              <a:t>Third level</a:t>
            </a:r>
          </a:p>
          <a:p>
            <a:pPr lvl="4"/>
            <a:r>
              <a:rPr lang="en-GB" noProof="0" dirty="0"/>
              <a:t>Fourth level</a:t>
            </a:r>
          </a:p>
          <a:p>
            <a:pPr lvl="5"/>
            <a:r>
              <a:rPr lang="en-GB" noProof="0" dirty="0"/>
              <a:t>Fifth level</a:t>
            </a:r>
          </a:p>
          <a:p>
            <a:pPr lvl="6"/>
            <a:r>
              <a:rPr lang="en-GB" noProof="0" dirty="0"/>
              <a:t>Sixth level</a:t>
            </a:r>
          </a:p>
          <a:p>
            <a:pPr lvl="7"/>
            <a:r>
              <a:rPr lang="en-GB" noProof="0" dirty="0"/>
              <a:t>Seventh level</a:t>
            </a:r>
          </a:p>
          <a:p>
            <a:pPr lvl="8"/>
            <a:r>
              <a:rPr lang="en-GB" noProof="0" dirty="0"/>
              <a:t>Eighth level</a:t>
            </a:r>
          </a:p>
        </p:txBody>
      </p:sp>
      <p:sp>
        <p:nvSpPr>
          <p:cNvPr id="117" name="Text Box 7"/>
          <p:cNvSpPr txBox="1">
            <a:spLocks noChangeArrowheads="1"/>
          </p:cNvSpPr>
          <p:nvPr userDrawn="1"/>
        </p:nvSpPr>
        <p:spPr bwMode="auto">
          <a:xfrm>
            <a:off x="9515637" y="6656988"/>
            <a:ext cx="141064" cy="1384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a:fld id="{EFA0BA0C-BC11-4DCD-9112-89D780AF7FAF}" type="slidenum">
              <a:rPr lang="en-GB" sz="900" b="0" smtClean="0">
                <a:solidFill>
                  <a:srgbClr val="263238"/>
                </a:solidFill>
                <a:latin typeface="+mj-lt"/>
              </a:rPr>
              <a:pPr algn="r"/>
              <a:t>‹#›</a:t>
            </a:fld>
            <a:endParaRPr lang="en-GB" sz="900" b="0" dirty="0">
              <a:solidFill>
                <a:srgbClr val="263238"/>
              </a:solidFill>
              <a:latin typeface="+mj-lt"/>
            </a:endParaRPr>
          </a:p>
        </p:txBody>
      </p:sp>
      <p:sp>
        <p:nvSpPr>
          <p:cNvPr id="113" name="Text Box 12"/>
          <p:cNvSpPr txBox="1">
            <a:spLocks noChangeArrowheads="1"/>
          </p:cNvSpPr>
          <p:nvPr userDrawn="1"/>
        </p:nvSpPr>
        <p:spPr bwMode="auto">
          <a:xfrm>
            <a:off x="235485" y="6656988"/>
            <a:ext cx="1380186" cy="123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l"/>
            <a:r>
              <a:rPr lang="en-GB" sz="800" b="0" noProof="0">
                <a:solidFill>
                  <a:srgbClr val="64748B"/>
                </a:solidFill>
                <a:latin typeface="+mj-lt"/>
              </a:rPr>
              <a:t>factory simulation model basic</a:t>
            </a:r>
            <a:endParaRPr lang="en-GB" sz="800" b="0" noProof="0" dirty="0">
              <a:solidFill>
                <a:srgbClr val="64748B"/>
              </a:solidFill>
              <a:latin typeface="+mj-lt"/>
            </a:endParaRPr>
          </a:p>
        </p:txBody>
      </p:sp>
    </p:spTree>
  </p:cSld>
  <p:clrMap bg1="lt1" tx1="dk1" bg2="lt2" tx2="dk2" accent1="accent1" accent2="accent2" accent3="accent3" accent4="accent4" accent5="accent5" accent6="accent6" hlink="hlink" folHlink="folHlink"/>
  <p:sldLayoutIdLst>
    <p:sldLayoutId id="2147483686" r:id="rId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rtl="0" eaLnBrk="1" fontAlgn="base" hangingPunct="1">
        <a:lnSpc>
          <a:spcPct val="90000"/>
        </a:lnSpc>
        <a:spcBef>
          <a:spcPct val="0"/>
        </a:spcBef>
        <a:spcAft>
          <a:spcPct val="0"/>
        </a:spcAft>
        <a:defRPr sz="2200">
          <a:solidFill>
            <a:srgbClr val="263238"/>
          </a:solidFill>
          <a:latin typeface="+mj-lt"/>
          <a:ea typeface="+mj-ea"/>
          <a:cs typeface="+mj-cs"/>
        </a:defRPr>
      </a:lvl1pPr>
      <a:lvl2pPr algn="l" rtl="0" eaLnBrk="1" fontAlgn="base" hangingPunct="1">
        <a:lnSpc>
          <a:spcPct val="90000"/>
        </a:lnSpc>
        <a:spcBef>
          <a:spcPct val="0"/>
        </a:spcBef>
        <a:spcAft>
          <a:spcPct val="0"/>
        </a:spcAft>
        <a:defRPr sz="2400">
          <a:solidFill>
            <a:schemeClr val="tx2"/>
          </a:solidFill>
          <a:latin typeface="Arial" charset="0"/>
        </a:defRPr>
      </a:lvl2pPr>
      <a:lvl3pPr algn="l" rtl="0" eaLnBrk="1" fontAlgn="base" hangingPunct="1">
        <a:lnSpc>
          <a:spcPct val="90000"/>
        </a:lnSpc>
        <a:spcBef>
          <a:spcPct val="0"/>
        </a:spcBef>
        <a:spcAft>
          <a:spcPct val="0"/>
        </a:spcAft>
        <a:defRPr sz="2400">
          <a:solidFill>
            <a:schemeClr val="tx2"/>
          </a:solidFill>
          <a:latin typeface="Arial" charset="0"/>
        </a:defRPr>
      </a:lvl3pPr>
      <a:lvl4pPr algn="l" rtl="0" eaLnBrk="1" fontAlgn="base" hangingPunct="1">
        <a:lnSpc>
          <a:spcPct val="90000"/>
        </a:lnSpc>
        <a:spcBef>
          <a:spcPct val="0"/>
        </a:spcBef>
        <a:spcAft>
          <a:spcPct val="0"/>
        </a:spcAft>
        <a:defRPr sz="2400">
          <a:solidFill>
            <a:schemeClr val="tx2"/>
          </a:solidFill>
          <a:latin typeface="Arial" charset="0"/>
        </a:defRPr>
      </a:lvl4pPr>
      <a:lvl5pPr algn="l" rtl="0" eaLnBrk="1" fontAlgn="base" hangingPunct="1">
        <a:lnSpc>
          <a:spcPct val="90000"/>
        </a:lnSpc>
        <a:spcBef>
          <a:spcPct val="0"/>
        </a:spcBef>
        <a:spcAft>
          <a:spcPct val="0"/>
        </a:spcAft>
        <a:defRPr sz="2400">
          <a:solidFill>
            <a:schemeClr val="tx2"/>
          </a:solidFill>
          <a:latin typeface="Arial" charset="0"/>
        </a:defRPr>
      </a:lvl5pPr>
      <a:lvl6pPr marL="457200" algn="l" rtl="0" eaLnBrk="1" fontAlgn="base" hangingPunct="1">
        <a:lnSpc>
          <a:spcPct val="90000"/>
        </a:lnSpc>
        <a:spcBef>
          <a:spcPct val="0"/>
        </a:spcBef>
        <a:spcAft>
          <a:spcPct val="0"/>
        </a:spcAft>
        <a:defRPr sz="2400">
          <a:solidFill>
            <a:schemeClr val="tx2"/>
          </a:solidFill>
          <a:latin typeface="Arial" charset="0"/>
        </a:defRPr>
      </a:lvl6pPr>
      <a:lvl7pPr marL="914400" algn="l" rtl="0" eaLnBrk="1" fontAlgn="base" hangingPunct="1">
        <a:lnSpc>
          <a:spcPct val="90000"/>
        </a:lnSpc>
        <a:spcBef>
          <a:spcPct val="0"/>
        </a:spcBef>
        <a:spcAft>
          <a:spcPct val="0"/>
        </a:spcAft>
        <a:defRPr sz="2400">
          <a:solidFill>
            <a:schemeClr val="tx2"/>
          </a:solidFill>
          <a:latin typeface="Arial" charset="0"/>
        </a:defRPr>
      </a:lvl7pPr>
      <a:lvl8pPr marL="1371600" algn="l" rtl="0" eaLnBrk="1" fontAlgn="base" hangingPunct="1">
        <a:lnSpc>
          <a:spcPct val="90000"/>
        </a:lnSpc>
        <a:spcBef>
          <a:spcPct val="0"/>
        </a:spcBef>
        <a:spcAft>
          <a:spcPct val="0"/>
        </a:spcAft>
        <a:defRPr sz="2400">
          <a:solidFill>
            <a:schemeClr val="tx2"/>
          </a:solidFill>
          <a:latin typeface="Arial" charset="0"/>
        </a:defRPr>
      </a:lvl8pPr>
      <a:lvl9pPr marL="1828800" algn="l" rtl="0" eaLnBrk="1" fontAlgn="base" hangingPunct="1">
        <a:lnSpc>
          <a:spcPct val="90000"/>
        </a:lnSpc>
        <a:spcBef>
          <a:spcPct val="0"/>
        </a:spcBef>
        <a:spcAft>
          <a:spcPct val="0"/>
        </a:spcAft>
        <a:defRPr sz="2400">
          <a:solidFill>
            <a:schemeClr val="tx2"/>
          </a:solidFill>
          <a:latin typeface="Arial" charset="0"/>
        </a:defRPr>
      </a:lvl9pPr>
    </p:titleStyle>
    <p:body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rgbClr val="263238"/>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rgbClr val="263238"/>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rgbClr val="263238"/>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rgbClr val="263238"/>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rgbClr val="263238"/>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rgbClr val="263238"/>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rgbClr val="263238"/>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rgbClr val="263238"/>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slideLayout" Target="../slideLayouts/slideLayout1.xml"/><Relationship Id="rId12" Type="http://schemas.openxmlformats.org/officeDocument/2006/relationships/slide" Target="slide3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 Target="slide27.xml"/><Relationship Id="rId5" Type="http://schemas.openxmlformats.org/officeDocument/2006/relationships/tags" Target="../tags/tag6.xml"/><Relationship Id="rId10" Type="http://schemas.openxmlformats.org/officeDocument/2006/relationships/slide" Target="slide20.xml"/><Relationship Id="rId4" Type="http://schemas.openxmlformats.org/officeDocument/2006/relationships/tags" Target="../tags/tag5.xml"/><Relationship Id="rId9" Type="http://schemas.openxmlformats.org/officeDocument/2006/relationships/slide" Target="slide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slide" Target="slide14.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slide" Target="slide5.xml"/><Relationship Id="rId2" Type="http://schemas.openxmlformats.org/officeDocument/2006/relationships/tags" Target="../tags/tag9.xml"/><Relationship Id="rId16" Type="http://schemas.openxmlformats.org/officeDocument/2006/relationships/slide" Target="slide32.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 Target="slide1.xml"/><Relationship Id="rId5" Type="http://schemas.openxmlformats.org/officeDocument/2006/relationships/tags" Target="../tags/tag12.xml"/><Relationship Id="rId15" Type="http://schemas.openxmlformats.org/officeDocument/2006/relationships/slide" Target="slide27.xml"/><Relationship Id="rId10" Type="http://schemas.openxmlformats.org/officeDocument/2006/relationships/notesSlide" Target="../notesSlides/notesSlide4.xml"/><Relationship Id="rId4" Type="http://schemas.openxmlformats.org/officeDocument/2006/relationships/tags" Target="../tags/tag11.xml"/><Relationship Id="rId9" Type="http://schemas.openxmlformats.org/officeDocument/2006/relationships/slideLayout" Target="../slideLayouts/slideLayout1.xml"/><Relationship Id="rId14" Type="http://schemas.openxmlformats.org/officeDocument/2006/relationships/slide" Target="slide20.xml"/></Relationships>
</file>

<file path=ppt/slides/_rels/slide5.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slide" Target="slide14.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 Target="slide4.xml"/><Relationship Id="rId2" Type="http://schemas.openxmlformats.org/officeDocument/2006/relationships/tags" Target="../tags/tag17.xml"/><Relationship Id="rId16" Type="http://schemas.openxmlformats.org/officeDocument/2006/relationships/slide" Target="slide32.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slide" Target="slide1.xml"/><Relationship Id="rId5" Type="http://schemas.openxmlformats.org/officeDocument/2006/relationships/tags" Target="../tags/tag20.xml"/><Relationship Id="rId15" Type="http://schemas.openxmlformats.org/officeDocument/2006/relationships/slide" Target="slide27.xml"/><Relationship Id="rId10" Type="http://schemas.openxmlformats.org/officeDocument/2006/relationships/notesSlide" Target="../notesSlides/notesSlide5.xml"/><Relationship Id="rId4" Type="http://schemas.openxmlformats.org/officeDocument/2006/relationships/tags" Target="../tags/tag19.xml"/><Relationship Id="rId9" Type="http://schemas.openxmlformats.org/officeDocument/2006/relationships/slideLayout" Target="../slideLayouts/slideLayout1.xml"/><Relationship Id="rId14" Type="http://schemas.openxmlformats.org/officeDocument/2006/relationships/slide" Target="slide20.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12" Type="http://schemas.openxmlformats.org/officeDocument/2006/relationships/image" Target="../media/image17.e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6.emf"/><Relationship Id="rId5" Type="http://schemas.openxmlformats.org/officeDocument/2006/relationships/image" Target="../media/image3.png"/><Relationship Id="rId10" Type="http://schemas.openxmlformats.org/officeDocument/2006/relationships/image" Target="../media/image15.emf"/><Relationship Id="rId4" Type="http://schemas.openxmlformats.org/officeDocument/2006/relationships/image" Target="../media/image2.png"/><Relationship Id="rId9" Type="http://schemas.openxmlformats.org/officeDocument/2006/relationships/image" Target="../media/image14.emf"/></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8.emf"/></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9.emf"/></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0.emf"/><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3.png"/><Relationship Id="rId10" Type="http://schemas.openxmlformats.org/officeDocument/2006/relationships/image" Target="../media/image6.png"/><Relationship Id="rId4" Type="http://schemas.openxmlformats.org/officeDocument/2006/relationships/image" Target="../media/image21.emf"/><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2.emf"/></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4.emf"/><Relationship Id="rId4" Type="http://schemas.openxmlformats.org/officeDocument/2006/relationships/image" Target="../media/image2.png"/><Relationship Id="rId9" Type="http://schemas.openxmlformats.org/officeDocument/2006/relationships/image" Target="../media/image23.emf"/></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5.emf"/><Relationship Id="rId4" Type="http://schemas.openxmlformats.org/officeDocument/2006/relationships/image" Target="../media/image2.png"/><Relationship Id="rId9" Type="http://schemas.openxmlformats.org/officeDocument/2006/relationships/image" Target="../media/image23.emf"/></Relationships>
</file>

<file path=ppt/slides/_rels/slide14.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slide" Target="slide5.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slide" Target="slide4.xml"/><Relationship Id="rId2" Type="http://schemas.openxmlformats.org/officeDocument/2006/relationships/tags" Target="../tags/tag25.xml"/><Relationship Id="rId16" Type="http://schemas.openxmlformats.org/officeDocument/2006/relationships/slide" Target="slide32.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slide" Target="slide1.xml"/><Relationship Id="rId5" Type="http://schemas.openxmlformats.org/officeDocument/2006/relationships/tags" Target="../tags/tag28.xml"/><Relationship Id="rId15" Type="http://schemas.openxmlformats.org/officeDocument/2006/relationships/slide" Target="slide27.xml"/><Relationship Id="rId10" Type="http://schemas.openxmlformats.org/officeDocument/2006/relationships/notesSlide" Target="../notesSlides/notesSlide14.xml"/><Relationship Id="rId4" Type="http://schemas.openxmlformats.org/officeDocument/2006/relationships/tags" Target="../tags/tag27.xml"/><Relationship Id="rId9" Type="http://schemas.openxmlformats.org/officeDocument/2006/relationships/slideLayout" Target="../slideLayouts/slideLayout1.xml"/><Relationship Id="rId14" Type="http://schemas.openxmlformats.org/officeDocument/2006/relationships/slide" Target="slide20.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emf"/><Relationship Id="rId4" Type="http://schemas.openxmlformats.org/officeDocument/2006/relationships/image" Target="../media/image26.emf"/></Relationships>
</file>

<file path=ppt/slides/_rels/slide1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3" Type="http://schemas.openxmlformats.org/officeDocument/2006/relationships/tags" Target="../tags/tag34.xml"/><Relationship Id="rId7" Type="http://schemas.openxmlformats.org/officeDocument/2006/relationships/slideLayout" Target="../slideLayouts/slideLayout1.xml"/><Relationship Id="rId12" Type="http://schemas.openxmlformats.org/officeDocument/2006/relationships/slide" Target="slide32.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slide" Target="slide27.xml"/><Relationship Id="rId5" Type="http://schemas.openxmlformats.org/officeDocument/2006/relationships/tags" Target="../tags/tag36.xml"/><Relationship Id="rId10" Type="http://schemas.openxmlformats.org/officeDocument/2006/relationships/slide" Target="slide4.xml"/><Relationship Id="rId4" Type="http://schemas.openxmlformats.org/officeDocument/2006/relationships/tags" Target="../tags/tag35.xml"/><Relationship Id="rId9" Type="http://schemas.openxmlformats.org/officeDocument/2006/relationships/slide" Target="slide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40.xml"/><Relationship Id="rId7" Type="http://schemas.openxmlformats.org/officeDocument/2006/relationships/slideLayout" Target="../slideLayouts/slideLayout1.xml"/><Relationship Id="rId12" Type="http://schemas.openxmlformats.org/officeDocument/2006/relationships/slide" Target="slide32.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slide" Target="slide20.xml"/><Relationship Id="rId5" Type="http://schemas.openxmlformats.org/officeDocument/2006/relationships/tags" Target="../tags/tag42.xml"/><Relationship Id="rId10" Type="http://schemas.openxmlformats.org/officeDocument/2006/relationships/slide" Target="slide4.xml"/><Relationship Id="rId4" Type="http://schemas.openxmlformats.org/officeDocument/2006/relationships/tags" Target="../tags/tag41.xml"/><Relationship Id="rId9" Type="http://schemas.openxmlformats.org/officeDocument/2006/relationships/slide" Target="slide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www.continuum.io/content/why-python" TargetMode="External"/><Relationship Id="rId2" Type="http://schemas.openxmlformats.org/officeDocument/2006/relationships/hyperlink" Target="http://python.org/about/success/usa/"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46.xml"/><Relationship Id="rId7" Type="http://schemas.openxmlformats.org/officeDocument/2006/relationships/slideLayout" Target="../slideLayouts/slideLayout1.xml"/><Relationship Id="rId12" Type="http://schemas.openxmlformats.org/officeDocument/2006/relationships/slide" Target="slide27.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slide" Target="slide20.xml"/><Relationship Id="rId5" Type="http://schemas.openxmlformats.org/officeDocument/2006/relationships/tags" Target="../tags/tag48.xml"/><Relationship Id="rId10" Type="http://schemas.openxmlformats.org/officeDocument/2006/relationships/slide" Target="slide4.xml"/><Relationship Id="rId4" Type="http://schemas.openxmlformats.org/officeDocument/2006/relationships/tags" Target="../tags/tag47.xml"/><Relationship Id="rId9" Type="http://schemas.openxmlformats.org/officeDocument/2006/relationships/slide" Target="slide1.xml"/></Relationships>
</file>

<file path=ppt/slides/_rels/slide33.xml.rels><?xml version="1.0" encoding="UTF-8" standalone="yes"?>
<Relationships xmlns="http://schemas.openxmlformats.org/package/2006/relationships"><Relationship Id="rId3" Type="http://schemas.openxmlformats.org/officeDocument/2006/relationships/hyperlink" Target="https://www.continuum.io/" TargetMode="External"/><Relationship Id="rId7"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hyperlink" Target="https://www.jetbrains.com/pycharm/" TargetMode="External"/><Relationship Id="rId5" Type="http://schemas.openxmlformats.org/officeDocument/2006/relationships/hyperlink" Target="https://simpy.readthedocs.org/en/latest/simpy_intro/installation.html" TargetMode="Externa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b="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144" name="Text Placeholder 2"/>
          <p:cNvSpPr>
            <a:spLocks noGrp="1"/>
          </p:cNvSpPr>
          <p:nvPr>
            <p:custDataLst>
              <p:tags r:id="rId2"/>
            </p:custDataLst>
          </p:nvPr>
        </p:nvSpPr>
        <p:spPr bwMode="gray">
          <a:xfrm>
            <a:off x="1806575" y="2411413"/>
            <a:ext cx="6483350" cy="406400"/>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dirty="0">
                <a:solidFill>
                  <a:srgbClr val="263238"/>
                </a:solidFill>
              </a:rPr>
              <a:t>The need for a factory simulation model</a:t>
            </a:r>
          </a:p>
        </p:txBody>
      </p:sp>
      <p:sp>
        <p:nvSpPr>
          <p:cNvPr id="184" name="Text Placeholder 2">
            <a:hlinkClick r:id="rId9" action="ppaction://hlinksldjump"/>
          </p:cNvPr>
          <p:cNvSpPr>
            <a:spLocks noGrp="1"/>
          </p:cNvSpPr>
          <p:nvPr>
            <p:custDataLst>
              <p:tags r:id="rId3"/>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description </a:t>
            </a:r>
            <a:r>
              <a:rPr lang="en-GB" b="0">
                <a:solidFill>
                  <a:srgbClr val="263238"/>
                </a:solidFill>
              </a:rPr>
              <a:t>and illustrative example</a:t>
            </a:r>
            <a:endParaRPr lang="en-GB" b="0" dirty="0">
              <a:solidFill>
                <a:srgbClr val="263238"/>
              </a:solidFill>
            </a:endParaRPr>
          </a:p>
        </p:txBody>
      </p:sp>
      <p:sp>
        <p:nvSpPr>
          <p:cNvPr id="24" name="Text Placeholder 2">
            <a:hlinkClick r:id="rId10" action="ppaction://hlinksldjump"/>
          </p:cNvPr>
          <p:cNvSpPr>
            <a:spLocks noGrp="1"/>
          </p:cNvSpPr>
          <p:nvPr>
            <p:custDataLst>
              <p:tags r:id="rId4"/>
            </p:custDataLst>
          </p:nvPr>
        </p:nvSpPr>
        <p:spPr bwMode="gray">
          <a:xfrm>
            <a:off x="1806575" y="3225800"/>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b="0" dirty="0">
                <a:solidFill>
                  <a:srgbClr val="263238"/>
                </a:solidFill>
              </a:rPr>
              <a:t>How the </a:t>
            </a:r>
            <a:r>
              <a:rPr lang="en-US" b="0">
                <a:solidFill>
                  <a:srgbClr val="263238"/>
                </a:solidFill>
              </a:rPr>
              <a:t>model functions under </a:t>
            </a:r>
            <a:r>
              <a:rPr lang="en-US" b="0" dirty="0">
                <a:solidFill>
                  <a:srgbClr val="263238"/>
                </a:solidFill>
              </a:rPr>
              <a:t>the hood</a:t>
            </a:r>
            <a:endParaRPr lang="en-GB" b="0" dirty="0">
              <a:solidFill>
                <a:srgbClr val="263238"/>
              </a:solidFill>
            </a:endParaRPr>
          </a:p>
        </p:txBody>
      </p:sp>
      <p:sp>
        <p:nvSpPr>
          <p:cNvPr id="162" name="Text Placeholder 2">
            <a:hlinkClick r:id="rId11" action="ppaction://hlinksldjump"/>
          </p:cNvPr>
          <p:cNvSpPr>
            <a:spLocks noGrp="1"/>
          </p:cNvSpPr>
          <p:nvPr>
            <p:custDataLst>
              <p:tags r:id="rId5"/>
            </p:custDataLst>
          </p:nvPr>
        </p:nvSpPr>
        <p:spPr bwMode="gray">
          <a:xfrm>
            <a:off x="1806575" y="3632200"/>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infrastructure and scalability to other applications</a:t>
            </a:r>
          </a:p>
        </p:txBody>
      </p:sp>
      <p:sp>
        <p:nvSpPr>
          <p:cNvPr id="176" name="Text Placeholder 2">
            <a:hlinkClick r:id="rId12" action="ppaction://hlinksldjump"/>
          </p:cNvPr>
          <p:cNvSpPr>
            <a:spLocks noGrp="1"/>
          </p:cNvSpPr>
          <p:nvPr>
            <p:custDataLst>
              <p:tags r:id="rId6"/>
            </p:custDataLst>
          </p:nvPr>
        </p:nvSpPr>
        <p:spPr bwMode="gray">
          <a:xfrm>
            <a:off x="1806575" y="40401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How to make it function on your pc </a:t>
            </a:r>
            <a:r>
              <a:rPr lang="en-GB" b="0">
                <a:solidFill>
                  <a:srgbClr val="263238"/>
                </a:solidFill>
              </a:rPr>
              <a:t>(installation)</a:t>
            </a:r>
            <a:endParaRPr lang="en-GB" b="0" dirty="0">
              <a:solidFill>
                <a:srgbClr val="263238"/>
              </a:solidFill>
            </a:endParaRPr>
          </a:p>
        </p:txBody>
      </p:sp>
    </p:spTree>
    <p:extLst>
      <p:ext uri="{BB962C8B-B14F-4D97-AF65-F5344CB8AC3E}">
        <p14:creationId xmlns:p14="http://schemas.microsoft.com/office/powerpoint/2010/main" val="3266220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Nailing the dynamic of complex production systems may require the application of computer simulation modelling</a:t>
            </a:r>
          </a:p>
        </p:txBody>
      </p:sp>
      <p:sp>
        <p:nvSpPr>
          <p:cNvPr id="9" name="TextBox 8"/>
          <p:cNvSpPr txBox="1"/>
          <p:nvPr/>
        </p:nvSpPr>
        <p:spPr>
          <a:xfrm>
            <a:off x="312652" y="1074419"/>
            <a:ext cx="9310256"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More and more often our assignments require to cope with complex production systems, where many products are produced, many machines and sites are in place, the demand is seasonal, etc.</a:t>
            </a:r>
          </a:p>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Most often the data representing the system is “big”: the bill of materials include thousands of rows, the number of products is significant, there are many interconnected machines that can work on many different products, the production routings are differentiated and include loops, etc.</a:t>
            </a:r>
          </a:p>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There are multiple constrains to be considered: the capacity of machines is finite, the number of available blue collars is finite, the factory must be closed in some periods of the year, etc.</a:t>
            </a:r>
          </a:p>
          <a:p>
            <a:pPr marL="285750" indent="-285750" algn="l">
              <a:spcBef>
                <a:spcPts val="400"/>
              </a:spcBef>
              <a:spcAft>
                <a:spcPts val="400"/>
              </a:spcAft>
              <a:buClr>
                <a:schemeClr val="accent2">
                  <a:lumMod val="100000"/>
                </a:schemeClr>
              </a:buClr>
              <a:buSzPct val="95000"/>
              <a:buFont typeface="Wingdings 2" panose="05020102010507070707" pitchFamily="18" charset="2"/>
              <a:buChar char="¾"/>
            </a:pPr>
            <a:r>
              <a:rPr lang="en-GB" sz="1600" b="0" dirty="0">
                <a:solidFill>
                  <a:srgbClr val="263238"/>
                </a:solidFill>
                <a:latin typeface="Arial" panose="020B0604020202020204" pitchFamily="34" charset="0"/>
              </a:rPr>
              <a:t>To cope with such systems, we often feel the need for a simulation model, that accepts the data as it is available from the IT system, and that provides a quick way to identify bottlenecks, answer what-if questions, understand complexity and logistic costs, and more</a:t>
            </a:r>
          </a:p>
          <a:p>
            <a:pPr marL="285750" indent="-285750" algn="l">
              <a:spcBef>
                <a:spcPts val="400"/>
              </a:spcBef>
              <a:spcAft>
                <a:spcPts val="400"/>
              </a:spcAft>
              <a:buClr>
                <a:schemeClr val="accent2">
                  <a:lumMod val="100000"/>
                </a:schemeClr>
              </a:buClr>
              <a:buSzPct val="95000"/>
              <a:buFont typeface="Wingdings 2" panose="05020102010507070707" pitchFamily="18" charset="2"/>
              <a:buChar char="¾"/>
            </a:pPr>
            <a:r>
              <a:rPr lang="en-GB" sz="1600" b="0" dirty="0">
                <a:solidFill>
                  <a:srgbClr val="263238"/>
                </a:solidFill>
                <a:latin typeface="Arial" panose="020B0604020202020204" pitchFamily="34" charset="0"/>
              </a:rPr>
              <a:t>Most simulation systems on the market are rigid: lacking the flexibility needed to take in input the data as it is available; and are expensive: requiring recurring fees to be paid for long periods, even if the utilization of the tool is sporadic</a:t>
            </a:r>
          </a:p>
          <a:p>
            <a:pPr marL="285750" indent="-285750" algn="l">
              <a:spcBef>
                <a:spcPts val="400"/>
              </a:spcBef>
              <a:spcAft>
                <a:spcPts val="400"/>
              </a:spcAft>
              <a:buClr>
                <a:schemeClr val="accent2">
                  <a:lumMod val="100000"/>
                </a:schemeClr>
              </a:buClr>
              <a:buSzPct val="95000"/>
              <a:buFont typeface="Wingdings 2" panose="05020102010507070707" pitchFamily="18" charset="2"/>
              <a:buChar char="¾"/>
            </a:pPr>
            <a:r>
              <a:rPr lang="en-GB" sz="1600" b="0" dirty="0">
                <a:solidFill>
                  <a:srgbClr val="263238"/>
                </a:solidFill>
                <a:latin typeface="Arial" panose="020B0604020202020204" pitchFamily="34" charset="0"/>
              </a:rPr>
              <a:t>For the above reasons, a framework to implement complex simulation models has been scouted and tested, and a simplified model has been coded, it will be referenced as FSM-B for “Factory Simulation Model – Basic”</a:t>
            </a:r>
          </a:p>
          <a:p>
            <a:pPr marL="285750" indent="-285750" algn="l">
              <a:spcBef>
                <a:spcPts val="400"/>
              </a:spcBef>
              <a:spcAft>
                <a:spcPts val="400"/>
              </a:spcAft>
              <a:buClr>
                <a:schemeClr val="accent2">
                  <a:lumMod val="100000"/>
                </a:schemeClr>
              </a:buClr>
              <a:buSzPct val="95000"/>
              <a:buFont typeface="Wingdings 2" panose="05020102010507070707" pitchFamily="18" charset="2"/>
              <a:buChar char="¾"/>
            </a:pPr>
            <a:r>
              <a:rPr lang="en-GB" sz="1600" b="0" dirty="0">
                <a:solidFill>
                  <a:srgbClr val="263238"/>
                </a:solidFill>
                <a:latin typeface="Arial" panose="020B0604020202020204" pitchFamily="34" charset="0"/>
              </a:rPr>
              <a:t>The FSM-B described hereby is actually powerful and flexible enough to solve a range of real problems, and the framework employed to develop it is extraordinarily versatile, and may be applied to tackle the most complicated scenarios</a:t>
            </a:r>
          </a:p>
        </p:txBody>
      </p:sp>
      <p:cxnSp>
        <p:nvCxnSpPr>
          <p:cNvPr id="12" name="Straight Connector 11"/>
          <p:cNvCxnSpPr/>
          <p:nvPr/>
        </p:nvCxnSpPr>
        <p:spPr bwMode="auto">
          <a:xfrm>
            <a:off x="312651" y="3034841"/>
            <a:ext cx="9279082"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p:nvPr/>
        </p:nvCxnSpPr>
        <p:spPr bwMode="auto">
          <a:xfrm>
            <a:off x="312651" y="4700850"/>
            <a:ext cx="9279082"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124213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263238"/>
                </a:solidFill>
              </a:rPr>
              <a:t>FSM-B</a:t>
            </a:r>
            <a:r>
              <a:rPr lang="en-GB" dirty="0">
                <a:solidFill>
                  <a:srgbClr val="263238"/>
                </a:solidFill>
              </a:rPr>
              <a:t>: The basic model is flexible and powerful enough to solve a large set of problems; furthermore, it can be easily extended</a:t>
            </a:r>
          </a:p>
        </p:txBody>
      </p:sp>
      <p:sp>
        <p:nvSpPr>
          <p:cNvPr id="3" name="Rectangle 2"/>
          <p:cNvSpPr/>
          <p:nvPr/>
        </p:nvSpPr>
        <p:spPr bwMode="auto">
          <a:xfrm>
            <a:off x="1322404" y="2754907"/>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lang="en-GB" sz="1600" dirty="0">
                <a:solidFill>
                  <a:schemeClr val="bg1"/>
                </a:solidFill>
              </a:rPr>
              <a:t>Bill of Materials</a:t>
            </a:r>
            <a:endParaRPr kumimoji="0" lang="en-GB" sz="1600" i="0" u="none" strike="noStrike" cap="none" normalizeH="0" baseline="0" dirty="0">
              <a:ln>
                <a:noFill/>
              </a:ln>
              <a:solidFill>
                <a:schemeClr val="bg1"/>
              </a:solidFill>
              <a:effectLst/>
            </a:endParaRPr>
          </a:p>
        </p:txBody>
      </p:sp>
      <p:sp>
        <p:nvSpPr>
          <p:cNvPr id="4" name="Rectangle 3"/>
          <p:cNvSpPr/>
          <p:nvPr/>
        </p:nvSpPr>
        <p:spPr bwMode="auto">
          <a:xfrm>
            <a:off x="1322404" y="3349633"/>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lang="en-GB" sz="1600" dirty="0">
                <a:solidFill>
                  <a:schemeClr val="bg1"/>
                </a:solidFill>
              </a:rPr>
              <a:t>Work hours per item &amp; component</a:t>
            </a:r>
            <a:endParaRPr kumimoji="0" lang="en-GB" sz="1600" i="0" u="none" strike="noStrike" cap="none" normalizeH="0" baseline="0" dirty="0">
              <a:ln>
                <a:noFill/>
              </a:ln>
              <a:solidFill>
                <a:schemeClr val="bg1"/>
              </a:solidFill>
              <a:effectLst/>
            </a:endParaRPr>
          </a:p>
        </p:txBody>
      </p:sp>
      <p:sp>
        <p:nvSpPr>
          <p:cNvPr id="5" name="Rectangle 4"/>
          <p:cNvSpPr/>
          <p:nvPr/>
        </p:nvSpPr>
        <p:spPr bwMode="auto">
          <a:xfrm>
            <a:off x="1322404" y="4539085"/>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lang="en-GB" sz="1600" dirty="0">
                <a:solidFill>
                  <a:schemeClr val="bg1"/>
                </a:solidFill>
              </a:rPr>
              <a:t>Working Timetable</a:t>
            </a:r>
            <a:endParaRPr kumimoji="0" lang="en-GB" sz="1600" i="0" u="none" strike="noStrike" cap="none" normalizeH="0" baseline="0" dirty="0">
              <a:ln>
                <a:noFill/>
              </a:ln>
              <a:solidFill>
                <a:schemeClr val="bg1"/>
              </a:solidFill>
              <a:effectLst/>
            </a:endParaRPr>
          </a:p>
        </p:txBody>
      </p:sp>
      <p:sp>
        <p:nvSpPr>
          <p:cNvPr id="6" name="Rectangle 5"/>
          <p:cNvSpPr/>
          <p:nvPr/>
        </p:nvSpPr>
        <p:spPr bwMode="auto">
          <a:xfrm>
            <a:off x="1322404" y="3944359"/>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rPr>
              <a:t>Machine speeds</a:t>
            </a:r>
          </a:p>
        </p:txBody>
      </p:sp>
      <p:sp>
        <p:nvSpPr>
          <p:cNvPr id="7" name="Rectangle 6"/>
          <p:cNvSpPr/>
          <p:nvPr/>
        </p:nvSpPr>
        <p:spPr bwMode="auto">
          <a:xfrm>
            <a:off x="1322404" y="5133811"/>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rPr>
              <a:t>Number of blue collars</a:t>
            </a:r>
          </a:p>
        </p:txBody>
      </p:sp>
      <p:sp>
        <p:nvSpPr>
          <p:cNvPr id="8" name="Rectangle 7"/>
          <p:cNvSpPr/>
          <p:nvPr/>
        </p:nvSpPr>
        <p:spPr bwMode="auto">
          <a:xfrm>
            <a:off x="1322404" y="2160181"/>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rPr>
              <a:t>Production start</a:t>
            </a:r>
            <a:r>
              <a:rPr kumimoji="0" lang="en-GB" sz="1600" i="0" u="none" strike="noStrike" cap="none" normalizeH="0" dirty="0">
                <a:ln>
                  <a:noFill/>
                </a:ln>
                <a:solidFill>
                  <a:schemeClr val="bg1"/>
                </a:solidFill>
                <a:effectLst/>
                <a:latin typeface="Arial" charset="0"/>
                <a:ea typeface="Arial Unicode MS" pitchFamily="34" charset="-128"/>
                <a:cs typeface="Arial Unicode MS" pitchFamily="34" charset="-128"/>
              </a:rPr>
              <a:t> dates</a:t>
            </a:r>
            <a:endPar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endParaRPr>
          </a:p>
        </p:txBody>
      </p:sp>
      <p:sp>
        <p:nvSpPr>
          <p:cNvPr id="9" name="Rectangle 8"/>
          <p:cNvSpPr/>
          <p:nvPr/>
        </p:nvSpPr>
        <p:spPr bwMode="auto">
          <a:xfrm>
            <a:off x="1322404" y="5728537"/>
            <a:ext cx="2063143" cy="594726"/>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lang="en-GB" sz="1600" dirty="0">
                <a:solidFill>
                  <a:schemeClr val="bg1"/>
                </a:solidFill>
              </a:rPr>
              <a:t>Warehouses at simulation start</a:t>
            </a:r>
            <a:endParaRPr kumimoji="0" lang="en-GB" sz="1600" i="0" u="none" strike="noStrike" cap="none" normalizeH="0" baseline="0" dirty="0">
              <a:ln>
                <a:noFill/>
              </a:ln>
              <a:solidFill>
                <a:schemeClr val="bg1"/>
              </a:solidFill>
              <a:effectLst/>
            </a:endParaRPr>
          </a:p>
        </p:txBody>
      </p:sp>
      <p:pic>
        <p:nvPicPr>
          <p:cNvPr id="11" name="Picture 10"/>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85867" y="5773775"/>
            <a:ext cx="501015" cy="501015"/>
          </a:xfrm>
          <a:prstGeom prst="rect">
            <a:avLst/>
          </a:prstGeom>
        </p:spPr>
      </p:pic>
      <p:grpSp>
        <p:nvGrpSpPr>
          <p:cNvPr id="21" name="Group 20"/>
          <p:cNvGrpSpPr/>
          <p:nvPr/>
        </p:nvGrpSpPr>
        <p:grpSpPr>
          <a:xfrm>
            <a:off x="562214" y="2892836"/>
            <a:ext cx="548320" cy="365816"/>
            <a:chOff x="-920978" y="1675227"/>
            <a:chExt cx="825457" cy="550710"/>
          </a:xfrm>
        </p:grpSpPr>
        <p:cxnSp>
          <p:nvCxnSpPr>
            <p:cNvPr id="22" name="Straight Connector 21"/>
            <p:cNvCxnSpPr/>
            <p:nvPr/>
          </p:nvCxnSpPr>
          <p:spPr bwMode="auto">
            <a:xfrm flipV="1">
              <a:off x="-868363" y="1719263"/>
              <a:ext cx="355600" cy="209550"/>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23" name="Straight Connector 22"/>
            <p:cNvCxnSpPr/>
            <p:nvPr/>
          </p:nvCxnSpPr>
          <p:spPr bwMode="auto">
            <a:xfrm>
              <a:off x="-873125" y="1928814"/>
              <a:ext cx="358775" cy="250824"/>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24" name="Straight Connector 23"/>
            <p:cNvCxnSpPr/>
            <p:nvPr/>
          </p:nvCxnSpPr>
          <p:spPr bwMode="auto">
            <a:xfrm>
              <a:off x="-873125" y="1930400"/>
              <a:ext cx="388937" cy="2063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25" name="Straight Connector 24"/>
            <p:cNvCxnSpPr/>
            <p:nvPr/>
          </p:nvCxnSpPr>
          <p:spPr bwMode="auto">
            <a:xfrm>
              <a:off x="-477838" y="1951038"/>
              <a:ext cx="288925" cy="182562"/>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26" name="Straight Connector 25"/>
            <p:cNvCxnSpPr/>
            <p:nvPr/>
          </p:nvCxnSpPr>
          <p:spPr bwMode="auto">
            <a:xfrm>
              <a:off x="-482600" y="1946275"/>
              <a:ext cx="341312" cy="2698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27" name="Straight Connector 26"/>
            <p:cNvCxnSpPr/>
            <p:nvPr/>
          </p:nvCxnSpPr>
          <p:spPr bwMode="auto">
            <a:xfrm flipV="1">
              <a:off x="-482600" y="1830388"/>
              <a:ext cx="312737" cy="119062"/>
            </a:xfrm>
            <a:prstGeom prst="line">
              <a:avLst/>
            </a:prstGeom>
            <a:solidFill>
              <a:schemeClr val="bg1"/>
            </a:solidFill>
            <a:ln w="9525" cap="flat" cmpd="sng" algn="ctr">
              <a:solidFill>
                <a:srgbClr val="66757D"/>
              </a:solidFill>
              <a:prstDash val="solid"/>
              <a:round/>
              <a:headEnd type="none" w="med" len="med"/>
              <a:tailEnd type="none" w="med" len="med"/>
            </a:ln>
            <a:effectLst/>
          </p:spPr>
        </p:cxnSp>
        <p:sp>
          <p:nvSpPr>
            <p:cNvPr id="28" name="Oval 27"/>
            <p:cNvSpPr/>
            <p:nvPr/>
          </p:nvSpPr>
          <p:spPr bwMode="auto">
            <a:xfrm>
              <a:off x="-920978" y="188001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9" name="Oval 28"/>
            <p:cNvSpPr/>
            <p:nvPr/>
          </p:nvSpPr>
          <p:spPr bwMode="auto">
            <a:xfrm>
              <a:off x="-565378" y="16752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0" name="Oval 29"/>
            <p:cNvSpPr/>
            <p:nvPr/>
          </p:nvSpPr>
          <p:spPr bwMode="auto">
            <a:xfrm>
              <a:off x="-527991" y="19038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1" name="Oval 30"/>
            <p:cNvSpPr/>
            <p:nvPr/>
          </p:nvSpPr>
          <p:spPr bwMode="auto">
            <a:xfrm>
              <a:off x="-560506" y="21324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2" name="Oval 31"/>
            <p:cNvSpPr/>
            <p:nvPr/>
          </p:nvSpPr>
          <p:spPr bwMode="auto">
            <a:xfrm>
              <a:off x="-216019" y="178650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3" name="Oval 32"/>
            <p:cNvSpPr/>
            <p:nvPr/>
          </p:nvSpPr>
          <p:spPr bwMode="auto">
            <a:xfrm>
              <a:off x="-189031" y="1926770"/>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4" name="Oval 33"/>
            <p:cNvSpPr/>
            <p:nvPr/>
          </p:nvSpPr>
          <p:spPr bwMode="auto">
            <a:xfrm>
              <a:off x="-235786" y="2082041"/>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35" name="Picture 34"/>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32505" y="3461159"/>
            <a:ext cx="399633" cy="399633"/>
          </a:xfrm>
          <a:prstGeom prst="rect">
            <a:avLst/>
          </a:prstGeom>
        </p:spPr>
      </p:pic>
      <p:pic>
        <p:nvPicPr>
          <p:cNvPr id="36" name="Picture 35"/>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353" y="4055968"/>
            <a:ext cx="454042" cy="454042"/>
          </a:xfrm>
          <a:prstGeom prst="rect">
            <a:avLst/>
          </a:prstGeom>
        </p:spPr>
      </p:pic>
      <p:pic>
        <p:nvPicPr>
          <p:cNvPr id="37" name="Picture 36"/>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54262" y="4656909"/>
            <a:ext cx="405793" cy="405793"/>
          </a:xfrm>
          <a:prstGeom prst="rect">
            <a:avLst/>
          </a:prstGeom>
        </p:spPr>
      </p:pic>
      <p:pic>
        <p:nvPicPr>
          <p:cNvPr id="39" name="Picture 38"/>
          <p:cNvPicPr>
            <a:picLocks noChangeAspect="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74651" y="5283438"/>
            <a:ext cx="323446" cy="323446"/>
          </a:xfrm>
          <a:prstGeom prst="rect">
            <a:avLst/>
          </a:prstGeom>
        </p:spPr>
      </p:pic>
      <p:pic>
        <p:nvPicPr>
          <p:cNvPr id="41" name="Picture 40"/>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54311" y="2199248"/>
            <a:ext cx="564126" cy="564126"/>
          </a:xfrm>
          <a:prstGeom prst="rect">
            <a:avLst/>
          </a:prstGeom>
        </p:spPr>
      </p:pic>
      <p:grpSp>
        <p:nvGrpSpPr>
          <p:cNvPr id="42" name="Group 41"/>
          <p:cNvGrpSpPr/>
          <p:nvPr/>
        </p:nvGrpSpPr>
        <p:grpSpPr>
          <a:xfrm>
            <a:off x="291283" y="1694854"/>
            <a:ext cx="3236432" cy="318924"/>
            <a:chOff x="873303" y="1412273"/>
            <a:chExt cx="8342616" cy="318924"/>
          </a:xfrm>
        </p:grpSpPr>
        <p:cxnSp>
          <p:nvCxnSpPr>
            <p:cNvPr id="43" name="Straight Connector 42"/>
            <p:cNvCxnSpPr/>
            <p:nvPr/>
          </p:nvCxnSpPr>
          <p:spPr bwMode="auto">
            <a:xfrm>
              <a:off x="873303" y="1731196"/>
              <a:ext cx="8342616"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Box 43"/>
            <p:cNvSpPr txBox="1"/>
            <p:nvPr/>
          </p:nvSpPr>
          <p:spPr>
            <a:xfrm>
              <a:off x="873303" y="1412273"/>
              <a:ext cx="8342616" cy="31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b" anchorCtr="0" compatLnSpc="1">
              <a:prstTxWarp prst="textNoShape">
                <a:avLst/>
              </a:prstTxWarp>
              <a:spAutoFit/>
            </a:bodyPr>
            <a:lstStyle/>
            <a:p>
              <a:pPr algn="l">
                <a:spcBef>
                  <a:spcPts val="0"/>
                </a:spcBef>
                <a:spcAft>
                  <a:spcPts val="0"/>
                </a:spcAft>
                <a:buClr>
                  <a:schemeClr val="accent2"/>
                </a:buClr>
                <a:buSzPct val="95000"/>
              </a:pPr>
              <a:r>
                <a:rPr lang="en-GB" sz="1600" dirty="0">
                  <a:solidFill>
                    <a:srgbClr val="263238"/>
                  </a:solidFill>
                </a:rPr>
                <a:t>Inputs to the model</a:t>
              </a:r>
            </a:p>
          </p:txBody>
        </p:sp>
      </p:grpSp>
      <p:pic>
        <p:nvPicPr>
          <p:cNvPr id="45" name="Picture 44"/>
          <p:cNvPicPr>
            <a:picLocks noChangeAspect="1"/>
          </p:cNvPicPr>
          <p:nvPr/>
        </p:nvPicPr>
        <p:blipFill>
          <a:blip r:embed="rId9"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101617" y="2268479"/>
            <a:ext cx="1673905" cy="1530427"/>
          </a:xfrm>
          <a:prstGeom prst="rect">
            <a:avLst/>
          </a:prstGeom>
          <a:noFill/>
          <a:ln>
            <a:noFill/>
          </a:ln>
        </p:spPr>
      </p:pic>
      <p:cxnSp>
        <p:nvCxnSpPr>
          <p:cNvPr id="53" name="Straight Connector 52"/>
          <p:cNvCxnSpPr/>
          <p:nvPr/>
        </p:nvCxnSpPr>
        <p:spPr bwMode="auto">
          <a:xfrm>
            <a:off x="6486879" y="2268479"/>
            <a:ext cx="0" cy="425641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Box 55"/>
          <p:cNvSpPr txBox="1"/>
          <p:nvPr/>
        </p:nvSpPr>
        <p:spPr>
          <a:xfrm>
            <a:off x="7441276" y="3302720"/>
            <a:ext cx="22345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ctr" anchorCtr="0" compatLnSpc="1">
            <a:prstTxWarp prst="textNoShape">
              <a:avLst/>
            </a:prstTxWarp>
            <a:spAutoFit/>
          </a:bodyPr>
          <a:lstStyle/>
          <a:p>
            <a:pPr algn="l">
              <a:spcBef>
                <a:spcPts val="0"/>
              </a:spcBef>
              <a:spcAft>
                <a:spcPts val="0"/>
              </a:spcAft>
              <a:buClr>
                <a:schemeClr val="tx1"/>
              </a:buClr>
              <a:buSzPct val="95000"/>
            </a:pPr>
            <a:r>
              <a:rPr lang="en-GB" sz="1600" dirty="0">
                <a:solidFill>
                  <a:srgbClr val="263238"/>
                </a:solidFill>
              </a:rPr>
              <a:t>Resource planning</a:t>
            </a:r>
          </a:p>
        </p:txBody>
      </p:sp>
      <p:pic>
        <p:nvPicPr>
          <p:cNvPr id="57" name="Picture 56"/>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747783" y="3242948"/>
            <a:ext cx="492568" cy="493910"/>
          </a:xfrm>
          <a:prstGeom prst="rect">
            <a:avLst/>
          </a:prstGeom>
        </p:spPr>
      </p:pic>
      <p:pic>
        <p:nvPicPr>
          <p:cNvPr id="58" name="Picture 57"/>
          <p:cNvPicPr>
            <a:picLocks noChangeAspect="1"/>
          </p:cNvPicPr>
          <p:nvPr/>
        </p:nvPicPr>
        <p:blipFill>
          <a:blip r:embed="rId1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724965" y="3798893"/>
            <a:ext cx="552448" cy="488099"/>
          </a:xfrm>
          <a:prstGeom prst="rect">
            <a:avLst/>
          </a:prstGeom>
        </p:spPr>
      </p:pic>
      <p:sp>
        <p:nvSpPr>
          <p:cNvPr id="59" name="TextBox 58"/>
          <p:cNvSpPr txBox="1"/>
          <p:nvPr/>
        </p:nvSpPr>
        <p:spPr>
          <a:xfrm>
            <a:off x="7441276" y="3750555"/>
            <a:ext cx="22345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ctr" anchorCtr="0" compatLnSpc="1">
            <a:prstTxWarp prst="textNoShape">
              <a:avLst/>
            </a:prstTxWarp>
            <a:spAutoFit/>
          </a:bodyPr>
          <a:lstStyle/>
          <a:p>
            <a:pPr algn="l">
              <a:spcBef>
                <a:spcPts val="0"/>
              </a:spcBef>
              <a:spcAft>
                <a:spcPts val="0"/>
              </a:spcAft>
              <a:buClr>
                <a:schemeClr val="tx1"/>
              </a:buClr>
              <a:buSzPct val="95000"/>
            </a:pPr>
            <a:r>
              <a:rPr lang="en-GB" sz="1600" dirty="0">
                <a:solidFill>
                  <a:srgbClr val="263238"/>
                </a:solidFill>
              </a:rPr>
              <a:t>Bottleneck identification</a:t>
            </a:r>
          </a:p>
        </p:txBody>
      </p:sp>
      <p:pic>
        <p:nvPicPr>
          <p:cNvPr id="60" name="Picture 59"/>
          <p:cNvPicPr>
            <a:picLocks noChangeAspect="1"/>
          </p:cNvPicPr>
          <p:nvPr/>
        </p:nvPicPr>
        <p:blipFill>
          <a:blip r:embed="rId12" cstate="print">
            <a:grayscl/>
            <a:extLst>
              <a:ext uri="{28A0092B-C50C-407E-A947-70E740481C1C}">
                <a14:useLocalDpi xmlns:a14="http://schemas.microsoft.com/office/drawing/2010/main" val="0"/>
              </a:ext>
            </a:extLst>
          </a:blip>
          <a:stretch>
            <a:fillRect/>
          </a:stretch>
        </p:blipFill>
        <p:spPr>
          <a:xfrm>
            <a:off x="6753590" y="4473833"/>
            <a:ext cx="484580" cy="484580"/>
          </a:xfrm>
          <a:prstGeom prst="rect">
            <a:avLst/>
          </a:prstGeom>
        </p:spPr>
      </p:pic>
      <p:sp>
        <p:nvSpPr>
          <p:cNvPr id="61" name="TextBox 60"/>
          <p:cNvSpPr txBox="1"/>
          <p:nvPr/>
        </p:nvSpPr>
        <p:spPr>
          <a:xfrm>
            <a:off x="7441276" y="4423736"/>
            <a:ext cx="22345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ctr" anchorCtr="0" compatLnSpc="1">
            <a:prstTxWarp prst="textNoShape">
              <a:avLst/>
            </a:prstTxWarp>
            <a:spAutoFit/>
          </a:bodyPr>
          <a:lstStyle/>
          <a:p>
            <a:pPr algn="l">
              <a:spcBef>
                <a:spcPts val="0"/>
              </a:spcBef>
              <a:spcAft>
                <a:spcPts val="0"/>
              </a:spcAft>
              <a:buClr>
                <a:schemeClr val="tx1"/>
              </a:buClr>
              <a:buSzPct val="95000"/>
            </a:pPr>
            <a:r>
              <a:rPr lang="en-GB" sz="1600" dirty="0">
                <a:solidFill>
                  <a:srgbClr val="263238"/>
                </a:solidFill>
              </a:rPr>
              <a:t>Product and complexity cost</a:t>
            </a:r>
          </a:p>
        </p:txBody>
      </p:sp>
      <p:sp>
        <p:nvSpPr>
          <p:cNvPr id="62" name="TextBox 61"/>
          <p:cNvSpPr txBox="1"/>
          <p:nvPr/>
        </p:nvSpPr>
        <p:spPr>
          <a:xfrm>
            <a:off x="7441276" y="5738488"/>
            <a:ext cx="22345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ctr" anchorCtr="0" compatLnSpc="1">
            <a:prstTxWarp prst="textNoShape">
              <a:avLst/>
            </a:prstTxWarp>
            <a:spAutoFit/>
          </a:bodyPr>
          <a:lstStyle/>
          <a:p>
            <a:pPr algn="l">
              <a:spcBef>
                <a:spcPts val="0"/>
              </a:spcBef>
              <a:spcAft>
                <a:spcPts val="0"/>
              </a:spcAft>
              <a:buClr>
                <a:schemeClr val="tx1"/>
              </a:buClr>
              <a:buSzPct val="95000"/>
            </a:pPr>
            <a:r>
              <a:rPr lang="en-GB" sz="1600" dirty="0">
                <a:solidFill>
                  <a:srgbClr val="263238"/>
                </a:solidFill>
              </a:rPr>
              <a:t>Many other statistics can be extracted</a:t>
            </a:r>
          </a:p>
        </p:txBody>
      </p:sp>
      <p:pic>
        <p:nvPicPr>
          <p:cNvPr id="63" name="Picture 62"/>
          <p:cNvPicPr>
            <a:picLocks noChangeAspect="1"/>
          </p:cNvPicPr>
          <p:nvPr/>
        </p:nvPicPr>
        <p:blipFill>
          <a:blip r:embed="rId13">
            <a:grayscl/>
            <a:extLst>
              <a:ext uri="{28A0092B-C50C-407E-A947-70E740481C1C}">
                <a14:useLocalDpi xmlns:a14="http://schemas.microsoft.com/office/drawing/2010/main" val="0"/>
              </a:ext>
            </a:extLst>
          </a:blip>
          <a:stretch>
            <a:fillRect/>
          </a:stretch>
        </p:blipFill>
        <p:spPr>
          <a:xfrm>
            <a:off x="6776440" y="5783116"/>
            <a:ext cx="495519" cy="495519"/>
          </a:xfrm>
          <a:prstGeom prst="rect">
            <a:avLst/>
          </a:prstGeom>
        </p:spPr>
      </p:pic>
      <p:sp>
        <p:nvSpPr>
          <p:cNvPr id="64" name="Isosceles Triangle 63"/>
          <p:cNvSpPr/>
          <p:nvPr/>
        </p:nvSpPr>
        <p:spPr bwMode="auto">
          <a:xfrm rot="5400000">
            <a:off x="3455356" y="1847161"/>
            <a:ext cx="523213" cy="122246"/>
          </a:xfrm>
          <a:prstGeom prst="triangle">
            <a:avLst/>
          </a:prstGeom>
          <a:solidFill>
            <a:srgbClr val="167D9A"/>
          </a:solidFill>
          <a:ln w="1905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5" name="Isosceles Triangle 64"/>
          <p:cNvSpPr/>
          <p:nvPr/>
        </p:nvSpPr>
        <p:spPr bwMode="auto">
          <a:xfrm rot="5400000">
            <a:off x="6225272" y="1847163"/>
            <a:ext cx="523213" cy="122246"/>
          </a:xfrm>
          <a:prstGeom prst="triangle">
            <a:avLst/>
          </a:prstGeom>
          <a:solidFill>
            <a:srgbClr val="167D9A"/>
          </a:solidFill>
          <a:ln w="19050" cap="flat" cmpd="sng" algn="ctr">
            <a:solidFill>
              <a:schemeClr val="bg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nvGrpSpPr>
          <p:cNvPr id="68" name="Group 67"/>
          <p:cNvGrpSpPr/>
          <p:nvPr/>
        </p:nvGrpSpPr>
        <p:grpSpPr>
          <a:xfrm>
            <a:off x="3906210" y="1694854"/>
            <a:ext cx="2319764" cy="318924"/>
            <a:chOff x="873303" y="1412273"/>
            <a:chExt cx="8342616" cy="318924"/>
          </a:xfrm>
        </p:grpSpPr>
        <p:cxnSp>
          <p:nvCxnSpPr>
            <p:cNvPr id="69" name="Straight Connector 68"/>
            <p:cNvCxnSpPr/>
            <p:nvPr/>
          </p:nvCxnSpPr>
          <p:spPr bwMode="auto">
            <a:xfrm>
              <a:off x="873303" y="1731196"/>
              <a:ext cx="8342616"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TextBox 69"/>
            <p:cNvSpPr txBox="1"/>
            <p:nvPr/>
          </p:nvSpPr>
          <p:spPr>
            <a:xfrm>
              <a:off x="873303" y="1412273"/>
              <a:ext cx="8342616" cy="31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b" anchorCtr="0" compatLnSpc="1">
              <a:prstTxWarp prst="textNoShape">
                <a:avLst/>
              </a:prstTxWarp>
              <a:spAutoFit/>
            </a:bodyPr>
            <a:lstStyle/>
            <a:p>
              <a:pPr algn="l">
                <a:spcBef>
                  <a:spcPts val="0"/>
                </a:spcBef>
                <a:spcAft>
                  <a:spcPts val="0"/>
                </a:spcAft>
                <a:buClr>
                  <a:schemeClr val="accent2"/>
                </a:buClr>
                <a:buSzPct val="95000"/>
              </a:pPr>
              <a:r>
                <a:rPr lang="en-GB" sz="1600" dirty="0">
                  <a:solidFill>
                    <a:srgbClr val="263238"/>
                  </a:solidFill>
                </a:rPr>
                <a:t>First level output</a:t>
              </a:r>
            </a:p>
          </p:txBody>
        </p:sp>
      </p:grpSp>
      <p:grpSp>
        <p:nvGrpSpPr>
          <p:cNvPr id="71" name="Group 70"/>
          <p:cNvGrpSpPr/>
          <p:nvPr/>
        </p:nvGrpSpPr>
        <p:grpSpPr>
          <a:xfrm>
            <a:off x="6747783" y="1448632"/>
            <a:ext cx="2868274" cy="565146"/>
            <a:chOff x="873303" y="1166051"/>
            <a:chExt cx="8342616" cy="565146"/>
          </a:xfrm>
        </p:grpSpPr>
        <p:cxnSp>
          <p:nvCxnSpPr>
            <p:cNvPr id="72" name="Straight Connector 71"/>
            <p:cNvCxnSpPr/>
            <p:nvPr/>
          </p:nvCxnSpPr>
          <p:spPr bwMode="auto">
            <a:xfrm>
              <a:off x="873303" y="1731196"/>
              <a:ext cx="8342616"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Box 72"/>
            <p:cNvSpPr txBox="1"/>
            <p:nvPr/>
          </p:nvSpPr>
          <p:spPr>
            <a:xfrm>
              <a:off x="873303" y="1166051"/>
              <a:ext cx="8342616" cy="565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b" anchorCtr="0" compatLnSpc="1">
              <a:prstTxWarp prst="textNoShape">
                <a:avLst/>
              </a:prstTxWarp>
              <a:spAutoFit/>
            </a:bodyPr>
            <a:lstStyle/>
            <a:p>
              <a:pPr algn="l">
                <a:spcBef>
                  <a:spcPts val="0"/>
                </a:spcBef>
                <a:spcAft>
                  <a:spcPts val="0"/>
                </a:spcAft>
                <a:buClr>
                  <a:schemeClr val="accent2"/>
                </a:buClr>
                <a:buSzPct val="95000"/>
              </a:pPr>
              <a:r>
                <a:rPr lang="en-GB" sz="1600" dirty="0">
                  <a:solidFill>
                    <a:srgbClr val="263238"/>
                  </a:solidFill>
                </a:rPr>
                <a:t>Possible problems that can be solved with the output</a:t>
              </a:r>
            </a:p>
          </p:txBody>
        </p:sp>
      </p:grpSp>
      <p:sp>
        <p:nvSpPr>
          <p:cNvPr id="74" name="TextBox 73"/>
          <p:cNvSpPr txBox="1"/>
          <p:nvPr/>
        </p:nvSpPr>
        <p:spPr>
          <a:xfrm>
            <a:off x="7441276" y="5073207"/>
            <a:ext cx="22345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ctr" anchorCtr="0" compatLnSpc="1">
            <a:prstTxWarp prst="textNoShape">
              <a:avLst/>
            </a:prstTxWarp>
            <a:spAutoFit/>
          </a:bodyPr>
          <a:lstStyle/>
          <a:p>
            <a:pPr algn="l">
              <a:spcBef>
                <a:spcPts val="0"/>
              </a:spcBef>
              <a:spcAft>
                <a:spcPts val="0"/>
              </a:spcAft>
              <a:buClr>
                <a:schemeClr val="tx1"/>
              </a:buClr>
              <a:buSzPct val="95000"/>
            </a:pPr>
            <a:r>
              <a:rPr lang="en-GB" sz="1600" dirty="0">
                <a:solidFill>
                  <a:srgbClr val="263238"/>
                </a:solidFill>
              </a:rPr>
              <a:t>Product mix optimization</a:t>
            </a:r>
          </a:p>
        </p:txBody>
      </p:sp>
      <p:pic>
        <p:nvPicPr>
          <p:cNvPr id="75" name="Picture 74"/>
          <p:cNvPicPr>
            <a:picLocks noChangeAspect="1"/>
          </p:cNvPicPr>
          <p:nvPr/>
        </p:nvPicPr>
        <p:blipFill>
          <a:blip r:embed="rId1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767671" y="5143010"/>
            <a:ext cx="445169" cy="445169"/>
          </a:xfrm>
          <a:prstGeom prst="rect">
            <a:avLst/>
          </a:prstGeom>
        </p:spPr>
      </p:pic>
      <p:sp>
        <p:nvSpPr>
          <p:cNvPr id="76" name="TextBox 75"/>
          <p:cNvSpPr txBox="1"/>
          <p:nvPr/>
        </p:nvSpPr>
        <p:spPr>
          <a:xfrm>
            <a:off x="3613983" y="3893399"/>
            <a:ext cx="2765292"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t" anchorCtr="0" compatLnSpc="1">
            <a:prstTxWarp prst="textNoShape">
              <a:avLst/>
            </a:prstTxWarp>
            <a:spAutoFit/>
          </a:bodyPr>
          <a:lstStyle/>
          <a:p>
            <a:pPr marL="273050" lvl="1" indent="-273050" algn="l">
              <a:spcBef>
                <a:spcPts val="600"/>
              </a:spcBef>
              <a:spcAft>
                <a:spcPts val="0"/>
              </a:spcAft>
              <a:buClr>
                <a:schemeClr val="accent2">
                  <a:lumMod val="100000"/>
                </a:schemeClr>
              </a:buClr>
              <a:buSzPct val="95000"/>
              <a:buFont typeface="Wingdings 2" panose="05020102010507070707" pitchFamily="18" charset="2"/>
              <a:buChar char=""/>
            </a:pPr>
            <a:r>
              <a:rPr lang="en-GB" sz="1600" dirty="0">
                <a:solidFill>
                  <a:srgbClr val="263238"/>
                </a:solidFill>
              </a:rPr>
              <a:t>The model produces a spreadsheet that lists all production events</a:t>
            </a:r>
          </a:p>
          <a:p>
            <a:pPr marL="273050" lvl="1" indent="-273050" algn="l">
              <a:spcBef>
                <a:spcPts val="600"/>
              </a:spcBef>
              <a:spcAft>
                <a:spcPts val="0"/>
              </a:spcAft>
              <a:buClr>
                <a:schemeClr val="accent2">
                  <a:lumMod val="100000"/>
                </a:schemeClr>
              </a:buClr>
              <a:buSzPct val="95000"/>
              <a:buFont typeface="Wingdings 2" panose="05020102010507070707" pitchFamily="18" charset="2"/>
              <a:buChar char=""/>
            </a:pPr>
            <a:r>
              <a:rPr lang="en-GB" sz="1600" dirty="0">
                <a:solidFill>
                  <a:srgbClr val="263238"/>
                </a:solidFill>
              </a:rPr>
              <a:t>The spreadsheet fields include, worked hours, setup hours, production schedule, delivery dates, …</a:t>
            </a:r>
          </a:p>
        </p:txBody>
      </p:sp>
      <p:sp>
        <p:nvSpPr>
          <p:cNvPr id="78" name="TextBox 77"/>
          <p:cNvSpPr txBox="1"/>
          <p:nvPr/>
        </p:nvSpPr>
        <p:spPr>
          <a:xfrm>
            <a:off x="6594484" y="2192335"/>
            <a:ext cx="30773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45720" rIns="54000" bIns="45720" numCol="1" rtlCol="0" anchor="t" anchorCtr="0" compatLnSpc="1">
            <a:prstTxWarp prst="textNoShape">
              <a:avLst/>
            </a:prstTxWarp>
            <a:spAutoFit/>
          </a:bodyPr>
          <a:lstStyle/>
          <a:p>
            <a:pPr marL="273050" lvl="1" indent="-273050" algn="l">
              <a:spcBef>
                <a:spcPts val="600"/>
              </a:spcBef>
              <a:spcAft>
                <a:spcPts val="0"/>
              </a:spcAft>
              <a:buClr>
                <a:schemeClr val="accent2">
                  <a:lumMod val="100000"/>
                </a:schemeClr>
              </a:buClr>
              <a:buSzPct val="95000"/>
              <a:buFont typeface="Wingdings 2" panose="05020102010507070707" pitchFamily="18" charset="2"/>
              <a:buChar char=""/>
            </a:pPr>
            <a:r>
              <a:rPr lang="en-GB" sz="1600" dirty="0">
                <a:solidFill>
                  <a:srgbClr val="263238"/>
                </a:solidFill>
              </a:rPr>
              <a:t>Analysing the spreadsheet, many questions can be answered</a:t>
            </a:r>
          </a:p>
        </p:txBody>
      </p:sp>
      <p:grpSp>
        <p:nvGrpSpPr>
          <p:cNvPr id="79" name="Group 78"/>
          <p:cNvGrpSpPr/>
          <p:nvPr/>
        </p:nvGrpSpPr>
        <p:grpSpPr>
          <a:xfrm>
            <a:off x="291283" y="1027333"/>
            <a:ext cx="9324774" cy="318924"/>
            <a:chOff x="873303" y="1412273"/>
            <a:chExt cx="8342616" cy="318924"/>
          </a:xfrm>
        </p:grpSpPr>
        <p:cxnSp>
          <p:nvCxnSpPr>
            <p:cNvPr id="80" name="Straight Connector 79"/>
            <p:cNvCxnSpPr/>
            <p:nvPr/>
          </p:nvCxnSpPr>
          <p:spPr bwMode="auto">
            <a:xfrm>
              <a:off x="873303" y="1731196"/>
              <a:ext cx="8342616"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TextBox 80"/>
            <p:cNvSpPr txBox="1"/>
            <p:nvPr/>
          </p:nvSpPr>
          <p:spPr>
            <a:xfrm>
              <a:off x="873303" y="1412273"/>
              <a:ext cx="8342616" cy="31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b" anchorCtr="0" compatLnSpc="1">
              <a:prstTxWarp prst="textNoShape">
                <a:avLst/>
              </a:prstTxWarp>
              <a:spAutoFit/>
            </a:bodyPr>
            <a:lstStyle/>
            <a:p>
              <a:pPr algn="l">
                <a:spcBef>
                  <a:spcPts val="0"/>
                </a:spcBef>
                <a:spcAft>
                  <a:spcPts val="0"/>
                </a:spcAft>
                <a:buClr>
                  <a:schemeClr val="accent2"/>
                </a:buClr>
                <a:buSzPct val="95000"/>
              </a:pPr>
              <a:r>
                <a:rPr lang="en-GB" sz="1600" dirty="0">
                  <a:solidFill>
                    <a:srgbClr val="263238"/>
                  </a:solidFill>
                </a:rPr>
                <a:t>Illustration of the model flow from inputs to answers to key problems</a:t>
              </a:r>
            </a:p>
          </p:txBody>
        </p:sp>
      </p:grpSp>
    </p:spTree>
    <p:extLst>
      <p:ext uri="{BB962C8B-B14F-4D97-AF65-F5344CB8AC3E}">
        <p14:creationId xmlns:p14="http://schemas.microsoft.com/office/powerpoint/2010/main" val="24906499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b="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47" name="Text Placeholder 2">
            <a:hlinkClick r:id="rId11" action="ppaction://hlinksldjump"/>
          </p:cNvPr>
          <p:cNvSpPr>
            <a:spLocks noGrp="1"/>
          </p:cNvSpPr>
          <p:nvPr>
            <p:custDataLst>
              <p:tags r:id="rId2"/>
            </p:custDataLst>
          </p:nvPr>
        </p:nvSpPr>
        <p:spPr bwMode="gray">
          <a:xfrm>
            <a:off x="1806575" y="20050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b="0" dirty="0">
                <a:solidFill>
                  <a:srgbClr val="263238"/>
                </a:solidFill>
              </a:rPr>
              <a:t>The need for a factory simulation model</a:t>
            </a:r>
          </a:p>
        </p:txBody>
      </p:sp>
      <p:sp>
        <p:nvSpPr>
          <p:cNvPr id="90" name="Text Placeholder 2"/>
          <p:cNvSpPr>
            <a:spLocks noGrp="1"/>
          </p:cNvSpPr>
          <p:nvPr>
            <p:custDataLst>
              <p:tags r:id="rId3"/>
            </p:custDataLst>
          </p:nvPr>
        </p:nvSpPr>
        <p:spPr bwMode="gray">
          <a:xfrm>
            <a:off x="1806575" y="2411413"/>
            <a:ext cx="6483350" cy="406400"/>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dirty="0">
                <a:solidFill>
                  <a:srgbClr val="263238"/>
                </a:solidFill>
              </a:rPr>
              <a:t>Model description </a:t>
            </a:r>
            <a:r>
              <a:rPr lang="en-GB">
                <a:solidFill>
                  <a:srgbClr val="263238"/>
                </a:solidFill>
              </a:rPr>
              <a:t>and illustrative example</a:t>
            </a:r>
            <a:endParaRPr lang="en-GB" dirty="0">
              <a:solidFill>
                <a:srgbClr val="263238"/>
              </a:solidFill>
            </a:endParaRPr>
          </a:p>
        </p:txBody>
      </p:sp>
      <p:sp>
        <p:nvSpPr>
          <p:cNvPr id="50" name="Text Placeholder 2">
            <a:hlinkClick r:id="rId12" action="ppaction://hlinksldjump"/>
          </p:cNvPr>
          <p:cNvSpPr>
            <a:spLocks noGrp="1"/>
          </p:cNvSpPr>
          <p:nvPr>
            <p:custDataLst>
              <p:tags r:id="rId4"/>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2">
              <a:spcBef>
                <a:spcPct val="0"/>
              </a:spcBef>
              <a:spcAft>
                <a:spcPct val="0"/>
              </a:spcAft>
              <a:buClr>
                <a:schemeClr val="accent2">
                  <a:lumMod val="100000"/>
                </a:schemeClr>
              </a:buClr>
            </a:pPr>
            <a:r>
              <a:rPr lang="en-GB" b="0" dirty="0">
                <a:solidFill>
                  <a:srgbClr val="263238"/>
                </a:solidFill>
              </a:rPr>
              <a:t>Inputs</a:t>
            </a:r>
          </a:p>
        </p:txBody>
      </p:sp>
      <p:sp>
        <p:nvSpPr>
          <p:cNvPr id="51" name="Text Placeholder 2">
            <a:hlinkClick r:id="rId13" action="ppaction://hlinksldjump"/>
          </p:cNvPr>
          <p:cNvSpPr>
            <a:spLocks noGrp="1"/>
          </p:cNvSpPr>
          <p:nvPr>
            <p:custDataLst>
              <p:tags r:id="rId5"/>
            </p:custDataLst>
          </p:nvPr>
        </p:nvSpPr>
        <p:spPr bwMode="gray">
          <a:xfrm>
            <a:off x="1806575" y="3225800"/>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2">
              <a:spcBef>
                <a:spcPct val="0"/>
              </a:spcBef>
              <a:spcAft>
                <a:spcPct val="0"/>
              </a:spcAft>
              <a:buClr>
                <a:schemeClr val="accent2">
                  <a:lumMod val="100000"/>
                </a:schemeClr>
              </a:buClr>
            </a:pPr>
            <a:r>
              <a:rPr lang="en-GB" b="0" dirty="0">
                <a:solidFill>
                  <a:srgbClr val="263238"/>
                </a:solidFill>
              </a:rPr>
              <a:t>Outputs</a:t>
            </a:r>
          </a:p>
        </p:txBody>
      </p:sp>
      <p:sp>
        <p:nvSpPr>
          <p:cNvPr id="26" name="Text Placeholder 2">
            <a:hlinkClick r:id="rId14" action="ppaction://hlinksldjump"/>
          </p:cNvPr>
          <p:cNvSpPr>
            <a:spLocks noGrp="1"/>
          </p:cNvSpPr>
          <p:nvPr>
            <p:custDataLst>
              <p:tags r:id="rId6"/>
            </p:custDataLst>
          </p:nvPr>
        </p:nvSpPr>
        <p:spPr bwMode="gray">
          <a:xfrm>
            <a:off x="1806575" y="3632200"/>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b="0" dirty="0">
                <a:solidFill>
                  <a:srgbClr val="263238"/>
                </a:solidFill>
              </a:rPr>
              <a:t>How the </a:t>
            </a:r>
            <a:r>
              <a:rPr lang="en-US" b="0">
                <a:solidFill>
                  <a:srgbClr val="263238"/>
                </a:solidFill>
              </a:rPr>
              <a:t>model functions under </a:t>
            </a:r>
            <a:r>
              <a:rPr lang="en-US" b="0" dirty="0">
                <a:solidFill>
                  <a:srgbClr val="263238"/>
                </a:solidFill>
              </a:rPr>
              <a:t>the hood</a:t>
            </a:r>
            <a:endParaRPr lang="en-GB" b="0" dirty="0">
              <a:solidFill>
                <a:srgbClr val="263238"/>
              </a:solidFill>
            </a:endParaRPr>
          </a:p>
        </p:txBody>
      </p:sp>
      <p:sp>
        <p:nvSpPr>
          <p:cNvPr id="68" name="Text Placeholder 2">
            <a:hlinkClick r:id="rId15" action="ppaction://hlinksldjump"/>
          </p:cNvPr>
          <p:cNvSpPr>
            <a:spLocks noGrp="1"/>
          </p:cNvSpPr>
          <p:nvPr>
            <p:custDataLst>
              <p:tags r:id="rId7"/>
            </p:custDataLst>
          </p:nvPr>
        </p:nvSpPr>
        <p:spPr bwMode="gray">
          <a:xfrm>
            <a:off x="1806575" y="40401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infrastructure and scalability to other applications</a:t>
            </a:r>
          </a:p>
        </p:txBody>
      </p:sp>
      <p:sp>
        <p:nvSpPr>
          <p:cNvPr id="82" name="Text Placeholder 2">
            <a:hlinkClick r:id="rId16" action="ppaction://hlinksldjump"/>
          </p:cNvPr>
          <p:cNvSpPr>
            <a:spLocks noGrp="1"/>
          </p:cNvSpPr>
          <p:nvPr>
            <p:custDataLst>
              <p:tags r:id="rId8"/>
            </p:custDataLst>
          </p:nvPr>
        </p:nvSpPr>
        <p:spPr bwMode="gray">
          <a:xfrm>
            <a:off x="1806575" y="44465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How to make it function on your pc </a:t>
            </a:r>
            <a:r>
              <a:rPr lang="en-GB" b="0">
                <a:solidFill>
                  <a:srgbClr val="263238"/>
                </a:solidFill>
              </a:rPr>
              <a:t>(installation)</a:t>
            </a:r>
            <a:endParaRPr lang="en-GB" b="0" dirty="0">
              <a:solidFill>
                <a:srgbClr val="263238"/>
              </a:solidFill>
            </a:endParaRPr>
          </a:p>
        </p:txBody>
      </p:sp>
    </p:spTree>
    <p:extLst>
      <p:ext uri="{BB962C8B-B14F-4D97-AF65-F5344CB8AC3E}">
        <p14:creationId xmlns:p14="http://schemas.microsoft.com/office/powerpoint/2010/main" val="2015094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b="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141" name="Text Placeholder 2">
            <a:hlinkClick r:id="rId11" action="ppaction://hlinksldjump"/>
          </p:cNvPr>
          <p:cNvSpPr>
            <a:spLocks noGrp="1"/>
          </p:cNvSpPr>
          <p:nvPr>
            <p:custDataLst>
              <p:tags r:id="rId2"/>
            </p:custDataLst>
          </p:nvPr>
        </p:nvSpPr>
        <p:spPr bwMode="gray">
          <a:xfrm>
            <a:off x="1806575" y="20050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b="0" dirty="0">
                <a:solidFill>
                  <a:srgbClr val="263238"/>
                </a:solidFill>
              </a:rPr>
              <a:t>The need for a factory simulation model</a:t>
            </a:r>
          </a:p>
        </p:txBody>
      </p:sp>
      <p:sp>
        <p:nvSpPr>
          <p:cNvPr id="183" name="Text Placeholder 2">
            <a:hlinkClick r:id="rId12" action="ppaction://hlinksldjump"/>
          </p:cNvPr>
          <p:cNvSpPr>
            <a:spLocks noGrp="1"/>
          </p:cNvSpPr>
          <p:nvPr>
            <p:custDataLst>
              <p:tags r:id="rId3"/>
            </p:custDataLst>
          </p:nvPr>
        </p:nvSpPr>
        <p:spPr bwMode="gray">
          <a:xfrm>
            <a:off x="1806575" y="2411413"/>
            <a:ext cx="6483350" cy="814388"/>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4889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dirty="0">
                <a:solidFill>
                  <a:srgbClr val="263238"/>
                </a:solidFill>
              </a:rPr>
              <a:t>Model description </a:t>
            </a:r>
            <a:r>
              <a:rPr lang="en-GB">
                <a:solidFill>
                  <a:srgbClr val="263238"/>
                </a:solidFill>
              </a:rPr>
              <a:t>and illustrative example</a:t>
            </a:r>
            <a:endParaRPr lang="en-GB" dirty="0">
              <a:solidFill>
                <a:srgbClr val="263238"/>
              </a:solidFill>
            </a:endParaRPr>
          </a:p>
        </p:txBody>
      </p:sp>
      <p:sp>
        <p:nvSpPr>
          <p:cNvPr id="144" name="Text Placeholder 2"/>
          <p:cNvSpPr>
            <a:spLocks noGrp="1"/>
          </p:cNvSpPr>
          <p:nvPr>
            <p:custDataLst>
              <p:tags r:id="rId4"/>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2">
              <a:spcBef>
                <a:spcPct val="0"/>
              </a:spcBef>
              <a:spcAft>
                <a:spcPct val="0"/>
              </a:spcAft>
              <a:buClr>
                <a:schemeClr val="accent2">
                  <a:lumMod val="100000"/>
                </a:schemeClr>
              </a:buClr>
            </a:pPr>
            <a:r>
              <a:rPr lang="en-GB" dirty="0">
                <a:solidFill>
                  <a:srgbClr val="263238"/>
                </a:solidFill>
              </a:rPr>
              <a:t>Inputs</a:t>
            </a:r>
          </a:p>
        </p:txBody>
      </p:sp>
      <p:sp>
        <p:nvSpPr>
          <p:cNvPr id="145" name="Text Placeholder 2">
            <a:hlinkClick r:id="rId13" action="ppaction://hlinksldjump"/>
          </p:cNvPr>
          <p:cNvSpPr>
            <a:spLocks noGrp="1"/>
          </p:cNvSpPr>
          <p:nvPr>
            <p:custDataLst>
              <p:tags r:id="rId5"/>
            </p:custDataLst>
          </p:nvPr>
        </p:nvSpPr>
        <p:spPr bwMode="gray">
          <a:xfrm>
            <a:off x="1806575" y="3225800"/>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2">
              <a:spcBef>
                <a:spcPct val="0"/>
              </a:spcBef>
              <a:spcAft>
                <a:spcPct val="0"/>
              </a:spcAft>
              <a:buClr>
                <a:schemeClr val="accent2">
                  <a:lumMod val="100000"/>
                </a:schemeClr>
              </a:buClr>
            </a:pPr>
            <a:r>
              <a:rPr lang="en-GB" b="0" dirty="0">
                <a:solidFill>
                  <a:srgbClr val="263238"/>
                </a:solidFill>
              </a:rPr>
              <a:t>Outputs</a:t>
            </a:r>
          </a:p>
        </p:txBody>
      </p:sp>
      <p:sp>
        <p:nvSpPr>
          <p:cNvPr id="26" name="Text Placeholder 2">
            <a:hlinkClick r:id="rId14" action="ppaction://hlinksldjump"/>
          </p:cNvPr>
          <p:cNvSpPr>
            <a:spLocks noGrp="1"/>
          </p:cNvSpPr>
          <p:nvPr>
            <p:custDataLst>
              <p:tags r:id="rId6"/>
            </p:custDataLst>
          </p:nvPr>
        </p:nvSpPr>
        <p:spPr bwMode="gray">
          <a:xfrm>
            <a:off x="1806575" y="3632200"/>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b="0" dirty="0">
                <a:solidFill>
                  <a:srgbClr val="263238"/>
                </a:solidFill>
              </a:rPr>
              <a:t>How the </a:t>
            </a:r>
            <a:r>
              <a:rPr lang="en-US" b="0">
                <a:solidFill>
                  <a:srgbClr val="263238"/>
                </a:solidFill>
              </a:rPr>
              <a:t>model functions under </a:t>
            </a:r>
            <a:r>
              <a:rPr lang="en-US" b="0" dirty="0">
                <a:solidFill>
                  <a:srgbClr val="263238"/>
                </a:solidFill>
              </a:rPr>
              <a:t>the hood</a:t>
            </a:r>
            <a:endParaRPr lang="en-GB" b="0" dirty="0">
              <a:solidFill>
                <a:srgbClr val="263238"/>
              </a:solidFill>
            </a:endParaRPr>
          </a:p>
        </p:txBody>
      </p:sp>
      <p:sp>
        <p:nvSpPr>
          <p:cNvPr id="161" name="Text Placeholder 2">
            <a:hlinkClick r:id="rId15" action="ppaction://hlinksldjump"/>
          </p:cNvPr>
          <p:cNvSpPr>
            <a:spLocks noGrp="1"/>
          </p:cNvSpPr>
          <p:nvPr>
            <p:custDataLst>
              <p:tags r:id="rId7"/>
            </p:custDataLst>
          </p:nvPr>
        </p:nvSpPr>
        <p:spPr bwMode="gray">
          <a:xfrm>
            <a:off x="1806575" y="40401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infrastructure and scalability to other applications</a:t>
            </a:r>
          </a:p>
        </p:txBody>
      </p:sp>
      <p:sp>
        <p:nvSpPr>
          <p:cNvPr id="175" name="Text Placeholder 2">
            <a:hlinkClick r:id="rId16" action="ppaction://hlinksldjump"/>
          </p:cNvPr>
          <p:cNvSpPr>
            <a:spLocks noGrp="1"/>
          </p:cNvSpPr>
          <p:nvPr>
            <p:custDataLst>
              <p:tags r:id="rId8"/>
            </p:custDataLst>
          </p:nvPr>
        </p:nvSpPr>
        <p:spPr bwMode="gray">
          <a:xfrm>
            <a:off x="1806575" y="44465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How to make it function on your pc </a:t>
            </a:r>
            <a:r>
              <a:rPr lang="en-GB" b="0">
                <a:solidFill>
                  <a:srgbClr val="263238"/>
                </a:solidFill>
              </a:rPr>
              <a:t>(installation)</a:t>
            </a:r>
            <a:endParaRPr lang="en-GB" b="0" dirty="0">
              <a:solidFill>
                <a:srgbClr val="263238"/>
              </a:solidFill>
            </a:endParaRPr>
          </a:p>
        </p:txBody>
      </p:sp>
    </p:spTree>
    <p:extLst>
      <p:ext uri="{BB962C8B-B14F-4D97-AF65-F5344CB8AC3E}">
        <p14:creationId xmlns:p14="http://schemas.microsoft.com/office/powerpoint/2010/main" val="10240917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bill of material describes the “composition” of products and can be implemented through a “recursive” database</a:t>
            </a:r>
          </a:p>
        </p:txBody>
      </p:sp>
      <p:grpSp>
        <p:nvGrpSpPr>
          <p:cNvPr id="24" name="Group 23"/>
          <p:cNvGrpSpPr/>
          <p:nvPr/>
        </p:nvGrpSpPr>
        <p:grpSpPr>
          <a:xfrm>
            <a:off x="291048" y="1072845"/>
            <a:ext cx="353041" cy="2550552"/>
            <a:chOff x="198711" y="1162928"/>
            <a:chExt cx="353041" cy="2550552"/>
          </a:xfrm>
        </p:grpSpPr>
        <p:pic>
          <p:nvPicPr>
            <p:cNvPr id="3" name="Picture 2"/>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18459" y="3399935"/>
              <a:ext cx="313545" cy="313545"/>
            </a:xfrm>
            <a:prstGeom prst="rect">
              <a:avLst/>
            </a:prstGeom>
          </p:spPr>
        </p:pic>
        <p:grpSp>
          <p:nvGrpSpPr>
            <p:cNvPr id="4" name="Group 3"/>
            <p:cNvGrpSpPr/>
            <p:nvPr/>
          </p:nvGrpSpPr>
          <p:grpSpPr>
            <a:xfrm>
              <a:off x="203657" y="1596989"/>
              <a:ext cx="343149" cy="228935"/>
              <a:chOff x="-920978" y="1675227"/>
              <a:chExt cx="825457" cy="550710"/>
            </a:xfrm>
          </p:grpSpPr>
          <p:cxnSp>
            <p:nvCxnSpPr>
              <p:cNvPr id="5" name="Straight Connector 4"/>
              <p:cNvCxnSpPr/>
              <p:nvPr/>
            </p:nvCxnSpPr>
            <p:spPr bwMode="auto">
              <a:xfrm flipV="1">
                <a:off x="-868363" y="1719263"/>
                <a:ext cx="355600" cy="209550"/>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6" name="Straight Connector 5"/>
              <p:cNvCxnSpPr/>
              <p:nvPr/>
            </p:nvCxnSpPr>
            <p:spPr bwMode="auto">
              <a:xfrm>
                <a:off x="-873125" y="1928814"/>
                <a:ext cx="358775" cy="250824"/>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7" name="Straight Connector 6"/>
              <p:cNvCxnSpPr/>
              <p:nvPr/>
            </p:nvCxnSpPr>
            <p:spPr bwMode="auto">
              <a:xfrm>
                <a:off x="-873125" y="1930400"/>
                <a:ext cx="388937" cy="2063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8" name="Straight Connector 7"/>
              <p:cNvCxnSpPr/>
              <p:nvPr/>
            </p:nvCxnSpPr>
            <p:spPr bwMode="auto">
              <a:xfrm>
                <a:off x="-477838" y="1951038"/>
                <a:ext cx="288925" cy="182562"/>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9" name="Straight Connector 8"/>
              <p:cNvCxnSpPr/>
              <p:nvPr/>
            </p:nvCxnSpPr>
            <p:spPr bwMode="auto">
              <a:xfrm>
                <a:off x="-482600" y="1946275"/>
                <a:ext cx="341312" cy="2698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10" name="Straight Connector 9"/>
              <p:cNvCxnSpPr/>
              <p:nvPr/>
            </p:nvCxnSpPr>
            <p:spPr bwMode="auto">
              <a:xfrm flipV="1">
                <a:off x="-482600" y="1830388"/>
                <a:ext cx="312737" cy="119062"/>
              </a:xfrm>
              <a:prstGeom prst="line">
                <a:avLst/>
              </a:prstGeom>
              <a:solidFill>
                <a:schemeClr val="bg1"/>
              </a:solidFill>
              <a:ln w="9525" cap="flat" cmpd="sng" algn="ctr">
                <a:solidFill>
                  <a:srgbClr val="66757D"/>
                </a:solidFill>
                <a:prstDash val="solid"/>
                <a:round/>
                <a:headEnd type="none" w="med" len="med"/>
                <a:tailEnd type="none" w="med" len="med"/>
              </a:ln>
              <a:effectLst/>
            </p:spPr>
          </p:cxnSp>
          <p:sp>
            <p:nvSpPr>
              <p:cNvPr id="11" name="Oval 10"/>
              <p:cNvSpPr/>
              <p:nvPr/>
            </p:nvSpPr>
            <p:spPr bwMode="auto">
              <a:xfrm>
                <a:off x="-920978" y="188001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2" name="Oval 11"/>
              <p:cNvSpPr/>
              <p:nvPr/>
            </p:nvSpPr>
            <p:spPr bwMode="auto">
              <a:xfrm>
                <a:off x="-565378" y="16752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3" name="Oval 12"/>
              <p:cNvSpPr/>
              <p:nvPr/>
            </p:nvSpPr>
            <p:spPr bwMode="auto">
              <a:xfrm>
                <a:off x="-527991" y="19038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4" name="Oval 13"/>
              <p:cNvSpPr/>
              <p:nvPr/>
            </p:nvSpPr>
            <p:spPr bwMode="auto">
              <a:xfrm>
                <a:off x="-560506" y="21324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5" name="Oval 14"/>
              <p:cNvSpPr/>
              <p:nvPr/>
            </p:nvSpPr>
            <p:spPr bwMode="auto">
              <a:xfrm>
                <a:off x="-216019" y="178650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6" name="Oval 15"/>
              <p:cNvSpPr/>
              <p:nvPr/>
            </p:nvSpPr>
            <p:spPr bwMode="auto">
              <a:xfrm>
                <a:off x="-189031" y="1926770"/>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7" name="Oval 16"/>
              <p:cNvSpPr/>
              <p:nvPr/>
            </p:nvSpPr>
            <p:spPr bwMode="auto">
              <a:xfrm>
                <a:off x="-235786" y="2082041"/>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18" name="Picture 17"/>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47646" y="1952656"/>
              <a:ext cx="250098" cy="250098"/>
            </a:xfrm>
            <a:prstGeom prst="rect">
              <a:avLst/>
            </a:prstGeom>
          </p:spPr>
        </p:pic>
        <p:pic>
          <p:nvPicPr>
            <p:cNvPr id="19" name="Picture 18"/>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33157" y="2324899"/>
              <a:ext cx="284148" cy="284148"/>
            </a:xfrm>
            <a:prstGeom prst="rect">
              <a:avLst/>
            </a:prstGeom>
          </p:spPr>
        </p:pic>
        <p:pic>
          <p:nvPicPr>
            <p:cNvPr id="20" name="Picture 19"/>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262" y="2700979"/>
              <a:ext cx="253953" cy="253953"/>
            </a:xfrm>
            <a:prstGeom prst="rect">
              <a:avLst/>
            </a:prstGeom>
          </p:spPr>
        </p:pic>
        <p:pic>
          <p:nvPicPr>
            <p:cNvPr id="21" name="Picture 20"/>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74022" y="3093073"/>
              <a:ext cx="202419" cy="202419"/>
            </a:xfrm>
            <a:prstGeom prst="rect">
              <a:avLst/>
            </a:prstGeom>
          </p:spPr>
        </p:pic>
        <p:pic>
          <p:nvPicPr>
            <p:cNvPr id="22" name="Picture 21"/>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98711" y="1162928"/>
              <a:ext cx="353041" cy="353041"/>
            </a:xfrm>
            <a:prstGeom prst="rect">
              <a:avLst/>
            </a:prstGeom>
          </p:spPr>
        </p:pic>
      </p:grpSp>
      <p:cxnSp>
        <p:nvCxnSpPr>
          <p:cNvPr id="34" name="Straight Connector 33"/>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0" name="Group 89"/>
          <p:cNvGrpSpPr/>
          <p:nvPr/>
        </p:nvGrpSpPr>
        <p:grpSpPr>
          <a:xfrm>
            <a:off x="1204858" y="3668566"/>
            <a:ext cx="3402702" cy="2576366"/>
            <a:chOff x="776019" y="1618580"/>
            <a:chExt cx="3312160" cy="3210013"/>
          </a:xfrm>
        </p:grpSpPr>
        <p:sp>
          <p:nvSpPr>
            <p:cNvPr id="35" name="Rectangle 34"/>
            <p:cNvSpPr>
              <a:spLocks noChangeAspect="1"/>
            </p:cNvSpPr>
            <p:nvPr/>
          </p:nvSpPr>
          <p:spPr bwMode="auto">
            <a:xfrm>
              <a:off x="776019" y="2178478"/>
              <a:ext cx="645166" cy="360000"/>
            </a:xfrm>
            <a:prstGeom prst="rect">
              <a:avLst/>
            </a:prstGeom>
            <a:solidFill>
              <a:schemeClr val="accent2">
                <a:lumMod val="5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a:t>
              </a:r>
            </a:p>
          </p:txBody>
        </p:sp>
        <p:sp>
          <p:nvSpPr>
            <p:cNvPr id="36" name="Rectangle 35"/>
            <p:cNvSpPr>
              <a:spLocks noChangeAspect="1"/>
            </p:cNvSpPr>
            <p:nvPr/>
          </p:nvSpPr>
          <p:spPr bwMode="auto">
            <a:xfrm>
              <a:off x="1665017" y="1853411"/>
              <a:ext cx="645166" cy="360000"/>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a:t>
              </a:r>
            </a:p>
          </p:txBody>
        </p:sp>
        <p:sp>
          <p:nvSpPr>
            <p:cNvPr id="37" name="Rectangle 36"/>
            <p:cNvSpPr>
              <a:spLocks noChangeAspect="1"/>
            </p:cNvSpPr>
            <p:nvPr/>
          </p:nvSpPr>
          <p:spPr bwMode="auto">
            <a:xfrm>
              <a:off x="1665017" y="2725138"/>
              <a:ext cx="645166" cy="360000"/>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A2</a:t>
              </a:r>
            </a:p>
          </p:txBody>
        </p:sp>
        <p:sp>
          <p:nvSpPr>
            <p:cNvPr id="38" name="Rectangle 37"/>
            <p:cNvSpPr>
              <a:spLocks noChangeAspect="1"/>
            </p:cNvSpPr>
            <p:nvPr/>
          </p:nvSpPr>
          <p:spPr bwMode="auto">
            <a:xfrm>
              <a:off x="1665017" y="3596865"/>
              <a:ext cx="645166" cy="360000"/>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a:t>
              </a:r>
            </a:p>
          </p:txBody>
        </p:sp>
        <p:sp>
          <p:nvSpPr>
            <p:cNvPr id="39" name="Rectangle 38"/>
            <p:cNvSpPr>
              <a:spLocks noChangeAspect="1"/>
            </p:cNvSpPr>
            <p:nvPr/>
          </p:nvSpPr>
          <p:spPr bwMode="auto">
            <a:xfrm>
              <a:off x="1665017" y="4468593"/>
              <a:ext cx="645166" cy="360000"/>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A4</a:t>
              </a:r>
            </a:p>
          </p:txBody>
        </p:sp>
        <p:sp>
          <p:nvSpPr>
            <p:cNvPr id="40" name="Rectangle 39"/>
            <p:cNvSpPr>
              <a:spLocks noChangeAspect="1"/>
            </p:cNvSpPr>
            <p:nvPr/>
          </p:nvSpPr>
          <p:spPr bwMode="auto">
            <a:xfrm>
              <a:off x="2554015" y="1618580"/>
              <a:ext cx="645166" cy="360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A11</a:t>
              </a:r>
            </a:p>
          </p:txBody>
        </p:sp>
        <p:sp>
          <p:nvSpPr>
            <p:cNvPr id="41" name="Rectangle 40"/>
            <p:cNvSpPr>
              <a:spLocks noChangeAspect="1"/>
            </p:cNvSpPr>
            <p:nvPr/>
          </p:nvSpPr>
          <p:spPr bwMode="auto">
            <a:xfrm>
              <a:off x="2554015" y="2223311"/>
              <a:ext cx="645166" cy="360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A12</a:t>
              </a:r>
            </a:p>
          </p:txBody>
        </p:sp>
        <p:sp>
          <p:nvSpPr>
            <p:cNvPr id="42" name="Rectangle 41"/>
            <p:cNvSpPr>
              <a:spLocks noChangeAspect="1"/>
            </p:cNvSpPr>
            <p:nvPr/>
          </p:nvSpPr>
          <p:spPr bwMode="auto">
            <a:xfrm>
              <a:off x="2554015" y="3307516"/>
              <a:ext cx="645166" cy="360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A31</a:t>
              </a:r>
            </a:p>
          </p:txBody>
        </p:sp>
        <p:sp>
          <p:nvSpPr>
            <p:cNvPr id="43" name="Rectangle 42"/>
            <p:cNvSpPr>
              <a:spLocks noChangeAspect="1"/>
            </p:cNvSpPr>
            <p:nvPr/>
          </p:nvSpPr>
          <p:spPr bwMode="auto">
            <a:xfrm>
              <a:off x="2554015" y="3914213"/>
              <a:ext cx="645166" cy="360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a:t>
              </a:r>
            </a:p>
          </p:txBody>
        </p:sp>
        <p:sp>
          <p:nvSpPr>
            <p:cNvPr id="44" name="Rectangle 43"/>
            <p:cNvSpPr>
              <a:spLocks noChangeAspect="1"/>
            </p:cNvSpPr>
            <p:nvPr/>
          </p:nvSpPr>
          <p:spPr bwMode="auto">
            <a:xfrm>
              <a:off x="3443013" y="3639125"/>
              <a:ext cx="645166" cy="360000"/>
            </a:xfrm>
            <a:prstGeom prst="rect">
              <a:avLst/>
            </a:prstGeom>
            <a:solidFill>
              <a:schemeClr val="accent2">
                <a:lumMod val="60000"/>
                <a:lumOff val="4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A321</a:t>
              </a:r>
            </a:p>
          </p:txBody>
        </p:sp>
        <p:sp>
          <p:nvSpPr>
            <p:cNvPr id="45" name="Rectangle 44"/>
            <p:cNvSpPr>
              <a:spLocks noChangeAspect="1"/>
            </p:cNvSpPr>
            <p:nvPr/>
          </p:nvSpPr>
          <p:spPr bwMode="auto">
            <a:xfrm>
              <a:off x="3443013" y="4245822"/>
              <a:ext cx="645166" cy="360000"/>
            </a:xfrm>
            <a:prstGeom prst="rect">
              <a:avLst/>
            </a:prstGeom>
            <a:solidFill>
              <a:schemeClr val="accent2">
                <a:lumMod val="60000"/>
                <a:lumOff val="4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A322</a:t>
              </a:r>
            </a:p>
          </p:txBody>
        </p:sp>
        <p:cxnSp>
          <p:nvCxnSpPr>
            <p:cNvPr id="47" name="Elbow Connector 46"/>
            <p:cNvCxnSpPr>
              <a:stCxn id="35" idx="3"/>
              <a:endCxn id="36" idx="1"/>
            </p:cNvCxnSpPr>
            <p:nvPr/>
          </p:nvCxnSpPr>
          <p:spPr bwMode="auto">
            <a:xfrm flipV="1">
              <a:off x="1421185" y="2033411"/>
              <a:ext cx="243832" cy="325067"/>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Elbow Connector 48"/>
            <p:cNvCxnSpPr>
              <a:stCxn id="35" idx="3"/>
              <a:endCxn id="37" idx="1"/>
            </p:cNvCxnSpPr>
            <p:nvPr/>
          </p:nvCxnSpPr>
          <p:spPr bwMode="auto">
            <a:xfrm>
              <a:off x="1421185" y="2358478"/>
              <a:ext cx="243832" cy="546660"/>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Elbow Connector 50"/>
            <p:cNvCxnSpPr>
              <a:stCxn id="36" idx="3"/>
              <a:endCxn id="40" idx="1"/>
            </p:cNvCxnSpPr>
            <p:nvPr/>
          </p:nvCxnSpPr>
          <p:spPr bwMode="auto">
            <a:xfrm flipV="1">
              <a:off x="2310183" y="1798580"/>
              <a:ext cx="243832" cy="234831"/>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Elbow Connector 52"/>
            <p:cNvCxnSpPr>
              <a:stCxn id="36" idx="3"/>
              <a:endCxn id="41" idx="1"/>
            </p:cNvCxnSpPr>
            <p:nvPr/>
          </p:nvCxnSpPr>
          <p:spPr bwMode="auto">
            <a:xfrm>
              <a:off x="2310183" y="2033411"/>
              <a:ext cx="243832" cy="369900"/>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Elbow Connector 54"/>
            <p:cNvCxnSpPr>
              <a:stCxn id="38" idx="3"/>
              <a:endCxn id="42" idx="1"/>
            </p:cNvCxnSpPr>
            <p:nvPr/>
          </p:nvCxnSpPr>
          <p:spPr bwMode="auto">
            <a:xfrm flipV="1">
              <a:off x="2310183" y="3487516"/>
              <a:ext cx="243832" cy="289349"/>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Elbow Connector 56"/>
            <p:cNvCxnSpPr>
              <a:stCxn id="38" idx="3"/>
              <a:endCxn id="43" idx="1"/>
            </p:cNvCxnSpPr>
            <p:nvPr/>
          </p:nvCxnSpPr>
          <p:spPr bwMode="auto">
            <a:xfrm>
              <a:off x="2310183" y="3776865"/>
              <a:ext cx="243832" cy="317348"/>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Elbow Connector 58"/>
            <p:cNvCxnSpPr>
              <a:stCxn id="35" idx="3"/>
              <a:endCxn id="38" idx="1"/>
            </p:cNvCxnSpPr>
            <p:nvPr/>
          </p:nvCxnSpPr>
          <p:spPr bwMode="auto">
            <a:xfrm>
              <a:off x="1421185" y="2358478"/>
              <a:ext cx="243832" cy="1418387"/>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Elbow Connector 60"/>
            <p:cNvCxnSpPr>
              <a:stCxn id="35" idx="3"/>
              <a:endCxn id="39" idx="1"/>
            </p:cNvCxnSpPr>
            <p:nvPr/>
          </p:nvCxnSpPr>
          <p:spPr bwMode="auto">
            <a:xfrm>
              <a:off x="1421185" y="2358478"/>
              <a:ext cx="243832" cy="2290115"/>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Elbow Connector 62"/>
            <p:cNvCxnSpPr>
              <a:stCxn id="43" idx="3"/>
              <a:endCxn id="44" idx="1"/>
            </p:cNvCxnSpPr>
            <p:nvPr/>
          </p:nvCxnSpPr>
          <p:spPr bwMode="auto">
            <a:xfrm flipV="1">
              <a:off x="3199181" y="3819125"/>
              <a:ext cx="243832" cy="275088"/>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Elbow Connector 64"/>
            <p:cNvCxnSpPr>
              <a:stCxn id="43" idx="3"/>
              <a:endCxn id="45" idx="1"/>
            </p:cNvCxnSpPr>
            <p:nvPr/>
          </p:nvCxnSpPr>
          <p:spPr bwMode="auto">
            <a:xfrm>
              <a:off x="3199181" y="4094213"/>
              <a:ext cx="243832" cy="331609"/>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5" name="TextBox 94"/>
          <p:cNvSpPr txBox="1"/>
          <p:nvPr/>
        </p:nvSpPr>
        <p:spPr>
          <a:xfrm>
            <a:off x="965200" y="1249365"/>
            <a:ext cx="4150360"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A typical “bill of material” is documented with a tree structure that represent the components of a product</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For example below, the product A is made of components A1 to A4; the component A1 is made of A11 and A12; and so on</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Such structure is readable for humans, but it is not the best form as an input to computers</a:t>
            </a:r>
          </a:p>
        </p:txBody>
      </p:sp>
      <p:sp>
        <p:nvSpPr>
          <p:cNvPr id="96" name="TextBox 95"/>
          <p:cNvSpPr txBox="1"/>
          <p:nvPr/>
        </p:nvSpPr>
        <p:spPr>
          <a:xfrm>
            <a:off x="5445760" y="1249365"/>
            <a:ext cx="4150360"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A recursive tabular form is better suited for computer analyses</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Below is the same bill of material represented with a “recursive” table</a:t>
            </a:r>
            <a:br>
              <a:rPr lang="en-GB" sz="1600" b="0" dirty="0">
                <a:solidFill>
                  <a:srgbClr val="263238"/>
                </a:solidFill>
              </a:rPr>
            </a:br>
            <a:r>
              <a:rPr lang="en-GB" sz="1600" b="0" dirty="0">
                <a:solidFill>
                  <a:srgbClr val="263238"/>
                </a:solidFill>
              </a:rPr>
              <a:t>(recursive means that each child is looked up in the father column recursively to identify “nephews”)</a:t>
            </a:r>
          </a:p>
        </p:txBody>
      </p:sp>
      <p:sp>
        <p:nvSpPr>
          <p:cNvPr id="98" name="Rectangle 97"/>
          <p:cNvSpPr>
            <a:spLocks noChangeAspect="1"/>
          </p:cNvSpPr>
          <p:nvPr/>
        </p:nvSpPr>
        <p:spPr bwMode="auto">
          <a:xfrm>
            <a:off x="6023780" y="3631249"/>
            <a:ext cx="662802" cy="288937"/>
          </a:xfrm>
          <a:prstGeom prst="rect">
            <a:avLst/>
          </a:prstGeom>
          <a:solidFill>
            <a:schemeClr val="accent2">
              <a:lumMod val="5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a:t>
            </a:r>
          </a:p>
        </p:txBody>
      </p:sp>
      <p:sp>
        <p:nvSpPr>
          <p:cNvPr id="100" name="Rectangle 99"/>
          <p:cNvSpPr>
            <a:spLocks noChangeAspect="1"/>
          </p:cNvSpPr>
          <p:nvPr/>
        </p:nvSpPr>
        <p:spPr bwMode="auto">
          <a:xfrm>
            <a:off x="7151642" y="3920186"/>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A2</a:t>
            </a:r>
          </a:p>
        </p:txBody>
      </p:sp>
      <p:sp>
        <p:nvSpPr>
          <p:cNvPr id="101" name="Rectangle 100"/>
          <p:cNvSpPr>
            <a:spLocks noChangeAspect="1"/>
          </p:cNvSpPr>
          <p:nvPr/>
        </p:nvSpPr>
        <p:spPr bwMode="auto">
          <a:xfrm>
            <a:off x="7151642" y="4209123"/>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a:t>
            </a:r>
          </a:p>
        </p:txBody>
      </p:sp>
      <p:sp>
        <p:nvSpPr>
          <p:cNvPr id="102" name="Rectangle 101"/>
          <p:cNvSpPr>
            <a:spLocks noChangeAspect="1"/>
          </p:cNvSpPr>
          <p:nvPr/>
        </p:nvSpPr>
        <p:spPr bwMode="auto">
          <a:xfrm>
            <a:off x="7151642" y="4498060"/>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A4</a:t>
            </a:r>
          </a:p>
        </p:txBody>
      </p:sp>
      <p:sp>
        <p:nvSpPr>
          <p:cNvPr id="103" name="Rectangle 102"/>
          <p:cNvSpPr>
            <a:spLocks noChangeAspect="1"/>
          </p:cNvSpPr>
          <p:nvPr/>
        </p:nvSpPr>
        <p:spPr bwMode="auto">
          <a:xfrm>
            <a:off x="7151642" y="4786997"/>
            <a:ext cx="662802" cy="288937"/>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A11</a:t>
            </a:r>
          </a:p>
        </p:txBody>
      </p:sp>
      <p:sp>
        <p:nvSpPr>
          <p:cNvPr id="104" name="Rectangle 103"/>
          <p:cNvSpPr>
            <a:spLocks noChangeAspect="1"/>
          </p:cNvSpPr>
          <p:nvPr/>
        </p:nvSpPr>
        <p:spPr bwMode="auto">
          <a:xfrm>
            <a:off x="7151642" y="5075934"/>
            <a:ext cx="662802" cy="288937"/>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A12</a:t>
            </a:r>
          </a:p>
        </p:txBody>
      </p:sp>
      <p:sp>
        <p:nvSpPr>
          <p:cNvPr id="105" name="Rectangle 104"/>
          <p:cNvSpPr>
            <a:spLocks noChangeAspect="1"/>
          </p:cNvSpPr>
          <p:nvPr/>
        </p:nvSpPr>
        <p:spPr bwMode="auto">
          <a:xfrm>
            <a:off x="7151642" y="5364871"/>
            <a:ext cx="662802" cy="288937"/>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A31</a:t>
            </a:r>
          </a:p>
        </p:txBody>
      </p:sp>
      <p:sp>
        <p:nvSpPr>
          <p:cNvPr id="106" name="Rectangle 105"/>
          <p:cNvSpPr>
            <a:spLocks noChangeAspect="1"/>
          </p:cNvSpPr>
          <p:nvPr/>
        </p:nvSpPr>
        <p:spPr bwMode="auto">
          <a:xfrm>
            <a:off x="7151642" y="5653808"/>
            <a:ext cx="662802" cy="288937"/>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a:t>
            </a:r>
          </a:p>
        </p:txBody>
      </p:sp>
      <p:sp>
        <p:nvSpPr>
          <p:cNvPr id="107" name="Rectangle 106"/>
          <p:cNvSpPr>
            <a:spLocks noChangeAspect="1"/>
          </p:cNvSpPr>
          <p:nvPr/>
        </p:nvSpPr>
        <p:spPr bwMode="auto">
          <a:xfrm>
            <a:off x="7151642" y="5942745"/>
            <a:ext cx="662802" cy="288937"/>
          </a:xfrm>
          <a:prstGeom prst="rect">
            <a:avLst/>
          </a:prstGeom>
          <a:solidFill>
            <a:schemeClr val="accent2">
              <a:lumMod val="60000"/>
              <a:lumOff val="4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A321</a:t>
            </a:r>
          </a:p>
        </p:txBody>
      </p:sp>
      <p:sp>
        <p:nvSpPr>
          <p:cNvPr id="108" name="Rectangle 107"/>
          <p:cNvSpPr>
            <a:spLocks noChangeAspect="1"/>
          </p:cNvSpPr>
          <p:nvPr/>
        </p:nvSpPr>
        <p:spPr bwMode="auto">
          <a:xfrm>
            <a:off x="7151642" y="6231682"/>
            <a:ext cx="662802" cy="288937"/>
          </a:xfrm>
          <a:prstGeom prst="rect">
            <a:avLst/>
          </a:prstGeom>
          <a:solidFill>
            <a:schemeClr val="accent2">
              <a:lumMod val="60000"/>
              <a:lumOff val="4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A322</a:t>
            </a:r>
          </a:p>
        </p:txBody>
      </p:sp>
      <p:sp>
        <p:nvSpPr>
          <p:cNvPr id="119" name="Rectangle 118"/>
          <p:cNvSpPr>
            <a:spLocks noChangeAspect="1"/>
          </p:cNvSpPr>
          <p:nvPr/>
        </p:nvSpPr>
        <p:spPr bwMode="auto">
          <a:xfrm>
            <a:off x="7151642" y="3631249"/>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a:t>
            </a:r>
          </a:p>
        </p:txBody>
      </p:sp>
      <p:sp>
        <p:nvSpPr>
          <p:cNvPr id="120" name="Rectangle 119"/>
          <p:cNvSpPr>
            <a:spLocks noChangeAspect="1"/>
          </p:cNvSpPr>
          <p:nvPr/>
        </p:nvSpPr>
        <p:spPr bwMode="auto">
          <a:xfrm>
            <a:off x="6023780" y="3920186"/>
            <a:ext cx="662802" cy="288937"/>
          </a:xfrm>
          <a:prstGeom prst="rect">
            <a:avLst/>
          </a:prstGeom>
          <a:solidFill>
            <a:schemeClr val="accent2">
              <a:lumMod val="5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a:t>
            </a:r>
          </a:p>
        </p:txBody>
      </p:sp>
      <p:sp>
        <p:nvSpPr>
          <p:cNvPr id="121" name="Rectangle 120"/>
          <p:cNvSpPr>
            <a:spLocks noChangeAspect="1"/>
          </p:cNvSpPr>
          <p:nvPr/>
        </p:nvSpPr>
        <p:spPr bwMode="auto">
          <a:xfrm>
            <a:off x="6023780" y="4209123"/>
            <a:ext cx="662802" cy="288937"/>
          </a:xfrm>
          <a:prstGeom prst="rect">
            <a:avLst/>
          </a:prstGeom>
          <a:solidFill>
            <a:schemeClr val="accent2">
              <a:lumMod val="5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a:t>
            </a:r>
          </a:p>
        </p:txBody>
      </p:sp>
      <p:sp>
        <p:nvSpPr>
          <p:cNvPr id="122" name="Rectangle 121"/>
          <p:cNvSpPr>
            <a:spLocks noChangeAspect="1"/>
          </p:cNvSpPr>
          <p:nvPr/>
        </p:nvSpPr>
        <p:spPr bwMode="auto">
          <a:xfrm>
            <a:off x="6023780" y="4498060"/>
            <a:ext cx="662802" cy="288937"/>
          </a:xfrm>
          <a:prstGeom prst="rect">
            <a:avLst/>
          </a:prstGeom>
          <a:solidFill>
            <a:schemeClr val="accent2">
              <a:lumMod val="50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a:t>
            </a:r>
          </a:p>
        </p:txBody>
      </p:sp>
      <p:sp>
        <p:nvSpPr>
          <p:cNvPr id="123" name="Rectangle 122"/>
          <p:cNvSpPr>
            <a:spLocks noChangeAspect="1"/>
          </p:cNvSpPr>
          <p:nvPr/>
        </p:nvSpPr>
        <p:spPr bwMode="auto">
          <a:xfrm>
            <a:off x="6023780" y="4786997"/>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a:t>
            </a:r>
          </a:p>
        </p:txBody>
      </p:sp>
      <p:sp>
        <p:nvSpPr>
          <p:cNvPr id="124" name="Rectangle 123"/>
          <p:cNvSpPr>
            <a:spLocks noChangeAspect="1"/>
          </p:cNvSpPr>
          <p:nvPr/>
        </p:nvSpPr>
        <p:spPr bwMode="auto">
          <a:xfrm>
            <a:off x="6023780" y="5075934"/>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A1</a:t>
            </a:r>
          </a:p>
        </p:txBody>
      </p:sp>
      <p:sp>
        <p:nvSpPr>
          <p:cNvPr id="125" name="Rectangle 124"/>
          <p:cNvSpPr>
            <a:spLocks noChangeAspect="1"/>
          </p:cNvSpPr>
          <p:nvPr/>
        </p:nvSpPr>
        <p:spPr bwMode="auto">
          <a:xfrm>
            <a:off x="6023780" y="5364871"/>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a:t>
            </a:r>
          </a:p>
        </p:txBody>
      </p:sp>
      <p:sp>
        <p:nvSpPr>
          <p:cNvPr id="126" name="Rectangle 125"/>
          <p:cNvSpPr>
            <a:spLocks noChangeAspect="1"/>
          </p:cNvSpPr>
          <p:nvPr/>
        </p:nvSpPr>
        <p:spPr bwMode="auto">
          <a:xfrm>
            <a:off x="6023780" y="5653808"/>
            <a:ext cx="662802" cy="288937"/>
          </a:xfrm>
          <a:prstGeom prst="rect">
            <a:avLst/>
          </a:prstGeom>
          <a:solidFill>
            <a:schemeClr val="accent2">
              <a:lumMod val="75000"/>
            </a:schemeClr>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a:t>
            </a:r>
          </a:p>
        </p:txBody>
      </p:sp>
      <p:sp>
        <p:nvSpPr>
          <p:cNvPr id="127" name="Rectangle 126"/>
          <p:cNvSpPr>
            <a:spLocks noChangeAspect="1"/>
          </p:cNvSpPr>
          <p:nvPr/>
        </p:nvSpPr>
        <p:spPr bwMode="auto">
          <a:xfrm>
            <a:off x="6023780" y="5942745"/>
            <a:ext cx="662802" cy="288937"/>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a:t>
            </a:r>
          </a:p>
        </p:txBody>
      </p:sp>
      <p:sp>
        <p:nvSpPr>
          <p:cNvPr id="128" name="Rectangle 127"/>
          <p:cNvSpPr>
            <a:spLocks noChangeAspect="1"/>
          </p:cNvSpPr>
          <p:nvPr/>
        </p:nvSpPr>
        <p:spPr bwMode="auto">
          <a:xfrm>
            <a:off x="6023780" y="6231682"/>
            <a:ext cx="662802" cy="288937"/>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A32</a:t>
            </a:r>
          </a:p>
        </p:txBody>
      </p:sp>
      <p:cxnSp>
        <p:nvCxnSpPr>
          <p:cNvPr id="131" name="Straight Arrow Connector 130"/>
          <p:cNvCxnSpPr>
            <a:stCxn id="98" idx="3"/>
            <a:endCxn id="119" idx="1"/>
          </p:cNvCxnSpPr>
          <p:nvPr/>
        </p:nvCxnSpPr>
        <p:spPr bwMode="auto">
          <a:xfrm>
            <a:off x="6686582" y="3775718"/>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Straight Arrow Connector 132"/>
          <p:cNvCxnSpPr>
            <a:stCxn id="120" idx="3"/>
            <a:endCxn id="100" idx="1"/>
          </p:cNvCxnSpPr>
          <p:nvPr/>
        </p:nvCxnSpPr>
        <p:spPr bwMode="auto">
          <a:xfrm>
            <a:off x="6686582" y="4064655"/>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Straight Arrow Connector 134"/>
          <p:cNvCxnSpPr>
            <a:stCxn id="121" idx="3"/>
            <a:endCxn id="101" idx="1"/>
          </p:cNvCxnSpPr>
          <p:nvPr/>
        </p:nvCxnSpPr>
        <p:spPr bwMode="auto">
          <a:xfrm>
            <a:off x="6686582" y="4353592"/>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Straight Arrow Connector 138"/>
          <p:cNvCxnSpPr>
            <a:stCxn id="122" idx="3"/>
            <a:endCxn id="102" idx="1"/>
          </p:cNvCxnSpPr>
          <p:nvPr/>
        </p:nvCxnSpPr>
        <p:spPr bwMode="auto">
          <a:xfrm>
            <a:off x="6686582" y="4642529"/>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Straight Arrow Connector 140"/>
          <p:cNvCxnSpPr>
            <a:stCxn id="123" idx="3"/>
            <a:endCxn id="103" idx="1"/>
          </p:cNvCxnSpPr>
          <p:nvPr/>
        </p:nvCxnSpPr>
        <p:spPr bwMode="auto">
          <a:xfrm>
            <a:off x="6686582" y="4931466"/>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Straight Arrow Connector 142"/>
          <p:cNvCxnSpPr>
            <a:stCxn id="124" idx="3"/>
            <a:endCxn id="104" idx="1"/>
          </p:cNvCxnSpPr>
          <p:nvPr/>
        </p:nvCxnSpPr>
        <p:spPr bwMode="auto">
          <a:xfrm>
            <a:off x="6686582" y="5220403"/>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Straight Arrow Connector 144"/>
          <p:cNvCxnSpPr>
            <a:stCxn id="125" idx="3"/>
            <a:endCxn id="105" idx="1"/>
          </p:cNvCxnSpPr>
          <p:nvPr/>
        </p:nvCxnSpPr>
        <p:spPr bwMode="auto">
          <a:xfrm>
            <a:off x="6686582" y="5509340"/>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Straight Arrow Connector 146"/>
          <p:cNvCxnSpPr>
            <a:stCxn id="126" idx="3"/>
            <a:endCxn id="106" idx="1"/>
          </p:cNvCxnSpPr>
          <p:nvPr/>
        </p:nvCxnSpPr>
        <p:spPr bwMode="auto">
          <a:xfrm>
            <a:off x="6686582" y="5798277"/>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Straight Arrow Connector 148"/>
          <p:cNvCxnSpPr>
            <a:stCxn id="127" idx="3"/>
            <a:endCxn id="107" idx="1"/>
          </p:cNvCxnSpPr>
          <p:nvPr/>
        </p:nvCxnSpPr>
        <p:spPr bwMode="auto">
          <a:xfrm>
            <a:off x="6686582" y="6087214"/>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Straight Arrow Connector 150"/>
          <p:cNvCxnSpPr>
            <a:stCxn id="128" idx="3"/>
            <a:endCxn id="108" idx="1"/>
          </p:cNvCxnSpPr>
          <p:nvPr/>
        </p:nvCxnSpPr>
        <p:spPr bwMode="auto">
          <a:xfrm>
            <a:off x="6686582" y="6376151"/>
            <a:ext cx="465060" cy="0"/>
          </a:xfrm>
          <a:prstGeom prst="straightConnector1">
            <a:avLst/>
          </a:prstGeom>
          <a:solidFill>
            <a:schemeClr val="accent1"/>
          </a:solidFill>
          <a:ln w="19050" cap="flat" cmpd="sng" algn="ctr">
            <a:solidFill>
              <a:srgbClr val="167D9A"/>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TextBox 151"/>
          <p:cNvSpPr txBox="1"/>
          <p:nvPr/>
        </p:nvSpPr>
        <p:spPr>
          <a:xfrm>
            <a:off x="6041793" y="3312794"/>
            <a:ext cx="6267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dirty="0">
                <a:solidFill>
                  <a:srgbClr val="263238"/>
                </a:solidFill>
              </a:rPr>
              <a:t>Father</a:t>
            </a:r>
          </a:p>
        </p:txBody>
      </p:sp>
      <p:sp>
        <p:nvSpPr>
          <p:cNvPr id="153" name="TextBox 152"/>
          <p:cNvSpPr txBox="1"/>
          <p:nvPr/>
        </p:nvSpPr>
        <p:spPr>
          <a:xfrm>
            <a:off x="7226562" y="3312794"/>
            <a:ext cx="51296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dirty="0">
                <a:solidFill>
                  <a:srgbClr val="263238"/>
                </a:solidFill>
              </a:rPr>
              <a:t>Child</a:t>
            </a:r>
          </a:p>
        </p:txBody>
      </p:sp>
      <p:cxnSp>
        <p:nvCxnSpPr>
          <p:cNvPr id="155" name="Straight Arrow Connector 154"/>
          <p:cNvCxnSpPr/>
          <p:nvPr/>
        </p:nvCxnSpPr>
        <p:spPr bwMode="auto">
          <a:xfrm>
            <a:off x="4442287" y="4931465"/>
            <a:ext cx="1380182" cy="0"/>
          </a:xfrm>
          <a:prstGeom prst="straightConnector1">
            <a:avLst/>
          </a:prstGeom>
          <a:solidFill>
            <a:schemeClr val="accent1"/>
          </a:solidFill>
          <a:ln w="28575" cap="flat" cmpd="sng" algn="ctr">
            <a:solidFill>
              <a:srgbClr val="167D9A"/>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Box 155"/>
          <p:cNvSpPr txBox="1"/>
          <p:nvPr/>
        </p:nvSpPr>
        <p:spPr>
          <a:xfrm>
            <a:off x="4395778" y="4064654"/>
            <a:ext cx="148178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These two representations are equivalent </a:t>
            </a:r>
          </a:p>
        </p:txBody>
      </p:sp>
      <p:cxnSp>
        <p:nvCxnSpPr>
          <p:cNvPr id="166" name="Elbow Connector 165"/>
          <p:cNvCxnSpPr>
            <a:stCxn id="101" idx="3"/>
            <a:endCxn id="168" idx="0"/>
          </p:cNvCxnSpPr>
          <p:nvPr/>
        </p:nvCxnSpPr>
        <p:spPr bwMode="auto">
          <a:xfrm>
            <a:off x="7814444" y="4353592"/>
            <a:ext cx="1097829" cy="235218"/>
          </a:xfrm>
          <a:prstGeom prst="bentConnector2">
            <a:avLst/>
          </a:prstGeom>
          <a:solidFill>
            <a:schemeClr val="accent1"/>
          </a:solidFill>
          <a:ln w="19050" cap="flat" cmpd="sng" algn="ctr">
            <a:solidFill>
              <a:schemeClr val="tx1">
                <a:lumMod val="40000"/>
                <a:lumOff val="60000"/>
              </a:schemeClr>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TextBox 167"/>
          <p:cNvSpPr txBox="1"/>
          <p:nvPr/>
        </p:nvSpPr>
        <p:spPr>
          <a:xfrm>
            <a:off x="8102802" y="4588810"/>
            <a:ext cx="161894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for instance, the components of A3 are listed here</a:t>
            </a:r>
          </a:p>
        </p:txBody>
      </p:sp>
      <p:cxnSp>
        <p:nvCxnSpPr>
          <p:cNvPr id="177" name="Elbow Connector 176"/>
          <p:cNvCxnSpPr>
            <a:stCxn id="168" idx="2"/>
            <a:endCxn id="105" idx="3"/>
          </p:cNvCxnSpPr>
          <p:nvPr/>
        </p:nvCxnSpPr>
        <p:spPr bwMode="auto">
          <a:xfrm rot="5400000">
            <a:off x="8272426" y="4869493"/>
            <a:ext cx="181866" cy="1097829"/>
          </a:xfrm>
          <a:prstGeom prst="bentConnector2">
            <a:avLst/>
          </a:prstGeom>
          <a:solidFill>
            <a:schemeClr val="accent1"/>
          </a:solidFill>
          <a:ln w="19050" cap="flat" cmpd="sng" algn="ctr">
            <a:solidFill>
              <a:schemeClr val="tx1">
                <a:lumMod val="40000"/>
                <a:lumOff val="60000"/>
              </a:schemeClr>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Elbow Connector 178"/>
          <p:cNvCxnSpPr>
            <a:stCxn id="168" idx="2"/>
            <a:endCxn id="106" idx="3"/>
          </p:cNvCxnSpPr>
          <p:nvPr/>
        </p:nvCxnSpPr>
        <p:spPr bwMode="auto">
          <a:xfrm rot="5400000">
            <a:off x="8127958" y="5013961"/>
            <a:ext cx="470803" cy="1097829"/>
          </a:xfrm>
          <a:prstGeom prst="bentConnector2">
            <a:avLst/>
          </a:prstGeom>
          <a:solidFill>
            <a:schemeClr val="accent1"/>
          </a:solidFill>
          <a:ln w="19050" cap="flat" cmpd="sng" algn="ctr">
            <a:solidFill>
              <a:schemeClr val="tx1">
                <a:lumMod val="40000"/>
                <a:lumOff val="60000"/>
              </a:schemeClr>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Straight Connector 189"/>
          <p:cNvCxnSpPr/>
          <p:nvPr/>
        </p:nvCxnSpPr>
        <p:spPr bwMode="auto">
          <a:xfrm>
            <a:off x="248920" y="1417290"/>
            <a:ext cx="0" cy="39445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63188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example that will be solved is realized with the inputs illustrated hereby and in the following pages</a:t>
            </a:r>
          </a:p>
        </p:txBody>
      </p:sp>
      <p:pic>
        <p:nvPicPr>
          <p:cNvPr id="5" name="Picture 4"/>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grpSp>
        <p:nvGrpSpPr>
          <p:cNvPr id="6" name="Group 5"/>
          <p:cNvGrpSpPr/>
          <p:nvPr/>
        </p:nvGrpSpPr>
        <p:grpSpPr>
          <a:xfrm>
            <a:off x="295994" y="1506906"/>
            <a:ext cx="343149" cy="228935"/>
            <a:chOff x="-920978" y="1675227"/>
            <a:chExt cx="825457" cy="550710"/>
          </a:xfrm>
        </p:grpSpPr>
        <p:cxnSp>
          <p:nvCxnSpPr>
            <p:cNvPr id="12" name="Straight Connector 11"/>
            <p:cNvCxnSpPr/>
            <p:nvPr/>
          </p:nvCxnSpPr>
          <p:spPr bwMode="auto">
            <a:xfrm flipV="1">
              <a:off x="-868363" y="1719263"/>
              <a:ext cx="355600" cy="209550"/>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13" name="Straight Connector 12"/>
            <p:cNvCxnSpPr/>
            <p:nvPr/>
          </p:nvCxnSpPr>
          <p:spPr bwMode="auto">
            <a:xfrm>
              <a:off x="-873125" y="1928814"/>
              <a:ext cx="358775" cy="250824"/>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14" name="Straight Connector 13"/>
            <p:cNvCxnSpPr/>
            <p:nvPr/>
          </p:nvCxnSpPr>
          <p:spPr bwMode="auto">
            <a:xfrm>
              <a:off x="-873125" y="1930400"/>
              <a:ext cx="388937" cy="2063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15" name="Straight Connector 14"/>
            <p:cNvCxnSpPr/>
            <p:nvPr/>
          </p:nvCxnSpPr>
          <p:spPr bwMode="auto">
            <a:xfrm>
              <a:off x="-477838" y="1951038"/>
              <a:ext cx="288925" cy="182562"/>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16" name="Straight Connector 15"/>
            <p:cNvCxnSpPr/>
            <p:nvPr/>
          </p:nvCxnSpPr>
          <p:spPr bwMode="auto">
            <a:xfrm>
              <a:off x="-482600" y="1946275"/>
              <a:ext cx="341312" cy="2698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17" name="Straight Connector 16"/>
            <p:cNvCxnSpPr/>
            <p:nvPr/>
          </p:nvCxnSpPr>
          <p:spPr bwMode="auto">
            <a:xfrm flipV="1">
              <a:off x="-482600" y="1830388"/>
              <a:ext cx="312737" cy="119062"/>
            </a:xfrm>
            <a:prstGeom prst="line">
              <a:avLst/>
            </a:prstGeom>
            <a:solidFill>
              <a:schemeClr val="bg1"/>
            </a:solidFill>
            <a:ln w="9525" cap="flat" cmpd="sng" algn="ctr">
              <a:solidFill>
                <a:srgbClr val="66757D"/>
              </a:solidFill>
              <a:prstDash val="solid"/>
              <a:round/>
              <a:headEnd type="none" w="med" len="med"/>
              <a:tailEnd type="none" w="med" len="med"/>
            </a:ln>
            <a:effectLst/>
          </p:spPr>
        </p:cxnSp>
        <p:sp>
          <p:nvSpPr>
            <p:cNvPr id="18" name="Oval 17"/>
            <p:cNvSpPr/>
            <p:nvPr/>
          </p:nvSpPr>
          <p:spPr bwMode="auto">
            <a:xfrm>
              <a:off x="-920978" y="188001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9" name="Oval 18"/>
            <p:cNvSpPr/>
            <p:nvPr/>
          </p:nvSpPr>
          <p:spPr bwMode="auto">
            <a:xfrm>
              <a:off x="-565378" y="16752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0" name="Oval 19"/>
            <p:cNvSpPr/>
            <p:nvPr/>
          </p:nvSpPr>
          <p:spPr bwMode="auto">
            <a:xfrm>
              <a:off x="-527991" y="19038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1" name="Oval 20"/>
            <p:cNvSpPr/>
            <p:nvPr/>
          </p:nvSpPr>
          <p:spPr bwMode="auto">
            <a:xfrm>
              <a:off x="-560506" y="21324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2" name="Oval 21"/>
            <p:cNvSpPr/>
            <p:nvPr/>
          </p:nvSpPr>
          <p:spPr bwMode="auto">
            <a:xfrm>
              <a:off x="-216019" y="178650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3" name="Oval 22"/>
            <p:cNvSpPr/>
            <p:nvPr/>
          </p:nvSpPr>
          <p:spPr bwMode="auto">
            <a:xfrm>
              <a:off x="-189031" y="1926770"/>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4" name="Oval 23"/>
            <p:cNvSpPr/>
            <p:nvPr/>
          </p:nvSpPr>
          <p:spPr bwMode="auto">
            <a:xfrm>
              <a:off x="-235786" y="2082041"/>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7" name="Picture 6"/>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8" name="Picture 7"/>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9" name="Picture 8"/>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10" name="Picture 9"/>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11" name="Picture 10"/>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5" name="Straight Connector 24"/>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6" name="Picture 25"/>
          <p:cNvPicPr>
            <a:picLocks noChangeAspect="1"/>
          </p:cNvPicPr>
          <p:nvPr/>
        </p:nvPicPr>
        <p:blipFill>
          <a:blip r:embed="rId9"/>
          <a:stretch>
            <a:fillRect/>
          </a:stretch>
        </p:blipFill>
        <p:spPr>
          <a:xfrm>
            <a:off x="1076907" y="1329191"/>
            <a:ext cx="2024400" cy="987000"/>
          </a:xfrm>
          <a:prstGeom prst="rect">
            <a:avLst/>
          </a:prstGeom>
        </p:spPr>
      </p:pic>
      <p:pic>
        <p:nvPicPr>
          <p:cNvPr id="27" name="Picture 26"/>
          <p:cNvPicPr>
            <a:picLocks noChangeAspect="1"/>
          </p:cNvPicPr>
          <p:nvPr/>
        </p:nvPicPr>
        <p:blipFill>
          <a:blip r:embed="rId10"/>
          <a:stretch>
            <a:fillRect/>
          </a:stretch>
        </p:blipFill>
        <p:spPr>
          <a:xfrm>
            <a:off x="1076907" y="2234816"/>
            <a:ext cx="2024400" cy="1108800"/>
          </a:xfrm>
          <a:prstGeom prst="rect">
            <a:avLst/>
          </a:prstGeom>
        </p:spPr>
      </p:pic>
      <p:pic>
        <p:nvPicPr>
          <p:cNvPr id="28" name="Picture 27"/>
          <p:cNvPicPr>
            <a:picLocks noChangeAspect="1"/>
          </p:cNvPicPr>
          <p:nvPr/>
        </p:nvPicPr>
        <p:blipFill>
          <a:blip r:embed="rId11"/>
          <a:stretch>
            <a:fillRect/>
          </a:stretch>
        </p:blipFill>
        <p:spPr>
          <a:xfrm>
            <a:off x="1076907" y="3508218"/>
            <a:ext cx="2830800" cy="3057600"/>
          </a:xfrm>
          <a:prstGeom prst="rect">
            <a:avLst/>
          </a:prstGeom>
        </p:spPr>
      </p:pic>
      <p:sp>
        <p:nvSpPr>
          <p:cNvPr id="29" name="TextBox 28"/>
          <p:cNvSpPr txBox="1"/>
          <p:nvPr/>
        </p:nvSpPr>
        <p:spPr>
          <a:xfrm>
            <a:off x="4453587" y="1109845"/>
            <a:ext cx="5302205" cy="257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example simulation includes three products (the list can be much longer in the range of thousands of products)</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On the left there is the hierarchical representation of the products, the numbers represent the quantity of each component needed (which can be above 1)</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Below is the tabular form inserted in the simulation model input spreadsheet</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example shows that some products can be components for other products (A is a component of C)</a:t>
            </a:r>
          </a:p>
        </p:txBody>
      </p:sp>
      <p:sp>
        <p:nvSpPr>
          <p:cNvPr id="33" name="Right Brace 32"/>
          <p:cNvSpPr/>
          <p:nvPr/>
        </p:nvSpPr>
        <p:spPr bwMode="auto">
          <a:xfrm>
            <a:off x="3920183" y="1127389"/>
            <a:ext cx="592608" cy="5455973"/>
          </a:xfrm>
          <a:prstGeom prst="rightBrace">
            <a:avLst>
              <a:gd name="adj1" fmla="val 0"/>
              <a:gd name="adj2" fmla="val 74115"/>
            </a:avLst>
          </a:prstGeom>
          <a:noFill/>
          <a:ln w="19050" cap="flat" cmpd="sng" algn="ctr">
            <a:solidFill>
              <a:srgbClr val="167D9A"/>
            </a:solidFill>
            <a:prstDash val="solid"/>
            <a:round/>
            <a:headEnd type="none" w="med" len="med"/>
            <a:tailEnd type="none" w="med" len="med"/>
          </a:ln>
          <a:effectLst/>
        </p:spPr>
        <p:txBody>
          <a:bodyPr rtlCol="0" anchor="ctr"/>
          <a:lstStyle/>
          <a:p>
            <a:pPr algn="ctr"/>
            <a:endParaRPr lang="en-GB" dirty="0"/>
          </a:p>
        </p:txBody>
      </p:sp>
      <p:pic>
        <p:nvPicPr>
          <p:cNvPr id="34" name="Picture 33"/>
          <p:cNvPicPr>
            <a:picLocks noChangeAspect="1"/>
          </p:cNvPicPr>
          <p:nvPr/>
        </p:nvPicPr>
        <p:blipFill>
          <a:blip r:embed="rId12"/>
          <a:stretch>
            <a:fillRect/>
          </a:stretch>
        </p:blipFill>
        <p:spPr>
          <a:xfrm>
            <a:off x="4989304" y="3789018"/>
            <a:ext cx="4389000" cy="2692800"/>
          </a:xfrm>
          <a:prstGeom prst="rect">
            <a:avLst/>
          </a:prstGeom>
        </p:spPr>
      </p:pic>
      <p:cxnSp>
        <p:nvCxnSpPr>
          <p:cNvPr id="36" name="Straight Connector 35"/>
          <p:cNvCxnSpPr/>
          <p:nvPr/>
        </p:nvCxnSpPr>
        <p:spPr bwMode="auto">
          <a:xfrm>
            <a:off x="248920" y="1417290"/>
            <a:ext cx="0" cy="39445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661870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Information about the content of work, labour hours and machine hours for each product, are included in a “bill of labour” BOM table</a:t>
            </a:r>
          </a:p>
        </p:txBody>
      </p:sp>
      <p:pic>
        <p:nvPicPr>
          <p:cNvPr id="4" name="Picture 3"/>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grpSp>
        <p:nvGrpSpPr>
          <p:cNvPr id="5" name="Group 4"/>
          <p:cNvGrpSpPr/>
          <p:nvPr/>
        </p:nvGrpSpPr>
        <p:grpSpPr>
          <a:xfrm>
            <a:off x="295994" y="1506906"/>
            <a:ext cx="343149" cy="228935"/>
            <a:chOff x="-920978" y="1675227"/>
            <a:chExt cx="825457" cy="550710"/>
          </a:xfrm>
          <a:solidFill>
            <a:schemeClr val="bg1">
              <a:lumMod val="75000"/>
            </a:schemeClr>
          </a:solidFill>
        </p:grpSpPr>
        <p:cxnSp>
          <p:nvCxnSpPr>
            <p:cNvPr id="11" name="Straight Connector 10"/>
            <p:cNvCxnSpPr/>
            <p:nvPr/>
          </p:nvCxnSpPr>
          <p:spPr bwMode="auto">
            <a:xfrm flipV="1">
              <a:off x="-868363" y="1719263"/>
              <a:ext cx="355600" cy="209550"/>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2" name="Straight Connector 11"/>
            <p:cNvCxnSpPr/>
            <p:nvPr/>
          </p:nvCxnSpPr>
          <p:spPr bwMode="auto">
            <a:xfrm>
              <a:off x="-873125" y="1928814"/>
              <a:ext cx="358775" cy="250824"/>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3" name="Straight Connector 12"/>
            <p:cNvCxnSpPr/>
            <p:nvPr/>
          </p:nvCxnSpPr>
          <p:spPr bwMode="auto">
            <a:xfrm>
              <a:off x="-873125" y="1930400"/>
              <a:ext cx="388937" cy="2063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4" name="Straight Connector 13"/>
            <p:cNvCxnSpPr/>
            <p:nvPr/>
          </p:nvCxnSpPr>
          <p:spPr bwMode="auto">
            <a:xfrm>
              <a:off x="-477838" y="1951038"/>
              <a:ext cx="288925" cy="182562"/>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5" name="Straight Connector 14"/>
            <p:cNvCxnSpPr/>
            <p:nvPr/>
          </p:nvCxnSpPr>
          <p:spPr bwMode="auto">
            <a:xfrm>
              <a:off x="-482600" y="1946275"/>
              <a:ext cx="341312" cy="2698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6" name="Straight Connector 15"/>
            <p:cNvCxnSpPr/>
            <p:nvPr/>
          </p:nvCxnSpPr>
          <p:spPr bwMode="auto">
            <a:xfrm flipV="1">
              <a:off x="-482600" y="1830388"/>
              <a:ext cx="312737" cy="119062"/>
            </a:xfrm>
            <a:prstGeom prst="line">
              <a:avLst/>
            </a:prstGeom>
            <a:grpFill/>
            <a:ln w="9525" cap="flat" cmpd="sng" algn="ctr">
              <a:solidFill>
                <a:schemeClr val="bg1">
                  <a:lumMod val="75000"/>
                </a:schemeClr>
              </a:solidFill>
              <a:prstDash val="solid"/>
              <a:round/>
              <a:headEnd type="none" w="med" len="med"/>
              <a:tailEnd type="none" w="med" len="med"/>
            </a:ln>
            <a:effectLst/>
          </p:spPr>
        </p:cxnSp>
        <p:sp>
          <p:nvSpPr>
            <p:cNvPr id="17" name="Oval 16"/>
            <p:cNvSpPr/>
            <p:nvPr/>
          </p:nvSpPr>
          <p:spPr bwMode="auto">
            <a:xfrm>
              <a:off x="-920978" y="188001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8" name="Oval 17"/>
            <p:cNvSpPr/>
            <p:nvPr/>
          </p:nvSpPr>
          <p:spPr bwMode="auto">
            <a:xfrm>
              <a:off x="-565378" y="16752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9" name="Oval 18"/>
            <p:cNvSpPr/>
            <p:nvPr/>
          </p:nvSpPr>
          <p:spPr bwMode="auto">
            <a:xfrm>
              <a:off x="-527991" y="19038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0" name="Oval 19"/>
            <p:cNvSpPr/>
            <p:nvPr/>
          </p:nvSpPr>
          <p:spPr bwMode="auto">
            <a:xfrm>
              <a:off x="-560506" y="21324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1" name="Oval 20"/>
            <p:cNvSpPr/>
            <p:nvPr/>
          </p:nvSpPr>
          <p:spPr bwMode="auto">
            <a:xfrm>
              <a:off x="-216019" y="178650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2" name="Oval 21"/>
            <p:cNvSpPr/>
            <p:nvPr/>
          </p:nvSpPr>
          <p:spPr bwMode="auto">
            <a:xfrm>
              <a:off x="-189031" y="1926770"/>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3" name="Oval 22"/>
            <p:cNvSpPr/>
            <p:nvPr/>
          </p:nvSpPr>
          <p:spPr bwMode="auto">
            <a:xfrm>
              <a:off x="-235786" y="2082041"/>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6" name="Picture 5"/>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7" name="Picture 6"/>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8" name="Picture 7"/>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9" name="Picture 8"/>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10" name="Picture 9"/>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4" name="Straight Connector 23"/>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p:nvPr/>
        </p:nvCxnSpPr>
        <p:spPr bwMode="auto">
          <a:xfrm>
            <a:off x="248920" y="1840363"/>
            <a:ext cx="0" cy="678601"/>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9" name="Picture 28"/>
          <p:cNvPicPr>
            <a:picLocks noChangeAspect="1"/>
          </p:cNvPicPr>
          <p:nvPr/>
        </p:nvPicPr>
        <p:blipFill>
          <a:blip r:embed="rId9"/>
          <a:stretch>
            <a:fillRect/>
          </a:stretch>
        </p:blipFill>
        <p:spPr>
          <a:xfrm>
            <a:off x="999143" y="4249652"/>
            <a:ext cx="8680189" cy="1969698"/>
          </a:xfrm>
          <a:prstGeom prst="rect">
            <a:avLst/>
          </a:prstGeom>
        </p:spPr>
      </p:pic>
      <p:sp>
        <p:nvSpPr>
          <p:cNvPr id="30" name="TextBox 29"/>
          <p:cNvSpPr txBox="1"/>
          <p:nvPr/>
        </p:nvSpPr>
        <p:spPr>
          <a:xfrm>
            <a:off x="999143" y="1109845"/>
            <a:ext cx="8756649" cy="1023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bill of labour table include information about how much time is employed for the fabrication of each component and product</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bill of labour may also include the purchasing cost, the learning curve parameters, and more information which for simplicity have not been included in the basic model</a:t>
            </a:r>
          </a:p>
        </p:txBody>
      </p:sp>
      <p:sp>
        <p:nvSpPr>
          <p:cNvPr id="31" name="TextBox 30"/>
          <p:cNvSpPr txBox="1"/>
          <p:nvPr/>
        </p:nvSpPr>
        <p:spPr>
          <a:xfrm>
            <a:off x="2659106" y="2717963"/>
            <a:ext cx="239250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which work cell is used to fabricate or assemble or procure the code</a:t>
            </a:r>
          </a:p>
        </p:txBody>
      </p:sp>
      <p:cxnSp>
        <p:nvCxnSpPr>
          <p:cNvPr id="33" name="Elbow Connector 32"/>
          <p:cNvCxnSpPr>
            <a:stCxn id="31" idx="2"/>
            <a:endCxn id="36" idx="3"/>
          </p:cNvCxnSpPr>
          <p:nvPr/>
        </p:nvCxnSpPr>
        <p:spPr bwMode="auto">
          <a:xfrm rot="5400000">
            <a:off x="3497832" y="3791881"/>
            <a:ext cx="692782" cy="22274"/>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Box 33"/>
          <p:cNvSpPr txBox="1"/>
          <p:nvPr/>
        </p:nvSpPr>
        <p:spPr>
          <a:xfrm>
            <a:off x="5184774" y="2695095"/>
            <a:ext cx="286194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how much time it is needed for the setup and production and how many people are needed for such operations </a:t>
            </a:r>
          </a:p>
        </p:txBody>
      </p:sp>
      <p:sp>
        <p:nvSpPr>
          <p:cNvPr id="36" name="Isosceles Triangle 35"/>
          <p:cNvSpPr/>
          <p:nvPr/>
        </p:nvSpPr>
        <p:spPr bwMode="auto">
          <a:xfrm rot="10800000">
            <a:off x="3774666"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cxnSp>
        <p:nvCxnSpPr>
          <p:cNvPr id="40" name="Elbow Connector 39"/>
          <p:cNvCxnSpPr>
            <a:stCxn id="43" idx="2"/>
            <a:endCxn id="41" idx="3"/>
          </p:cNvCxnSpPr>
          <p:nvPr/>
        </p:nvCxnSpPr>
        <p:spPr bwMode="auto">
          <a:xfrm rot="5400000">
            <a:off x="1388383" y="3831072"/>
            <a:ext cx="446561" cy="190112"/>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Isosceles Triangle 40"/>
          <p:cNvSpPr/>
          <p:nvPr/>
        </p:nvSpPr>
        <p:spPr bwMode="auto">
          <a:xfrm rot="10800000">
            <a:off x="1458187"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43" name="TextBox 42"/>
          <p:cNvSpPr txBox="1"/>
          <p:nvPr/>
        </p:nvSpPr>
        <p:spPr>
          <a:xfrm>
            <a:off x="919157" y="2717963"/>
            <a:ext cx="157512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For each product or component, it is described the work needed</a:t>
            </a:r>
          </a:p>
        </p:txBody>
      </p:sp>
      <p:cxnSp>
        <p:nvCxnSpPr>
          <p:cNvPr id="46" name="Elbow Connector 45"/>
          <p:cNvCxnSpPr>
            <a:stCxn id="34" idx="2"/>
            <a:endCxn id="47" idx="3"/>
          </p:cNvCxnSpPr>
          <p:nvPr/>
        </p:nvCxnSpPr>
        <p:spPr bwMode="auto">
          <a:xfrm rot="16200000" flipH="1">
            <a:off x="6577202" y="3718524"/>
            <a:ext cx="469429" cy="392339"/>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Isosceles Triangle 46"/>
          <p:cNvSpPr/>
          <p:nvPr/>
        </p:nvSpPr>
        <p:spPr bwMode="auto">
          <a:xfrm rot="10800000">
            <a:off x="6949666"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cxnSp>
        <p:nvCxnSpPr>
          <p:cNvPr id="48" name="Elbow Connector 47"/>
          <p:cNvCxnSpPr>
            <a:stCxn id="34" idx="2"/>
            <a:endCxn id="49" idx="3"/>
          </p:cNvCxnSpPr>
          <p:nvPr/>
        </p:nvCxnSpPr>
        <p:spPr bwMode="auto">
          <a:xfrm rot="16200000" flipH="1">
            <a:off x="7097901" y="3197825"/>
            <a:ext cx="469429" cy="1433737"/>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Isosceles Triangle 48"/>
          <p:cNvSpPr/>
          <p:nvPr/>
        </p:nvSpPr>
        <p:spPr bwMode="auto">
          <a:xfrm rot="10800000">
            <a:off x="7991064"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cxnSp>
        <p:nvCxnSpPr>
          <p:cNvPr id="52" name="Elbow Connector 51"/>
          <p:cNvCxnSpPr>
            <a:stCxn id="34" idx="2"/>
            <a:endCxn id="53" idx="3"/>
          </p:cNvCxnSpPr>
          <p:nvPr/>
        </p:nvCxnSpPr>
        <p:spPr bwMode="auto">
          <a:xfrm rot="5400000">
            <a:off x="6085123" y="3618784"/>
            <a:ext cx="469429" cy="591820"/>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Isosceles Triangle 52"/>
          <p:cNvSpPr/>
          <p:nvPr/>
        </p:nvSpPr>
        <p:spPr bwMode="auto">
          <a:xfrm rot="10800000">
            <a:off x="5965507"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cxnSp>
        <p:nvCxnSpPr>
          <p:cNvPr id="54" name="Elbow Connector 53"/>
          <p:cNvCxnSpPr>
            <a:stCxn id="34" idx="2"/>
            <a:endCxn id="55" idx="3"/>
          </p:cNvCxnSpPr>
          <p:nvPr/>
        </p:nvCxnSpPr>
        <p:spPr bwMode="auto">
          <a:xfrm rot="5400000">
            <a:off x="5531743" y="3065404"/>
            <a:ext cx="469429" cy="1698580"/>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Isosceles Triangle 54"/>
          <p:cNvSpPr/>
          <p:nvPr/>
        </p:nvSpPr>
        <p:spPr bwMode="auto">
          <a:xfrm rot="10800000">
            <a:off x="4858747"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84" name="TextBox 83"/>
          <p:cNvSpPr txBox="1"/>
          <p:nvPr/>
        </p:nvSpPr>
        <p:spPr>
          <a:xfrm>
            <a:off x="8179880" y="2695095"/>
            <a:ext cx="156541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which is the procurement lead time</a:t>
            </a:r>
          </a:p>
        </p:txBody>
      </p:sp>
      <p:cxnSp>
        <p:nvCxnSpPr>
          <p:cNvPr id="85" name="Elbow Connector 84"/>
          <p:cNvCxnSpPr>
            <a:stCxn id="84" idx="2"/>
            <a:endCxn id="86" idx="3"/>
          </p:cNvCxnSpPr>
          <p:nvPr/>
        </p:nvCxnSpPr>
        <p:spPr bwMode="auto">
          <a:xfrm rot="16200000" flipH="1">
            <a:off x="8688181" y="3708167"/>
            <a:ext cx="715650" cy="166833"/>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Isosceles Triangle 85"/>
          <p:cNvSpPr/>
          <p:nvPr/>
        </p:nvSpPr>
        <p:spPr bwMode="auto">
          <a:xfrm rot="10800000">
            <a:off x="9071003" y="4149409"/>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Tree>
    <p:extLst>
      <p:ext uri="{BB962C8B-B14F-4D97-AF65-F5344CB8AC3E}">
        <p14:creationId xmlns:p14="http://schemas.microsoft.com/office/powerpoint/2010/main" val="1574683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yearly openings schedule and the available workforce is included in a file that gives the key inputs for each production day</a:t>
            </a:r>
          </a:p>
        </p:txBody>
      </p:sp>
      <p:pic>
        <p:nvPicPr>
          <p:cNvPr id="4" name="Picture 3"/>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grpSp>
        <p:nvGrpSpPr>
          <p:cNvPr id="5" name="Group 4"/>
          <p:cNvGrpSpPr/>
          <p:nvPr/>
        </p:nvGrpSpPr>
        <p:grpSpPr>
          <a:xfrm>
            <a:off x="295994" y="1506906"/>
            <a:ext cx="343149" cy="228935"/>
            <a:chOff x="-920978" y="1675227"/>
            <a:chExt cx="825457" cy="550710"/>
          </a:xfrm>
          <a:solidFill>
            <a:schemeClr val="bg1">
              <a:lumMod val="75000"/>
            </a:schemeClr>
          </a:solidFill>
        </p:grpSpPr>
        <p:cxnSp>
          <p:nvCxnSpPr>
            <p:cNvPr id="11" name="Straight Connector 10"/>
            <p:cNvCxnSpPr/>
            <p:nvPr/>
          </p:nvCxnSpPr>
          <p:spPr bwMode="auto">
            <a:xfrm flipV="1">
              <a:off x="-868363" y="1719263"/>
              <a:ext cx="355600" cy="209550"/>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2" name="Straight Connector 11"/>
            <p:cNvCxnSpPr/>
            <p:nvPr/>
          </p:nvCxnSpPr>
          <p:spPr bwMode="auto">
            <a:xfrm>
              <a:off x="-873125" y="1928814"/>
              <a:ext cx="358775" cy="250824"/>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3" name="Straight Connector 12"/>
            <p:cNvCxnSpPr/>
            <p:nvPr/>
          </p:nvCxnSpPr>
          <p:spPr bwMode="auto">
            <a:xfrm>
              <a:off x="-873125" y="1930400"/>
              <a:ext cx="388937" cy="2063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4" name="Straight Connector 13"/>
            <p:cNvCxnSpPr/>
            <p:nvPr/>
          </p:nvCxnSpPr>
          <p:spPr bwMode="auto">
            <a:xfrm>
              <a:off x="-477838" y="1951038"/>
              <a:ext cx="288925" cy="182562"/>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5" name="Straight Connector 14"/>
            <p:cNvCxnSpPr/>
            <p:nvPr/>
          </p:nvCxnSpPr>
          <p:spPr bwMode="auto">
            <a:xfrm>
              <a:off x="-482600" y="1946275"/>
              <a:ext cx="341312" cy="2698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6" name="Straight Connector 15"/>
            <p:cNvCxnSpPr/>
            <p:nvPr/>
          </p:nvCxnSpPr>
          <p:spPr bwMode="auto">
            <a:xfrm flipV="1">
              <a:off x="-482600" y="1830388"/>
              <a:ext cx="312737" cy="119062"/>
            </a:xfrm>
            <a:prstGeom prst="line">
              <a:avLst/>
            </a:prstGeom>
            <a:grpFill/>
            <a:ln w="9525" cap="flat" cmpd="sng" algn="ctr">
              <a:solidFill>
                <a:schemeClr val="bg1">
                  <a:lumMod val="75000"/>
                </a:schemeClr>
              </a:solidFill>
              <a:prstDash val="solid"/>
              <a:round/>
              <a:headEnd type="none" w="med" len="med"/>
              <a:tailEnd type="none" w="med" len="med"/>
            </a:ln>
            <a:effectLst/>
          </p:spPr>
        </p:cxnSp>
        <p:sp>
          <p:nvSpPr>
            <p:cNvPr id="17" name="Oval 16"/>
            <p:cNvSpPr/>
            <p:nvPr/>
          </p:nvSpPr>
          <p:spPr bwMode="auto">
            <a:xfrm>
              <a:off x="-920978" y="188001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8" name="Oval 17"/>
            <p:cNvSpPr/>
            <p:nvPr/>
          </p:nvSpPr>
          <p:spPr bwMode="auto">
            <a:xfrm>
              <a:off x="-565378" y="16752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9" name="Oval 18"/>
            <p:cNvSpPr/>
            <p:nvPr/>
          </p:nvSpPr>
          <p:spPr bwMode="auto">
            <a:xfrm>
              <a:off x="-527991" y="19038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0" name="Oval 19"/>
            <p:cNvSpPr/>
            <p:nvPr/>
          </p:nvSpPr>
          <p:spPr bwMode="auto">
            <a:xfrm>
              <a:off x="-560506" y="21324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1" name="Oval 20"/>
            <p:cNvSpPr/>
            <p:nvPr/>
          </p:nvSpPr>
          <p:spPr bwMode="auto">
            <a:xfrm>
              <a:off x="-216019" y="178650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2" name="Oval 21"/>
            <p:cNvSpPr/>
            <p:nvPr/>
          </p:nvSpPr>
          <p:spPr bwMode="auto">
            <a:xfrm>
              <a:off x="-189031" y="1926770"/>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23" name="Oval 22"/>
            <p:cNvSpPr/>
            <p:nvPr/>
          </p:nvSpPr>
          <p:spPr bwMode="auto">
            <a:xfrm>
              <a:off x="-235786" y="2082041"/>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6" name="Picture 5"/>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7" name="Picture 6"/>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8" name="Picture 7"/>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9" name="Picture 8"/>
          <p:cNvPicPr>
            <a:picLocks noChangeAspect="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10" name="Picture 9"/>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4" name="Straight Connector 23"/>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p:nvPr/>
        </p:nvCxnSpPr>
        <p:spPr bwMode="auto">
          <a:xfrm>
            <a:off x="248920" y="2577673"/>
            <a:ext cx="0" cy="678601"/>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p:cNvSpPr txBox="1"/>
          <p:nvPr/>
        </p:nvSpPr>
        <p:spPr>
          <a:xfrm>
            <a:off x="999143" y="1109845"/>
            <a:ext cx="452734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number of available blue collars to operate the machines in the factory is limited and can be changed during the simulation period</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Also the duration of a shift and the number of open shifts can be changed during the simulation time</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Multiple shifts can be designed and each machine can have a different shift schedule, (e.g. for some machine a day can have two open shifts, and another machine can have only one open shift) – the mapping of shifts to machines is reported in a separated sheet of the input excel</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Vacation days are simply identified setting to zero the number of open shifts in the related date</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All parameters can be changed during the simulation time and are constant only during a single day</a:t>
            </a:r>
          </a:p>
        </p:txBody>
      </p:sp>
      <p:pic>
        <p:nvPicPr>
          <p:cNvPr id="28" name="Picture 27"/>
          <p:cNvPicPr>
            <a:picLocks noChangeAspect="1"/>
          </p:cNvPicPr>
          <p:nvPr/>
        </p:nvPicPr>
        <p:blipFill>
          <a:blip r:embed="rId9"/>
          <a:stretch>
            <a:fillRect/>
          </a:stretch>
        </p:blipFill>
        <p:spPr>
          <a:xfrm>
            <a:off x="6324291" y="2909371"/>
            <a:ext cx="3128000" cy="3520210"/>
          </a:xfrm>
          <a:prstGeom prst="rect">
            <a:avLst/>
          </a:prstGeom>
        </p:spPr>
      </p:pic>
      <p:sp>
        <p:nvSpPr>
          <p:cNvPr id="60" name="TextBox 59"/>
          <p:cNvSpPr txBox="1"/>
          <p:nvPr/>
        </p:nvSpPr>
        <p:spPr>
          <a:xfrm>
            <a:off x="5893556" y="1785588"/>
            <a:ext cx="186635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Number of blue collars available per shift for each date</a:t>
            </a:r>
          </a:p>
        </p:txBody>
      </p:sp>
      <p:cxnSp>
        <p:nvCxnSpPr>
          <p:cNvPr id="61" name="Elbow Connector 60"/>
          <p:cNvCxnSpPr>
            <a:stCxn id="60" idx="2"/>
            <a:endCxn id="62" idx="3"/>
          </p:cNvCxnSpPr>
          <p:nvPr/>
        </p:nvCxnSpPr>
        <p:spPr bwMode="auto">
          <a:xfrm rot="16200000" flipH="1">
            <a:off x="7022614" y="2328373"/>
            <a:ext cx="265483" cy="657239"/>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Isosceles Triangle 61"/>
          <p:cNvSpPr/>
          <p:nvPr/>
        </p:nvSpPr>
        <p:spPr bwMode="auto">
          <a:xfrm rot="10800000">
            <a:off x="7425555" y="2789735"/>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4" name="TextBox 63"/>
          <p:cNvSpPr txBox="1"/>
          <p:nvPr/>
        </p:nvSpPr>
        <p:spPr>
          <a:xfrm>
            <a:off x="7288827" y="1173508"/>
            <a:ext cx="134155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Open hours for each shift</a:t>
            </a:r>
          </a:p>
        </p:txBody>
      </p:sp>
      <p:cxnSp>
        <p:nvCxnSpPr>
          <p:cNvPr id="65" name="Elbow Connector 64"/>
          <p:cNvCxnSpPr>
            <a:stCxn id="64" idx="2"/>
            <a:endCxn id="66" idx="3"/>
          </p:cNvCxnSpPr>
          <p:nvPr/>
        </p:nvCxnSpPr>
        <p:spPr bwMode="auto">
          <a:xfrm rot="16200000" flipH="1">
            <a:off x="7633255" y="1992298"/>
            <a:ext cx="1123784" cy="471089"/>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Isosceles Triangle 65"/>
          <p:cNvSpPr/>
          <p:nvPr/>
        </p:nvSpPr>
        <p:spPr bwMode="auto">
          <a:xfrm rot="10800000">
            <a:off x="8372272" y="2789735"/>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70" name="TextBox 69"/>
          <p:cNvSpPr txBox="1"/>
          <p:nvPr/>
        </p:nvSpPr>
        <p:spPr>
          <a:xfrm>
            <a:off x="8489112" y="1662937"/>
            <a:ext cx="134155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Number of open shifts in the day</a:t>
            </a:r>
          </a:p>
        </p:txBody>
      </p:sp>
      <p:cxnSp>
        <p:nvCxnSpPr>
          <p:cNvPr id="71" name="Elbow Connector 70"/>
          <p:cNvCxnSpPr>
            <a:stCxn id="70" idx="2"/>
            <a:endCxn id="72" idx="3"/>
          </p:cNvCxnSpPr>
          <p:nvPr/>
        </p:nvCxnSpPr>
        <p:spPr bwMode="auto">
          <a:xfrm rot="5400000">
            <a:off x="8926579" y="2576490"/>
            <a:ext cx="408199" cy="58421"/>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Isosceles Triangle 71"/>
          <p:cNvSpPr/>
          <p:nvPr/>
        </p:nvSpPr>
        <p:spPr bwMode="auto">
          <a:xfrm rot="10800000">
            <a:off x="9043047" y="2809800"/>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Tree>
    <p:extLst>
      <p:ext uri="{BB962C8B-B14F-4D97-AF65-F5344CB8AC3E}">
        <p14:creationId xmlns:p14="http://schemas.microsoft.com/office/powerpoint/2010/main" val="4002613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Additional information on products, machines, and other can be set in separated sheets that are connected to the BOM and BOL tables</a:t>
            </a:r>
          </a:p>
        </p:txBody>
      </p:sp>
      <p:pic>
        <p:nvPicPr>
          <p:cNvPr id="4" name="Picture 3"/>
          <p:cNvPicPr>
            <a:picLocks noChangeAspect="1"/>
          </p:cNvPicPr>
          <p:nvPr/>
        </p:nvPicPr>
        <p:blipFill>
          <a:blip r:embed="rId3"/>
          <a:stretch>
            <a:fillRect/>
          </a:stretch>
        </p:blipFill>
        <p:spPr>
          <a:xfrm>
            <a:off x="2578546" y="2705950"/>
            <a:ext cx="7009200" cy="950400"/>
          </a:xfrm>
          <a:prstGeom prst="rect">
            <a:avLst/>
          </a:prstGeom>
        </p:spPr>
      </p:pic>
      <p:pic>
        <p:nvPicPr>
          <p:cNvPr id="5" name="Picture 4"/>
          <p:cNvPicPr>
            <a:picLocks noChangeAspect="1"/>
          </p:cNvPicPr>
          <p:nvPr/>
        </p:nvPicPr>
        <p:blipFill>
          <a:blip r:embed="rId4"/>
          <a:stretch>
            <a:fillRect/>
          </a:stretch>
        </p:blipFill>
        <p:spPr>
          <a:xfrm>
            <a:off x="2578546" y="3960699"/>
            <a:ext cx="5907600" cy="2203200"/>
          </a:xfrm>
          <a:prstGeom prst="rect">
            <a:avLst/>
          </a:prstGeom>
        </p:spPr>
      </p:pic>
      <p:pic>
        <p:nvPicPr>
          <p:cNvPr id="6" name="Picture 5"/>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pic>
        <p:nvPicPr>
          <p:cNvPr id="21" name="Picture 20"/>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22" name="Picture 21"/>
          <p:cNvPicPr>
            <a:picLocks noChangeAspect="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23" name="Picture 22"/>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24" name="Picture 23"/>
          <p:cNvPicPr>
            <a:picLocks noChangeAspect="1"/>
          </p:cNvPicPr>
          <p:nvPr/>
        </p:nvPicPr>
        <p:blipFill>
          <a:blip r:embed="rId9"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25" name="Picture 24"/>
          <p:cNvPicPr>
            <a:picLocks noChangeAspect="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6" name="Straight Connector 25"/>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Box 27"/>
          <p:cNvSpPr txBox="1"/>
          <p:nvPr/>
        </p:nvSpPr>
        <p:spPr>
          <a:xfrm>
            <a:off x="919157" y="2825154"/>
            <a:ext cx="144812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Additional information on work cells</a:t>
            </a:r>
          </a:p>
        </p:txBody>
      </p:sp>
      <p:sp>
        <p:nvSpPr>
          <p:cNvPr id="29" name="TextBox 28"/>
          <p:cNvSpPr txBox="1"/>
          <p:nvPr/>
        </p:nvSpPr>
        <p:spPr>
          <a:xfrm>
            <a:off x="919157" y="4058536"/>
            <a:ext cx="144812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Additional information products and components</a:t>
            </a:r>
          </a:p>
        </p:txBody>
      </p:sp>
      <p:sp>
        <p:nvSpPr>
          <p:cNvPr id="30" name="TextBox 29"/>
          <p:cNvSpPr txBox="1"/>
          <p:nvPr/>
        </p:nvSpPr>
        <p:spPr>
          <a:xfrm>
            <a:off x="7661779" y="1402169"/>
            <a:ext cx="192596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To which shift schedule the cell is associated</a:t>
            </a:r>
          </a:p>
        </p:txBody>
      </p:sp>
      <p:cxnSp>
        <p:nvCxnSpPr>
          <p:cNvPr id="31" name="Elbow Connector 30"/>
          <p:cNvCxnSpPr>
            <a:stCxn id="30" idx="2"/>
            <a:endCxn id="32" idx="3"/>
          </p:cNvCxnSpPr>
          <p:nvPr/>
        </p:nvCxnSpPr>
        <p:spPr bwMode="auto">
          <a:xfrm rot="16200000" flipH="1">
            <a:off x="8546804" y="2218792"/>
            <a:ext cx="470063" cy="314144"/>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Isosceles Triangle 31"/>
          <p:cNvSpPr/>
          <p:nvPr/>
        </p:nvSpPr>
        <p:spPr bwMode="auto">
          <a:xfrm rot="10800000">
            <a:off x="8880487" y="2610896"/>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9" name="TextBox 38"/>
          <p:cNvSpPr txBox="1"/>
          <p:nvPr/>
        </p:nvSpPr>
        <p:spPr>
          <a:xfrm>
            <a:off x="4766532" y="1402170"/>
            <a:ext cx="192596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How many equal cells are installed in parallel in the factory</a:t>
            </a:r>
          </a:p>
        </p:txBody>
      </p:sp>
      <p:cxnSp>
        <p:nvCxnSpPr>
          <p:cNvPr id="40" name="Elbow Connector 39"/>
          <p:cNvCxnSpPr>
            <a:stCxn id="39" idx="2"/>
            <a:endCxn id="41" idx="3"/>
          </p:cNvCxnSpPr>
          <p:nvPr/>
        </p:nvCxnSpPr>
        <p:spPr bwMode="auto">
          <a:xfrm rot="16200000" flipH="1">
            <a:off x="6459042" y="1411307"/>
            <a:ext cx="470063" cy="1929115"/>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Isosceles Triangle 40"/>
          <p:cNvSpPr/>
          <p:nvPr/>
        </p:nvSpPr>
        <p:spPr bwMode="auto">
          <a:xfrm rot="10800000">
            <a:off x="7600211" y="261089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nvGrpSpPr>
          <p:cNvPr id="43" name="Group 42"/>
          <p:cNvGrpSpPr/>
          <p:nvPr/>
        </p:nvGrpSpPr>
        <p:grpSpPr>
          <a:xfrm>
            <a:off x="295994" y="1506906"/>
            <a:ext cx="343149" cy="228935"/>
            <a:chOff x="-920978" y="1675227"/>
            <a:chExt cx="825457" cy="550710"/>
          </a:xfrm>
        </p:grpSpPr>
        <p:cxnSp>
          <p:nvCxnSpPr>
            <p:cNvPr id="44" name="Straight Connector 43"/>
            <p:cNvCxnSpPr/>
            <p:nvPr/>
          </p:nvCxnSpPr>
          <p:spPr bwMode="auto">
            <a:xfrm flipV="1">
              <a:off x="-868363" y="1719263"/>
              <a:ext cx="355600" cy="209550"/>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5" name="Straight Connector 44"/>
            <p:cNvCxnSpPr/>
            <p:nvPr/>
          </p:nvCxnSpPr>
          <p:spPr bwMode="auto">
            <a:xfrm>
              <a:off x="-873125" y="1928814"/>
              <a:ext cx="358775" cy="250824"/>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6" name="Straight Connector 45"/>
            <p:cNvCxnSpPr/>
            <p:nvPr/>
          </p:nvCxnSpPr>
          <p:spPr bwMode="auto">
            <a:xfrm>
              <a:off x="-873125" y="1930400"/>
              <a:ext cx="388937" cy="2063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7" name="Straight Connector 46"/>
            <p:cNvCxnSpPr/>
            <p:nvPr/>
          </p:nvCxnSpPr>
          <p:spPr bwMode="auto">
            <a:xfrm>
              <a:off x="-477838" y="1951038"/>
              <a:ext cx="288925" cy="182562"/>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8" name="Straight Connector 47"/>
            <p:cNvCxnSpPr/>
            <p:nvPr/>
          </p:nvCxnSpPr>
          <p:spPr bwMode="auto">
            <a:xfrm>
              <a:off x="-482600" y="1946275"/>
              <a:ext cx="341312" cy="2698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9" name="Straight Connector 48"/>
            <p:cNvCxnSpPr/>
            <p:nvPr/>
          </p:nvCxnSpPr>
          <p:spPr bwMode="auto">
            <a:xfrm flipV="1">
              <a:off x="-482600" y="1830388"/>
              <a:ext cx="312737" cy="119062"/>
            </a:xfrm>
            <a:prstGeom prst="line">
              <a:avLst/>
            </a:prstGeom>
            <a:solidFill>
              <a:schemeClr val="bg1"/>
            </a:solidFill>
            <a:ln w="9525" cap="flat" cmpd="sng" algn="ctr">
              <a:solidFill>
                <a:srgbClr val="66757D"/>
              </a:solidFill>
              <a:prstDash val="solid"/>
              <a:round/>
              <a:headEnd type="none" w="med" len="med"/>
              <a:tailEnd type="none" w="med" len="med"/>
            </a:ln>
            <a:effectLst/>
          </p:spPr>
        </p:cxnSp>
        <p:sp>
          <p:nvSpPr>
            <p:cNvPr id="50" name="Oval 49"/>
            <p:cNvSpPr/>
            <p:nvPr/>
          </p:nvSpPr>
          <p:spPr bwMode="auto">
            <a:xfrm>
              <a:off x="-920978" y="188001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1" name="Oval 50"/>
            <p:cNvSpPr/>
            <p:nvPr/>
          </p:nvSpPr>
          <p:spPr bwMode="auto">
            <a:xfrm>
              <a:off x="-565378" y="16752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2" name="Oval 51"/>
            <p:cNvSpPr/>
            <p:nvPr/>
          </p:nvSpPr>
          <p:spPr bwMode="auto">
            <a:xfrm>
              <a:off x="-527991" y="19038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3" name="Oval 52"/>
            <p:cNvSpPr/>
            <p:nvPr/>
          </p:nvSpPr>
          <p:spPr bwMode="auto">
            <a:xfrm>
              <a:off x="-560506" y="21324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4" name="Oval 53"/>
            <p:cNvSpPr/>
            <p:nvPr/>
          </p:nvSpPr>
          <p:spPr bwMode="auto">
            <a:xfrm>
              <a:off x="-216019" y="178650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5" name="Oval 54"/>
            <p:cNvSpPr/>
            <p:nvPr/>
          </p:nvSpPr>
          <p:spPr bwMode="auto">
            <a:xfrm>
              <a:off x="-189031" y="1926770"/>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6" name="Oval 55"/>
            <p:cNvSpPr/>
            <p:nvPr/>
          </p:nvSpPr>
          <p:spPr bwMode="auto">
            <a:xfrm>
              <a:off x="-235786" y="2082041"/>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cxnSp>
        <p:nvCxnSpPr>
          <p:cNvPr id="57" name="Straight Connector 56"/>
          <p:cNvCxnSpPr/>
          <p:nvPr/>
        </p:nvCxnSpPr>
        <p:spPr bwMode="auto">
          <a:xfrm>
            <a:off x="248920" y="1417290"/>
            <a:ext cx="0" cy="39445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Straight Connector 57"/>
          <p:cNvCxnSpPr/>
          <p:nvPr/>
        </p:nvCxnSpPr>
        <p:spPr bwMode="auto">
          <a:xfrm>
            <a:off x="248920" y="2150992"/>
            <a:ext cx="0" cy="39445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304342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At time zero, when the simulation starts, the warehouse may already store some components that shall not be produced again</a:t>
            </a:r>
          </a:p>
        </p:txBody>
      </p:sp>
      <p:pic>
        <p:nvPicPr>
          <p:cNvPr id="3" name="Picture 2"/>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grpSp>
        <p:nvGrpSpPr>
          <p:cNvPr id="4" name="Group 3"/>
          <p:cNvGrpSpPr/>
          <p:nvPr/>
        </p:nvGrpSpPr>
        <p:grpSpPr>
          <a:xfrm>
            <a:off x="295994" y="1506906"/>
            <a:ext cx="343149" cy="228935"/>
            <a:chOff x="-920978" y="1675227"/>
            <a:chExt cx="825457" cy="550710"/>
          </a:xfrm>
          <a:solidFill>
            <a:schemeClr val="bg1">
              <a:lumMod val="75000"/>
            </a:schemeClr>
          </a:solidFill>
        </p:grpSpPr>
        <p:cxnSp>
          <p:nvCxnSpPr>
            <p:cNvPr id="5" name="Straight Connector 4"/>
            <p:cNvCxnSpPr/>
            <p:nvPr/>
          </p:nvCxnSpPr>
          <p:spPr bwMode="auto">
            <a:xfrm flipV="1">
              <a:off x="-868363" y="1719263"/>
              <a:ext cx="355600" cy="209550"/>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6" name="Straight Connector 5"/>
            <p:cNvCxnSpPr/>
            <p:nvPr/>
          </p:nvCxnSpPr>
          <p:spPr bwMode="auto">
            <a:xfrm>
              <a:off x="-873125" y="1928814"/>
              <a:ext cx="358775" cy="250824"/>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7" name="Straight Connector 6"/>
            <p:cNvCxnSpPr/>
            <p:nvPr/>
          </p:nvCxnSpPr>
          <p:spPr bwMode="auto">
            <a:xfrm>
              <a:off x="-873125" y="1930400"/>
              <a:ext cx="388937" cy="2063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8" name="Straight Connector 7"/>
            <p:cNvCxnSpPr/>
            <p:nvPr/>
          </p:nvCxnSpPr>
          <p:spPr bwMode="auto">
            <a:xfrm>
              <a:off x="-477838" y="1951038"/>
              <a:ext cx="288925" cy="182562"/>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9" name="Straight Connector 8"/>
            <p:cNvCxnSpPr/>
            <p:nvPr/>
          </p:nvCxnSpPr>
          <p:spPr bwMode="auto">
            <a:xfrm>
              <a:off x="-482600" y="1946275"/>
              <a:ext cx="341312" cy="2698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0" name="Straight Connector 9"/>
            <p:cNvCxnSpPr/>
            <p:nvPr/>
          </p:nvCxnSpPr>
          <p:spPr bwMode="auto">
            <a:xfrm flipV="1">
              <a:off x="-482600" y="1830388"/>
              <a:ext cx="312737" cy="119062"/>
            </a:xfrm>
            <a:prstGeom prst="line">
              <a:avLst/>
            </a:prstGeom>
            <a:grpFill/>
            <a:ln w="9525" cap="flat" cmpd="sng" algn="ctr">
              <a:solidFill>
                <a:schemeClr val="bg1">
                  <a:lumMod val="75000"/>
                </a:schemeClr>
              </a:solidFill>
              <a:prstDash val="solid"/>
              <a:round/>
              <a:headEnd type="none" w="med" len="med"/>
              <a:tailEnd type="none" w="med" len="med"/>
            </a:ln>
            <a:effectLst/>
          </p:spPr>
        </p:cxnSp>
        <p:sp>
          <p:nvSpPr>
            <p:cNvPr id="11" name="Oval 10"/>
            <p:cNvSpPr/>
            <p:nvPr/>
          </p:nvSpPr>
          <p:spPr bwMode="auto">
            <a:xfrm>
              <a:off x="-920978" y="188001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2" name="Oval 11"/>
            <p:cNvSpPr/>
            <p:nvPr/>
          </p:nvSpPr>
          <p:spPr bwMode="auto">
            <a:xfrm>
              <a:off x="-565378" y="16752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3" name="Oval 12"/>
            <p:cNvSpPr/>
            <p:nvPr/>
          </p:nvSpPr>
          <p:spPr bwMode="auto">
            <a:xfrm>
              <a:off x="-527991" y="19038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4" name="Oval 13"/>
            <p:cNvSpPr/>
            <p:nvPr/>
          </p:nvSpPr>
          <p:spPr bwMode="auto">
            <a:xfrm>
              <a:off x="-560506" y="21324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5" name="Oval 14"/>
            <p:cNvSpPr/>
            <p:nvPr/>
          </p:nvSpPr>
          <p:spPr bwMode="auto">
            <a:xfrm>
              <a:off x="-216019" y="178650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6" name="Oval 15"/>
            <p:cNvSpPr/>
            <p:nvPr/>
          </p:nvSpPr>
          <p:spPr bwMode="auto">
            <a:xfrm>
              <a:off x="-189031" y="1926770"/>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7" name="Oval 16"/>
            <p:cNvSpPr/>
            <p:nvPr/>
          </p:nvSpPr>
          <p:spPr bwMode="auto">
            <a:xfrm>
              <a:off x="-235786" y="2082041"/>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18" name="Picture 17"/>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19" name="Picture 18"/>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20" name="Picture 19"/>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21" name="Picture 20"/>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22" name="Picture 21"/>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3" name="Straight Connector 22"/>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248920" y="3260751"/>
            <a:ext cx="0" cy="40629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p:cNvSpPr txBox="1"/>
          <p:nvPr/>
        </p:nvSpPr>
        <p:spPr>
          <a:xfrm>
            <a:off x="999143" y="1109845"/>
            <a:ext cx="84531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To specify the number of components available at the start up of the simulation there is a table that includes the name of the component and the quantity in stock</a:t>
            </a:r>
          </a:p>
        </p:txBody>
      </p:sp>
      <p:pic>
        <p:nvPicPr>
          <p:cNvPr id="27" name="Picture 26"/>
          <p:cNvPicPr>
            <a:picLocks noChangeAspect="1"/>
          </p:cNvPicPr>
          <p:nvPr/>
        </p:nvPicPr>
        <p:blipFill>
          <a:blip r:embed="rId9"/>
          <a:stretch>
            <a:fillRect/>
          </a:stretch>
        </p:blipFill>
        <p:spPr>
          <a:xfrm>
            <a:off x="3785260" y="3672834"/>
            <a:ext cx="2324698" cy="2162980"/>
          </a:xfrm>
          <a:prstGeom prst="rect">
            <a:avLst/>
          </a:prstGeom>
        </p:spPr>
      </p:pic>
      <p:sp>
        <p:nvSpPr>
          <p:cNvPr id="28" name="TextBox 27"/>
          <p:cNvSpPr txBox="1"/>
          <p:nvPr/>
        </p:nvSpPr>
        <p:spPr>
          <a:xfrm>
            <a:off x="5699125" y="2336157"/>
            <a:ext cx="251523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How many items for each specific code are available in warehouse</a:t>
            </a:r>
          </a:p>
        </p:txBody>
      </p:sp>
      <p:cxnSp>
        <p:nvCxnSpPr>
          <p:cNvPr id="29" name="Elbow Connector 28"/>
          <p:cNvCxnSpPr>
            <a:stCxn id="28" idx="2"/>
            <a:endCxn id="30" idx="3"/>
          </p:cNvCxnSpPr>
          <p:nvPr/>
        </p:nvCxnSpPr>
        <p:spPr bwMode="auto">
          <a:xfrm rot="5400000">
            <a:off x="5997169" y="2585309"/>
            <a:ext cx="470063" cy="1449087"/>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Isosceles Triangle 29"/>
          <p:cNvSpPr/>
          <p:nvPr/>
        </p:nvSpPr>
        <p:spPr bwMode="auto">
          <a:xfrm rot="10800000">
            <a:off x="5449236" y="3544884"/>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31" name="TextBox 30"/>
          <p:cNvSpPr txBox="1"/>
          <p:nvPr/>
        </p:nvSpPr>
        <p:spPr>
          <a:xfrm>
            <a:off x="1711147" y="2336157"/>
            <a:ext cx="285813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Which code is already available in the warehouse at the beginning of the simulation</a:t>
            </a:r>
          </a:p>
        </p:txBody>
      </p:sp>
      <p:cxnSp>
        <p:nvCxnSpPr>
          <p:cNvPr id="32" name="Elbow Connector 31"/>
          <p:cNvCxnSpPr>
            <a:stCxn id="31" idx="2"/>
            <a:endCxn id="33" idx="3"/>
          </p:cNvCxnSpPr>
          <p:nvPr/>
        </p:nvCxnSpPr>
        <p:spPr bwMode="auto">
          <a:xfrm rot="16200000" flipH="1">
            <a:off x="3513391" y="2701643"/>
            <a:ext cx="470063" cy="1216418"/>
          </a:xfrm>
          <a:prstGeom prst="bentConnector3">
            <a:avLst>
              <a:gd name="adj1" fmla="val 50000"/>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Isosceles Triangle 32"/>
          <p:cNvSpPr/>
          <p:nvPr/>
        </p:nvSpPr>
        <p:spPr bwMode="auto">
          <a:xfrm rot="10800000">
            <a:off x="4298211" y="3544884"/>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Tree>
    <p:extLst>
      <p:ext uri="{BB962C8B-B14F-4D97-AF65-F5344CB8AC3E}">
        <p14:creationId xmlns:p14="http://schemas.microsoft.com/office/powerpoint/2010/main" val="111914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production schedule tells when the production shall start for each order – the delivery date is generated through the simulation</a:t>
            </a:r>
          </a:p>
        </p:txBody>
      </p:sp>
      <p:pic>
        <p:nvPicPr>
          <p:cNvPr id="3" name="Picture 2"/>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grpSp>
        <p:nvGrpSpPr>
          <p:cNvPr id="4" name="Group 3"/>
          <p:cNvGrpSpPr/>
          <p:nvPr/>
        </p:nvGrpSpPr>
        <p:grpSpPr>
          <a:xfrm>
            <a:off x="295994" y="1506906"/>
            <a:ext cx="343149" cy="228935"/>
            <a:chOff x="-920978" y="1675227"/>
            <a:chExt cx="825457" cy="550710"/>
          </a:xfrm>
          <a:solidFill>
            <a:schemeClr val="bg1">
              <a:lumMod val="75000"/>
            </a:schemeClr>
          </a:solidFill>
        </p:grpSpPr>
        <p:cxnSp>
          <p:nvCxnSpPr>
            <p:cNvPr id="5" name="Straight Connector 4"/>
            <p:cNvCxnSpPr/>
            <p:nvPr/>
          </p:nvCxnSpPr>
          <p:spPr bwMode="auto">
            <a:xfrm flipV="1">
              <a:off x="-868363" y="1719263"/>
              <a:ext cx="355600" cy="209550"/>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6" name="Straight Connector 5"/>
            <p:cNvCxnSpPr/>
            <p:nvPr/>
          </p:nvCxnSpPr>
          <p:spPr bwMode="auto">
            <a:xfrm>
              <a:off x="-873125" y="1928814"/>
              <a:ext cx="358775" cy="250824"/>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7" name="Straight Connector 6"/>
            <p:cNvCxnSpPr/>
            <p:nvPr/>
          </p:nvCxnSpPr>
          <p:spPr bwMode="auto">
            <a:xfrm>
              <a:off x="-873125" y="1930400"/>
              <a:ext cx="388937" cy="2063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8" name="Straight Connector 7"/>
            <p:cNvCxnSpPr/>
            <p:nvPr/>
          </p:nvCxnSpPr>
          <p:spPr bwMode="auto">
            <a:xfrm>
              <a:off x="-477838" y="1951038"/>
              <a:ext cx="288925" cy="182562"/>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9" name="Straight Connector 8"/>
            <p:cNvCxnSpPr/>
            <p:nvPr/>
          </p:nvCxnSpPr>
          <p:spPr bwMode="auto">
            <a:xfrm>
              <a:off x="-482600" y="1946275"/>
              <a:ext cx="341312" cy="2698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0" name="Straight Connector 9"/>
            <p:cNvCxnSpPr/>
            <p:nvPr/>
          </p:nvCxnSpPr>
          <p:spPr bwMode="auto">
            <a:xfrm flipV="1">
              <a:off x="-482600" y="1830388"/>
              <a:ext cx="312737" cy="119062"/>
            </a:xfrm>
            <a:prstGeom prst="line">
              <a:avLst/>
            </a:prstGeom>
            <a:grpFill/>
            <a:ln w="9525" cap="flat" cmpd="sng" algn="ctr">
              <a:solidFill>
                <a:schemeClr val="bg1">
                  <a:lumMod val="75000"/>
                </a:schemeClr>
              </a:solidFill>
              <a:prstDash val="solid"/>
              <a:round/>
              <a:headEnd type="none" w="med" len="med"/>
              <a:tailEnd type="none" w="med" len="med"/>
            </a:ln>
            <a:effectLst/>
          </p:spPr>
        </p:cxnSp>
        <p:sp>
          <p:nvSpPr>
            <p:cNvPr id="11" name="Oval 10"/>
            <p:cNvSpPr/>
            <p:nvPr/>
          </p:nvSpPr>
          <p:spPr bwMode="auto">
            <a:xfrm>
              <a:off x="-920978" y="188001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2" name="Oval 11"/>
            <p:cNvSpPr/>
            <p:nvPr/>
          </p:nvSpPr>
          <p:spPr bwMode="auto">
            <a:xfrm>
              <a:off x="-565378" y="16752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3" name="Oval 12"/>
            <p:cNvSpPr/>
            <p:nvPr/>
          </p:nvSpPr>
          <p:spPr bwMode="auto">
            <a:xfrm>
              <a:off x="-527991" y="19038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4" name="Oval 13"/>
            <p:cNvSpPr/>
            <p:nvPr/>
          </p:nvSpPr>
          <p:spPr bwMode="auto">
            <a:xfrm>
              <a:off x="-560506" y="21324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5" name="Oval 14"/>
            <p:cNvSpPr/>
            <p:nvPr/>
          </p:nvSpPr>
          <p:spPr bwMode="auto">
            <a:xfrm>
              <a:off x="-216019" y="178650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6" name="Oval 15"/>
            <p:cNvSpPr/>
            <p:nvPr/>
          </p:nvSpPr>
          <p:spPr bwMode="auto">
            <a:xfrm>
              <a:off x="-189031" y="1926770"/>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7" name="Oval 16"/>
            <p:cNvSpPr/>
            <p:nvPr/>
          </p:nvSpPr>
          <p:spPr bwMode="auto">
            <a:xfrm>
              <a:off x="-235786" y="2082041"/>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18" name="Picture 17"/>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19" name="Picture 18"/>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20" name="Picture 19"/>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21" name="Picture 20"/>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22" name="Picture 21"/>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3" name="Straight Connector 22"/>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248920" y="1001566"/>
            <a:ext cx="0" cy="40629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p:cNvSpPr txBox="1"/>
          <p:nvPr/>
        </p:nvSpPr>
        <p:spPr>
          <a:xfrm>
            <a:off x="999143" y="1109845"/>
            <a:ext cx="84531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Usually a production schedule is represented with a table of number of units per month as the one below</a:t>
            </a:r>
          </a:p>
        </p:txBody>
      </p:sp>
      <p:pic>
        <p:nvPicPr>
          <p:cNvPr id="25" name="Picture 24"/>
          <p:cNvPicPr>
            <a:picLocks noChangeAspect="1"/>
          </p:cNvPicPr>
          <p:nvPr/>
        </p:nvPicPr>
        <p:blipFill>
          <a:blip r:embed="rId9"/>
          <a:stretch>
            <a:fillRect/>
          </a:stretch>
        </p:blipFill>
        <p:spPr>
          <a:xfrm>
            <a:off x="1062658" y="1640810"/>
            <a:ext cx="8461330" cy="632266"/>
          </a:xfrm>
          <a:prstGeom prst="rect">
            <a:avLst/>
          </a:prstGeom>
        </p:spPr>
      </p:pic>
      <p:sp>
        <p:nvSpPr>
          <p:cNvPr id="27" name="TextBox 26"/>
          <p:cNvSpPr txBox="1"/>
          <p:nvPr/>
        </p:nvSpPr>
        <p:spPr>
          <a:xfrm>
            <a:off x="999143" y="2330182"/>
            <a:ext cx="84531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To make the mode even more flexible, the production schedule is represented in terms of orders, each row in the database is a specific order that can occur at any date or hour</a:t>
            </a:r>
          </a:p>
        </p:txBody>
      </p:sp>
      <p:pic>
        <p:nvPicPr>
          <p:cNvPr id="29" name="Picture 28"/>
          <p:cNvPicPr>
            <a:picLocks noChangeAspect="1"/>
          </p:cNvPicPr>
          <p:nvPr/>
        </p:nvPicPr>
        <p:blipFill>
          <a:blip r:embed="rId10"/>
          <a:stretch>
            <a:fillRect/>
          </a:stretch>
        </p:blipFill>
        <p:spPr>
          <a:xfrm>
            <a:off x="1092232" y="3000970"/>
            <a:ext cx="8266969" cy="1511970"/>
          </a:xfrm>
          <a:prstGeom prst="rect">
            <a:avLst/>
          </a:prstGeom>
        </p:spPr>
      </p:pic>
      <p:sp>
        <p:nvSpPr>
          <p:cNvPr id="30" name="TextBox 29"/>
          <p:cNvSpPr txBox="1"/>
          <p:nvPr/>
        </p:nvSpPr>
        <p:spPr>
          <a:xfrm>
            <a:off x="1728784" y="4950230"/>
            <a:ext cx="192596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Product ordered</a:t>
            </a:r>
          </a:p>
        </p:txBody>
      </p:sp>
      <p:cxnSp>
        <p:nvCxnSpPr>
          <p:cNvPr id="31" name="Elbow Connector 30"/>
          <p:cNvCxnSpPr>
            <a:stCxn id="30" idx="0"/>
            <a:endCxn id="32" idx="3"/>
          </p:cNvCxnSpPr>
          <p:nvPr/>
        </p:nvCxnSpPr>
        <p:spPr bwMode="auto">
          <a:xfrm rot="5400000" flipH="1" flipV="1">
            <a:off x="3127121" y="4255933"/>
            <a:ext cx="258945" cy="1129650"/>
          </a:xfrm>
          <a:prstGeom prst="bentConnector3">
            <a:avLst>
              <a:gd name="adj1" fmla="val 50000"/>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Isosceles Triangle 31"/>
          <p:cNvSpPr/>
          <p:nvPr/>
        </p:nvSpPr>
        <p:spPr bwMode="auto">
          <a:xfrm>
            <a:off x="3762998" y="4591042"/>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41" name="TextBox 40"/>
          <p:cNvSpPr txBox="1"/>
          <p:nvPr/>
        </p:nvSpPr>
        <p:spPr>
          <a:xfrm>
            <a:off x="4571405" y="4950230"/>
            <a:ext cx="192596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Production start date planned</a:t>
            </a:r>
          </a:p>
        </p:txBody>
      </p:sp>
      <p:cxnSp>
        <p:nvCxnSpPr>
          <p:cNvPr id="42" name="Elbow Connector 41"/>
          <p:cNvCxnSpPr>
            <a:stCxn id="41" idx="0"/>
            <a:endCxn id="43" idx="3"/>
          </p:cNvCxnSpPr>
          <p:nvPr/>
        </p:nvCxnSpPr>
        <p:spPr bwMode="auto">
          <a:xfrm rot="5400000" flipH="1" flipV="1">
            <a:off x="6078962" y="4146713"/>
            <a:ext cx="258945" cy="1348090"/>
          </a:xfrm>
          <a:prstGeom prst="bentConnector3">
            <a:avLst>
              <a:gd name="adj1" fmla="val 50000"/>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Isosceles Triangle 42"/>
          <p:cNvSpPr/>
          <p:nvPr/>
        </p:nvSpPr>
        <p:spPr bwMode="auto">
          <a:xfrm>
            <a:off x="6824059" y="4591042"/>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45" name="TextBox 44"/>
          <p:cNvSpPr txBox="1"/>
          <p:nvPr/>
        </p:nvSpPr>
        <p:spPr>
          <a:xfrm>
            <a:off x="7330856" y="4950230"/>
            <a:ext cx="192596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Production quantity planned</a:t>
            </a:r>
          </a:p>
        </p:txBody>
      </p:sp>
      <p:cxnSp>
        <p:nvCxnSpPr>
          <p:cNvPr id="46" name="Elbow Connector 45"/>
          <p:cNvCxnSpPr>
            <a:stCxn id="45" idx="0"/>
            <a:endCxn id="47" idx="3"/>
          </p:cNvCxnSpPr>
          <p:nvPr/>
        </p:nvCxnSpPr>
        <p:spPr bwMode="auto">
          <a:xfrm rot="5400000" flipH="1" flipV="1">
            <a:off x="8315173" y="4669953"/>
            <a:ext cx="258945" cy="301610"/>
          </a:xfrm>
          <a:prstGeom prst="bentConnector3">
            <a:avLst>
              <a:gd name="adj1" fmla="val 50000"/>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Isosceles Triangle 46"/>
          <p:cNvSpPr/>
          <p:nvPr/>
        </p:nvSpPr>
        <p:spPr bwMode="auto">
          <a:xfrm>
            <a:off x="8537030" y="4591042"/>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49" name="TextBox 48"/>
          <p:cNvSpPr txBox="1"/>
          <p:nvPr/>
        </p:nvSpPr>
        <p:spPr>
          <a:xfrm>
            <a:off x="999143" y="5557523"/>
            <a:ext cx="8453148" cy="1023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production schedule table includes only the schedule for final products, the schedule for intermediated components is determined automatically by the model</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actual delivery date of finished products is among the outputs of the model (such approach has been selected for practicality reasons, but can be changed)</a:t>
            </a:r>
          </a:p>
        </p:txBody>
      </p:sp>
    </p:spTree>
    <p:extLst>
      <p:ext uri="{BB962C8B-B14F-4D97-AF65-F5344CB8AC3E}">
        <p14:creationId xmlns:p14="http://schemas.microsoft.com/office/powerpoint/2010/main" val="37116516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Converting the typical table for a production schedule in a sequence of orders format can be easily done within excel</a:t>
            </a:r>
          </a:p>
        </p:txBody>
      </p:sp>
      <p:pic>
        <p:nvPicPr>
          <p:cNvPr id="3" name="Picture 2"/>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0796" y="3309852"/>
            <a:ext cx="313545" cy="313545"/>
          </a:xfrm>
          <a:prstGeom prst="rect">
            <a:avLst/>
          </a:prstGeom>
        </p:spPr>
      </p:pic>
      <p:grpSp>
        <p:nvGrpSpPr>
          <p:cNvPr id="4" name="Group 3"/>
          <p:cNvGrpSpPr/>
          <p:nvPr/>
        </p:nvGrpSpPr>
        <p:grpSpPr>
          <a:xfrm>
            <a:off x="295994" y="1506906"/>
            <a:ext cx="343149" cy="228935"/>
            <a:chOff x="-920978" y="1675227"/>
            <a:chExt cx="825457" cy="550710"/>
          </a:xfrm>
          <a:solidFill>
            <a:schemeClr val="bg1">
              <a:lumMod val="75000"/>
            </a:schemeClr>
          </a:solidFill>
        </p:grpSpPr>
        <p:cxnSp>
          <p:nvCxnSpPr>
            <p:cNvPr id="5" name="Straight Connector 4"/>
            <p:cNvCxnSpPr/>
            <p:nvPr/>
          </p:nvCxnSpPr>
          <p:spPr bwMode="auto">
            <a:xfrm flipV="1">
              <a:off x="-868363" y="1719263"/>
              <a:ext cx="355600" cy="209550"/>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6" name="Straight Connector 5"/>
            <p:cNvCxnSpPr/>
            <p:nvPr/>
          </p:nvCxnSpPr>
          <p:spPr bwMode="auto">
            <a:xfrm>
              <a:off x="-873125" y="1928814"/>
              <a:ext cx="358775" cy="250824"/>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7" name="Straight Connector 6"/>
            <p:cNvCxnSpPr/>
            <p:nvPr/>
          </p:nvCxnSpPr>
          <p:spPr bwMode="auto">
            <a:xfrm>
              <a:off x="-873125" y="1930400"/>
              <a:ext cx="388937" cy="2063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8" name="Straight Connector 7"/>
            <p:cNvCxnSpPr/>
            <p:nvPr/>
          </p:nvCxnSpPr>
          <p:spPr bwMode="auto">
            <a:xfrm>
              <a:off x="-477838" y="1951038"/>
              <a:ext cx="288925" cy="182562"/>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9" name="Straight Connector 8"/>
            <p:cNvCxnSpPr/>
            <p:nvPr/>
          </p:nvCxnSpPr>
          <p:spPr bwMode="auto">
            <a:xfrm>
              <a:off x="-482600" y="1946275"/>
              <a:ext cx="341312" cy="26988"/>
            </a:xfrm>
            <a:prstGeom prst="line">
              <a:avLst/>
            </a:prstGeom>
            <a:grpFill/>
            <a:ln w="9525" cap="flat" cmpd="sng" algn="ctr">
              <a:solidFill>
                <a:schemeClr val="bg1">
                  <a:lumMod val="75000"/>
                </a:schemeClr>
              </a:solidFill>
              <a:prstDash val="solid"/>
              <a:round/>
              <a:headEnd type="none" w="med" len="med"/>
              <a:tailEnd type="none" w="med" len="med"/>
            </a:ln>
            <a:effectLst/>
          </p:spPr>
        </p:cxnSp>
        <p:cxnSp>
          <p:nvCxnSpPr>
            <p:cNvPr id="10" name="Straight Connector 9"/>
            <p:cNvCxnSpPr/>
            <p:nvPr/>
          </p:nvCxnSpPr>
          <p:spPr bwMode="auto">
            <a:xfrm flipV="1">
              <a:off x="-482600" y="1830388"/>
              <a:ext cx="312737" cy="119062"/>
            </a:xfrm>
            <a:prstGeom prst="line">
              <a:avLst/>
            </a:prstGeom>
            <a:grpFill/>
            <a:ln w="9525" cap="flat" cmpd="sng" algn="ctr">
              <a:solidFill>
                <a:schemeClr val="bg1">
                  <a:lumMod val="75000"/>
                </a:schemeClr>
              </a:solidFill>
              <a:prstDash val="solid"/>
              <a:round/>
              <a:headEnd type="none" w="med" len="med"/>
              <a:tailEnd type="none" w="med" len="med"/>
            </a:ln>
            <a:effectLst/>
          </p:spPr>
        </p:cxnSp>
        <p:sp>
          <p:nvSpPr>
            <p:cNvPr id="11" name="Oval 10"/>
            <p:cNvSpPr/>
            <p:nvPr/>
          </p:nvSpPr>
          <p:spPr bwMode="auto">
            <a:xfrm>
              <a:off x="-920978" y="188001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2" name="Oval 11"/>
            <p:cNvSpPr/>
            <p:nvPr/>
          </p:nvSpPr>
          <p:spPr bwMode="auto">
            <a:xfrm>
              <a:off x="-565378" y="16752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3" name="Oval 12"/>
            <p:cNvSpPr/>
            <p:nvPr/>
          </p:nvSpPr>
          <p:spPr bwMode="auto">
            <a:xfrm>
              <a:off x="-527991" y="19038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4" name="Oval 13"/>
            <p:cNvSpPr/>
            <p:nvPr/>
          </p:nvSpPr>
          <p:spPr bwMode="auto">
            <a:xfrm>
              <a:off x="-560506" y="2132427"/>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5" name="Oval 14"/>
            <p:cNvSpPr/>
            <p:nvPr/>
          </p:nvSpPr>
          <p:spPr bwMode="auto">
            <a:xfrm>
              <a:off x="-216019" y="1786505"/>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6" name="Oval 15"/>
            <p:cNvSpPr/>
            <p:nvPr/>
          </p:nvSpPr>
          <p:spPr bwMode="auto">
            <a:xfrm>
              <a:off x="-189031" y="1926770"/>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17" name="Oval 16"/>
            <p:cNvSpPr/>
            <p:nvPr/>
          </p:nvSpPr>
          <p:spPr bwMode="auto">
            <a:xfrm>
              <a:off x="-235786" y="2082041"/>
              <a:ext cx="93510" cy="93510"/>
            </a:xfrm>
            <a:prstGeom prst="ellipse">
              <a:avLst/>
            </a:prstGeom>
            <a:grpFill/>
            <a:ln w="3175" cap="flat" cmpd="sng" algn="ctr">
              <a:solidFill>
                <a:schemeClr val="bg1">
                  <a:lumMod val="7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pic>
        <p:nvPicPr>
          <p:cNvPr id="18" name="Picture 17"/>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83" y="1862573"/>
            <a:ext cx="250098" cy="250098"/>
          </a:xfrm>
          <a:prstGeom prst="rect">
            <a:avLst/>
          </a:prstGeom>
        </p:spPr>
      </p:pic>
      <p:pic>
        <p:nvPicPr>
          <p:cNvPr id="19" name="Picture 18"/>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25494" y="2234816"/>
            <a:ext cx="284148" cy="284148"/>
          </a:xfrm>
          <a:prstGeom prst="rect">
            <a:avLst/>
          </a:prstGeom>
        </p:spPr>
      </p:pic>
      <p:pic>
        <p:nvPicPr>
          <p:cNvPr id="20" name="Picture 19"/>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53599" y="2610896"/>
            <a:ext cx="253953" cy="253953"/>
          </a:xfrm>
          <a:prstGeom prst="rect">
            <a:avLst/>
          </a:prstGeom>
        </p:spPr>
      </p:pic>
      <p:pic>
        <p:nvPicPr>
          <p:cNvPr id="21" name="Picture 20"/>
          <p:cNvPicPr>
            <a:picLocks noChangeAspect="1"/>
          </p:cNvPicPr>
          <p:nvPr/>
        </p:nvPicPr>
        <p:blipFill>
          <a:blip r:embed="rId7"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6359" y="3002990"/>
            <a:ext cx="202419" cy="202419"/>
          </a:xfrm>
          <a:prstGeom prst="rect">
            <a:avLst/>
          </a:prstGeom>
        </p:spPr>
      </p:pic>
      <p:pic>
        <p:nvPicPr>
          <p:cNvPr id="22" name="Picture 21"/>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91048" y="1072845"/>
            <a:ext cx="353041" cy="353041"/>
          </a:xfrm>
          <a:prstGeom prst="rect">
            <a:avLst/>
          </a:prstGeom>
        </p:spPr>
      </p:pic>
      <p:cxnSp>
        <p:nvCxnSpPr>
          <p:cNvPr id="23" name="Straight Connector 22"/>
          <p:cNvCxnSpPr/>
          <p:nvPr/>
        </p:nvCxnSpPr>
        <p:spPr bwMode="auto">
          <a:xfrm>
            <a:off x="701937" y="1001566"/>
            <a:ext cx="0" cy="5334000"/>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248920" y="1001566"/>
            <a:ext cx="0" cy="406293"/>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p:cNvSpPr txBox="1"/>
          <p:nvPr/>
        </p:nvSpPr>
        <p:spPr>
          <a:xfrm>
            <a:off x="999143" y="1109845"/>
            <a:ext cx="84531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Usually a production schedule is represented with a table of number of units per month as the one below</a:t>
            </a:r>
          </a:p>
        </p:txBody>
      </p:sp>
      <p:pic>
        <p:nvPicPr>
          <p:cNvPr id="25" name="Picture 24"/>
          <p:cNvPicPr>
            <a:picLocks noChangeAspect="1"/>
          </p:cNvPicPr>
          <p:nvPr/>
        </p:nvPicPr>
        <p:blipFill>
          <a:blip r:embed="rId9"/>
          <a:stretch>
            <a:fillRect/>
          </a:stretch>
        </p:blipFill>
        <p:spPr>
          <a:xfrm>
            <a:off x="1062658" y="1640810"/>
            <a:ext cx="8461330" cy="632266"/>
          </a:xfrm>
          <a:prstGeom prst="rect">
            <a:avLst/>
          </a:prstGeom>
        </p:spPr>
      </p:pic>
      <p:pic>
        <p:nvPicPr>
          <p:cNvPr id="28" name="Picture 27"/>
          <p:cNvPicPr>
            <a:picLocks noChangeAspect="1"/>
          </p:cNvPicPr>
          <p:nvPr/>
        </p:nvPicPr>
        <p:blipFill>
          <a:blip r:embed="rId10"/>
          <a:stretch>
            <a:fillRect/>
          </a:stretch>
        </p:blipFill>
        <p:spPr>
          <a:xfrm>
            <a:off x="2349400" y="4686630"/>
            <a:ext cx="5122713" cy="1684496"/>
          </a:xfrm>
          <a:prstGeom prst="rect">
            <a:avLst/>
          </a:prstGeom>
        </p:spPr>
      </p:pic>
      <p:sp>
        <p:nvSpPr>
          <p:cNvPr id="33" name="Bent-Up Arrow 32"/>
          <p:cNvSpPr/>
          <p:nvPr/>
        </p:nvSpPr>
        <p:spPr bwMode="auto">
          <a:xfrm rot="5400000">
            <a:off x="-98106" y="3684036"/>
            <a:ext cx="3297471" cy="683181"/>
          </a:xfrm>
          <a:prstGeom prst="bentUpArrow">
            <a:avLst>
              <a:gd name="adj1" fmla="val 19727"/>
              <a:gd name="adj2" fmla="val 24726"/>
              <a:gd name="adj3" fmla="val 28552"/>
            </a:avLst>
          </a:prstGeom>
          <a:solidFill>
            <a:srgbClr val="CBD5D1"/>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44" name="TextBox 43"/>
          <p:cNvSpPr txBox="1"/>
          <p:nvPr/>
        </p:nvSpPr>
        <p:spPr>
          <a:xfrm>
            <a:off x="1734461" y="2704896"/>
            <a:ext cx="161504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An index from 0 to the number of cells in the input table minus 1</a:t>
            </a:r>
          </a:p>
        </p:txBody>
      </p:sp>
      <p:cxnSp>
        <p:nvCxnSpPr>
          <p:cNvPr id="48" name="Elbow Connector 47"/>
          <p:cNvCxnSpPr>
            <a:stCxn id="44" idx="1"/>
            <a:endCxn id="50" idx="3"/>
          </p:cNvCxnSpPr>
          <p:nvPr/>
        </p:nvCxnSpPr>
        <p:spPr bwMode="auto">
          <a:xfrm rot="10800000" flipH="1" flipV="1">
            <a:off x="1734461" y="3197339"/>
            <a:ext cx="884810" cy="1389048"/>
          </a:xfrm>
          <a:prstGeom prst="bentConnector4">
            <a:avLst>
              <a:gd name="adj1" fmla="val -25836"/>
              <a:gd name="adj2" fmla="val 67726"/>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Isosceles Triangle 49"/>
          <p:cNvSpPr/>
          <p:nvPr/>
        </p:nvSpPr>
        <p:spPr bwMode="auto">
          <a:xfrm rot="10800000">
            <a:off x="2560851" y="458638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1" name="TextBox 50"/>
          <p:cNvSpPr txBox="1"/>
          <p:nvPr/>
        </p:nvSpPr>
        <p:spPr>
          <a:xfrm>
            <a:off x="3595336" y="2599842"/>
            <a:ext cx="201327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=QUOTIENT(B15,12)</a:t>
            </a:r>
          </a:p>
        </p:txBody>
      </p:sp>
      <p:cxnSp>
        <p:nvCxnSpPr>
          <p:cNvPr id="52" name="Elbow Connector 51"/>
          <p:cNvCxnSpPr>
            <a:stCxn id="51" idx="1"/>
            <a:endCxn id="53" idx="3"/>
          </p:cNvCxnSpPr>
          <p:nvPr/>
        </p:nvCxnSpPr>
        <p:spPr bwMode="auto">
          <a:xfrm rot="10800000" flipV="1">
            <a:off x="3391412" y="2722953"/>
            <a:ext cx="203925" cy="1863434"/>
          </a:xfrm>
          <a:prstGeom prst="bentConnector2">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Isosceles Triangle 52"/>
          <p:cNvSpPr/>
          <p:nvPr/>
        </p:nvSpPr>
        <p:spPr bwMode="auto">
          <a:xfrm rot="10800000">
            <a:off x="3332991" y="458638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3" name="TextBox 62"/>
          <p:cNvSpPr txBox="1"/>
          <p:nvPr/>
        </p:nvSpPr>
        <p:spPr>
          <a:xfrm>
            <a:off x="4519990" y="2955091"/>
            <a:ext cx="13865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=MOD(B15,12)</a:t>
            </a:r>
          </a:p>
        </p:txBody>
      </p:sp>
      <p:cxnSp>
        <p:nvCxnSpPr>
          <p:cNvPr id="64" name="Elbow Connector 63"/>
          <p:cNvCxnSpPr>
            <a:stCxn id="63" idx="1"/>
            <a:endCxn id="65" idx="3"/>
          </p:cNvCxnSpPr>
          <p:nvPr/>
        </p:nvCxnSpPr>
        <p:spPr bwMode="auto">
          <a:xfrm rot="10800000" flipV="1">
            <a:off x="4259386" y="3078201"/>
            <a:ext cx="260605" cy="1508185"/>
          </a:xfrm>
          <a:prstGeom prst="bentConnector2">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Isosceles Triangle 64"/>
          <p:cNvSpPr/>
          <p:nvPr/>
        </p:nvSpPr>
        <p:spPr bwMode="auto">
          <a:xfrm rot="10800000">
            <a:off x="4200965" y="458638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73" name="TextBox 72"/>
          <p:cNvSpPr txBox="1"/>
          <p:nvPr/>
        </p:nvSpPr>
        <p:spPr>
          <a:xfrm>
            <a:off x="5445347" y="3310340"/>
            <a:ext cx="214802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=OFFSET($B$5,C15,0)</a:t>
            </a:r>
          </a:p>
        </p:txBody>
      </p:sp>
      <p:cxnSp>
        <p:nvCxnSpPr>
          <p:cNvPr id="74" name="Elbow Connector 73"/>
          <p:cNvCxnSpPr>
            <a:stCxn id="73" idx="1"/>
            <a:endCxn id="75" idx="3"/>
          </p:cNvCxnSpPr>
          <p:nvPr/>
        </p:nvCxnSpPr>
        <p:spPr bwMode="auto">
          <a:xfrm rot="10800000" flipV="1">
            <a:off x="5173945" y="3433451"/>
            <a:ext cx="271403" cy="1152936"/>
          </a:xfrm>
          <a:prstGeom prst="bentConnector2">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Isosceles Triangle 74"/>
          <p:cNvSpPr/>
          <p:nvPr/>
        </p:nvSpPr>
        <p:spPr bwMode="auto">
          <a:xfrm rot="10800000">
            <a:off x="5115524" y="458638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82" name="TextBox 81"/>
          <p:cNvSpPr txBox="1"/>
          <p:nvPr/>
        </p:nvSpPr>
        <p:spPr>
          <a:xfrm>
            <a:off x="6246365" y="3665589"/>
            <a:ext cx="215924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=OFFSET($C$4,0,D15)</a:t>
            </a:r>
          </a:p>
        </p:txBody>
      </p:sp>
      <p:cxnSp>
        <p:nvCxnSpPr>
          <p:cNvPr id="83" name="Elbow Connector 82"/>
          <p:cNvCxnSpPr>
            <a:stCxn id="82" idx="1"/>
            <a:endCxn id="84" idx="3"/>
          </p:cNvCxnSpPr>
          <p:nvPr/>
        </p:nvCxnSpPr>
        <p:spPr bwMode="auto">
          <a:xfrm rot="10800000" flipV="1">
            <a:off x="6102335" y="3788699"/>
            <a:ext cx="144030" cy="797687"/>
          </a:xfrm>
          <a:prstGeom prst="bentConnector2">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Isosceles Triangle 83"/>
          <p:cNvSpPr/>
          <p:nvPr/>
        </p:nvSpPr>
        <p:spPr bwMode="auto">
          <a:xfrm rot="10800000">
            <a:off x="6043915" y="458638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85" name="TextBox 84"/>
          <p:cNvSpPr txBox="1"/>
          <p:nvPr/>
        </p:nvSpPr>
        <p:spPr>
          <a:xfrm>
            <a:off x="7289871" y="4020838"/>
            <a:ext cx="242053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=OFFSET($C$5,C15,D15)</a:t>
            </a:r>
          </a:p>
        </p:txBody>
      </p:sp>
      <p:cxnSp>
        <p:nvCxnSpPr>
          <p:cNvPr id="86" name="Elbow Connector 85"/>
          <p:cNvCxnSpPr>
            <a:stCxn id="85" idx="1"/>
            <a:endCxn id="87" idx="3"/>
          </p:cNvCxnSpPr>
          <p:nvPr/>
        </p:nvCxnSpPr>
        <p:spPr bwMode="auto">
          <a:xfrm rot="10800000" flipV="1">
            <a:off x="7018469" y="4143949"/>
            <a:ext cx="271403" cy="442438"/>
          </a:xfrm>
          <a:prstGeom prst="bentConnector2">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Isosceles Triangle 86"/>
          <p:cNvSpPr/>
          <p:nvPr/>
        </p:nvSpPr>
        <p:spPr bwMode="auto">
          <a:xfrm rot="10800000">
            <a:off x="6960048" y="4586387"/>
            <a:ext cx="116840" cy="100243"/>
          </a:xfrm>
          <a:prstGeom prst="triangle">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Tree>
    <p:extLst>
      <p:ext uri="{BB962C8B-B14F-4D97-AF65-F5344CB8AC3E}">
        <p14:creationId xmlns:p14="http://schemas.microsoft.com/office/powerpoint/2010/main" val="47698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b="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125" name="Text Placeholder 2">
            <a:hlinkClick r:id="rId11" action="ppaction://hlinksldjump"/>
          </p:cNvPr>
          <p:cNvSpPr>
            <a:spLocks noGrp="1"/>
          </p:cNvSpPr>
          <p:nvPr>
            <p:custDataLst>
              <p:tags r:id="rId2"/>
            </p:custDataLst>
          </p:nvPr>
        </p:nvSpPr>
        <p:spPr bwMode="gray">
          <a:xfrm>
            <a:off x="1806575" y="20050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b="0" dirty="0">
                <a:solidFill>
                  <a:srgbClr val="263238"/>
                </a:solidFill>
              </a:rPr>
              <a:t>The need for a factory simulation model</a:t>
            </a:r>
          </a:p>
        </p:txBody>
      </p:sp>
      <p:sp>
        <p:nvSpPr>
          <p:cNvPr id="165" name="Text Placeholder 2">
            <a:hlinkClick r:id="rId12" action="ppaction://hlinksldjump"/>
          </p:cNvPr>
          <p:cNvSpPr>
            <a:spLocks noGrp="1"/>
          </p:cNvSpPr>
          <p:nvPr>
            <p:custDataLst>
              <p:tags r:id="rId3"/>
            </p:custDataLst>
          </p:nvPr>
        </p:nvSpPr>
        <p:spPr bwMode="gray">
          <a:xfrm>
            <a:off x="1806575" y="24114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dirty="0">
                <a:solidFill>
                  <a:srgbClr val="263238"/>
                </a:solidFill>
              </a:rPr>
              <a:t>Model description </a:t>
            </a:r>
            <a:r>
              <a:rPr lang="en-GB">
                <a:solidFill>
                  <a:srgbClr val="263238"/>
                </a:solidFill>
              </a:rPr>
              <a:t>and illustrative example</a:t>
            </a:r>
            <a:endParaRPr lang="en-GB" dirty="0">
              <a:solidFill>
                <a:srgbClr val="263238"/>
              </a:solidFill>
            </a:endParaRPr>
          </a:p>
        </p:txBody>
      </p:sp>
      <p:sp>
        <p:nvSpPr>
          <p:cNvPr id="89" name="Text Placeholder 2">
            <a:hlinkClick r:id="rId13" action="ppaction://hlinksldjump"/>
          </p:cNvPr>
          <p:cNvSpPr>
            <a:spLocks noGrp="1"/>
          </p:cNvSpPr>
          <p:nvPr>
            <p:custDataLst>
              <p:tags r:id="rId4"/>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2">
              <a:spcBef>
                <a:spcPct val="0"/>
              </a:spcBef>
              <a:spcAft>
                <a:spcPct val="0"/>
              </a:spcAft>
              <a:buClr>
                <a:schemeClr val="accent2">
                  <a:lumMod val="100000"/>
                </a:schemeClr>
              </a:buClr>
            </a:pPr>
            <a:r>
              <a:rPr lang="en-GB" b="0" dirty="0">
                <a:solidFill>
                  <a:srgbClr val="263238"/>
                </a:solidFill>
              </a:rPr>
              <a:t>Inputs</a:t>
            </a:r>
          </a:p>
        </p:txBody>
      </p:sp>
      <p:sp>
        <p:nvSpPr>
          <p:cNvPr id="91" name="Text Placeholder 2"/>
          <p:cNvSpPr>
            <a:spLocks noGrp="1"/>
          </p:cNvSpPr>
          <p:nvPr>
            <p:custDataLst>
              <p:tags r:id="rId5"/>
            </p:custDataLst>
          </p:nvPr>
        </p:nvSpPr>
        <p:spPr bwMode="gray">
          <a:xfrm>
            <a:off x="1806575" y="3225800"/>
            <a:ext cx="6483350" cy="406400"/>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2">
              <a:spcBef>
                <a:spcPct val="0"/>
              </a:spcBef>
              <a:spcAft>
                <a:spcPct val="0"/>
              </a:spcAft>
              <a:buClr>
                <a:schemeClr val="accent2">
                  <a:lumMod val="100000"/>
                </a:schemeClr>
              </a:buClr>
            </a:pPr>
            <a:r>
              <a:rPr lang="en-GB" dirty="0">
                <a:solidFill>
                  <a:srgbClr val="263238"/>
                </a:solidFill>
              </a:rPr>
              <a:t>Outputs</a:t>
            </a:r>
          </a:p>
        </p:txBody>
      </p:sp>
      <p:sp>
        <p:nvSpPr>
          <p:cNvPr id="26" name="Text Placeholder 2">
            <a:hlinkClick r:id="rId14" action="ppaction://hlinksldjump"/>
          </p:cNvPr>
          <p:cNvSpPr>
            <a:spLocks noGrp="1"/>
          </p:cNvSpPr>
          <p:nvPr>
            <p:custDataLst>
              <p:tags r:id="rId6"/>
            </p:custDataLst>
          </p:nvPr>
        </p:nvSpPr>
        <p:spPr bwMode="gray">
          <a:xfrm>
            <a:off x="1806575" y="3632200"/>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b="0" dirty="0">
                <a:solidFill>
                  <a:srgbClr val="263238"/>
                </a:solidFill>
              </a:rPr>
              <a:t>How the </a:t>
            </a:r>
            <a:r>
              <a:rPr lang="en-US" b="0">
                <a:solidFill>
                  <a:srgbClr val="263238"/>
                </a:solidFill>
              </a:rPr>
              <a:t>model functions under </a:t>
            </a:r>
            <a:r>
              <a:rPr lang="en-US" b="0" dirty="0">
                <a:solidFill>
                  <a:srgbClr val="263238"/>
                </a:solidFill>
              </a:rPr>
              <a:t>the hood</a:t>
            </a:r>
            <a:endParaRPr lang="en-GB" b="0" dirty="0">
              <a:solidFill>
                <a:srgbClr val="263238"/>
              </a:solidFill>
            </a:endParaRPr>
          </a:p>
        </p:txBody>
      </p:sp>
      <p:sp>
        <p:nvSpPr>
          <p:cNvPr id="143" name="Text Placeholder 2">
            <a:hlinkClick r:id="rId15" action="ppaction://hlinksldjump"/>
          </p:cNvPr>
          <p:cNvSpPr>
            <a:spLocks noGrp="1"/>
          </p:cNvSpPr>
          <p:nvPr>
            <p:custDataLst>
              <p:tags r:id="rId7"/>
            </p:custDataLst>
          </p:nvPr>
        </p:nvSpPr>
        <p:spPr bwMode="gray">
          <a:xfrm>
            <a:off x="1806575" y="40401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infrastructure and scalability to other applications</a:t>
            </a:r>
          </a:p>
        </p:txBody>
      </p:sp>
      <p:sp>
        <p:nvSpPr>
          <p:cNvPr id="157" name="Text Placeholder 2">
            <a:hlinkClick r:id="rId16" action="ppaction://hlinksldjump"/>
          </p:cNvPr>
          <p:cNvSpPr>
            <a:spLocks noGrp="1"/>
          </p:cNvSpPr>
          <p:nvPr>
            <p:custDataLst>
              <p:tags r:id="rId8"/>
            </p:custDataLst>
          </p:nvPr>
        </p:nvSpPr>
        <p:spPr bwMode="gray">
          <a:xfrm>
            <a:off x="1806575" y="44465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How to make it function on your pc </a:t>
            </a:r>
            <a:r>
              <a:rPr lang="en-GB" b="0">
                <a:solidFill>
                  <a:srgbClr val="263238"/>
                </a:solidFill>
              </a:rPr>
              <a:t>(installation)</a:t>
            </a:r>
            <a:endParaRPr lang="en-GB" b="0" dirty="0">
              <a:solidFill>
                <a:srgbClr val="263238"/>
              </a:solidFill>
            </a:endParaRPr>
          </a:p>
        </p:txBody>
      </p:sp>
    </p:spTree>
    <p:extLst>
      <p:ext uri="{BB962C8B-B14F-4D97-AF65-F5344CB8AC3E}">
        <p14:creationId xmlns:p14="http://schemas.microsoft.com/office/powerpoint/2010/main" val="3861099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output of the model is a table listing all production events, which can be further analysed, for instance through pivoting</a:t>
            </a:r>
          </a:p>
        </p:txBody>
      </p:sp>
      <p:pic>
        <p:nvPicPr>
          <p:cNvPr id="3" name="Picture 2"/>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574712" y="1386216"/>
            <a:ext cx="1426808" cy="1304510"/>
          </a:xfrm>
          <a:prstGeom prst="rect">
            <a:avLst/>
          </a:prstGeom>
          <a:noFill/>
          <a:ln>
            <a:noFill/>
          </a:ln>
        </p:spPr>
      </p:pic>
      <p:grpSp>
        <p:nvGrpSpPr>
          <p:cNvPr id="14" name="Group 13"/>
          <p:cNvGrpSpPr/>
          <p:nvPr/>
        </p:nvGrpSpPr>
        <p:grpSpPr>
          <a:xfrm>
            <a:off x="2600960" y="2465161"/>
            <a:ext cx="6851330" cy="466114"/>
            <a:chOff x="1686564" y="1367142"/>
            <a:chExt cx="7868916" cy="492138"/>
          </a:xfrm>
        </p:grpSpPr>
        <p:sp>
          <p:nvSpPr>
            <p:cNvPr id="4" name="Rectangle 3"/>
            <p:cNvSpPr>
              <a:spLocks noChangeAspect="1"/>
            </p:cNvSpPr>
            <p:nvPr/>
          </p:nvSpPr>
          <p:spPr bwMode="auto">
            <a:xfrm>
              <a:off x="1686564"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time</a:t>
              </a:r>
            </a:p>
          </p:txBody>
        </p:sp>
        <p:sp>
          <p:nvSpPr>
            <p:cNvPr id="5" name="Rectangle 4"/>
            <p:cNvSpPr>
              <a:spLocks noChangeAspect="1"/>
            </p:cNvSpPr>
            <p:nvPr/>
          </p:nvSpPr>
          <p:spPr bwMode="auto">
            <a:xfrm>
              <a:off x="2560888"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product</a:t>
              </a:r>
            </a:p>
          </p:txBody>
        </p:sp>
        <p:sp>
          <p:nvSpPr>
            <p:cNvPr id="6" name="Rectangle 5"/>
            <p:cNvSpPr>
              <a:spLocks noChangeAspect="1"/>
            </p:cNvSpPr>
            <p:nvPr/>
          </p:nvSpPr>
          <p:spPr bwMode="auto">
            <a:xfrm>
              <a:off x="3435212"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order</a:t>
              </a:r>
            </a:p>
          </p:txBody>
        </p:sp>
        <p:sp>
          <p:nvSpPr>
            <p:cNvPr id="7" name="Rectangle 6"/>
            <p:cNvSpPr>
              <a:spLocks noChangeAspect="1"/>
            </p:cNvSpPr>
            <p:nvPr/>
          </p:nvSpPr>
          <p:spPr bwMode="auto">
            <a:xfrm>
              <a:off x="4309536"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code</a:t>
              </a:r>
            </a:p>
          </p:txBody>
        </p:sp>
        <p:sp>
          <p:nvSpPr>
            <p:cNvPr id="8" name="Rectangle 7"/>
            <p:cNvSpPr>
              <a:spLocks noChangeAspect="1"/>
            </p:cNvSpPr>
            <p:nvPr/>
          </p:nvSpPr>
          <p:spPr bwMode="auto">
            <a:xfrm>
              <a:off x="5183860"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activity</a:t>
              </a:r>
            </a:p>
          </p:txBody>
        </p:sp>
        <p:sp>
          <p:nvSpPr>
            <p:cNvPr id="9" name="Rectangle 8"/>
            <p:cNvSpPr>
              <a:spLocks noChangeAspect="1"/>
            </p:cNvSpPr>
            <p:nvPr/>
          </p:nvSpPr>
          <p:spPr bwMode="auto">
            <a:xfrm>
              <a:off x="6058184"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rPr>
                <a:t>work</a:t>
              </a:r>
              <a:endParaRPr lang="en-GB" sz="1400" dirty="0">
                <a:solidFill>
                  <a:schemeClr val="bg1"/>
                </a:solidFill>
              </a:endParaRPr>
            </a:p>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rPr>
                <a:t>cell</a:t>
              </a:r>
            </a:p>
          </p:txBody>
        </p:sp>
        <p:sp>
          <p:nvSpPr>
            <p:cNvPr id="10" name="Rectangle 9"/>
            <p:cNvSpPr>
              <a:spLocks noChangeAspect="1"/>
            </p:cNvSpPr>
            <p:nvPr/>
          </p:nvSpPr>
          <p:spPr bwMode="auto">
            <a:xfrm>
              <a:off x="6932508"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latin typeface="Arial" charset="0"/>
                  <a:ea typeface="Arial Unicode MS" pitchFamily="34" charset="-128"/>
                  <a:cs typeface="Arial Unicode MS" pitchFamily="34" charset="-128"/>
                </a:rPr>
                <a:t>crew</a:t>
              </a:r>
            </a:p>
          </p:txBody>
        </p:sp>
        <p:sp>
          <p:nvSpPr>
            <p:cNvPr id="11" name="Rectangle 10"/>
            <p:cNvSpPr>
              <a:spLocks noChangeAspect="1"/>
            </p:cNvSpPr>
            <p:nvPr/>
          </p:nvSpPr>
          <p:spPr bwMode="auto">
            <a:xfrm>
              <a:off x="7806832"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rPr>
                <a:t>lead</a:t>
              </a:r>
              <a:endParaRPr lang="en-GB" sz="1400" dirty="0">
                <a:solidFill>
                  <a:schemeClr val="bg1"/>
                </a:solidFill>
              </a:endParaRPr>
            </a:p>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rPr>
                <a:t>time</a:t>
              </a:r>
            </a:p>
          </p:txBody>
        </p:sp>
        <p:sp>
          <p:nvSpPr>
            <p:cNvPr id="12" name="Rectangle 11"/>
            <p:cNvSpPr>
              <a:spLocks noChangeAspect="1"/>
            </p:cNvSpPr>
            <p:nvPr/>
          </p:nvSpPr>
          <p:spPr bwMode="auto">
            <a:xfrm>
              <a:off x="8681156" y="1367142"/>
              <a:ext cx="874324" cy="492138"/>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rPr>
                <a:t>worked</a:t>
              </a:r>
              <a:endParaRPr lang="en-GB" sz="1400" dirty="0">
                <a:solidFill>
                  <a:schemeClr val="bg1"/>
                </a:solidFill>
              </a:endParaRPr>
            </a:p>
            <a:p>
              <a:pPr marL="0" marR="0" indent="0" defTabSz="914400" rtl="0" eaLnBrk="0" fontAlgn="base" latinLnBrk="0" hangingPunct="0">
                <a:lnSpc>
                  <a:spcPct val="100000"/>
                </a:lnSpc>
                <a:spcBef>
                  <a:spcPct val="0"/>
                </a:spcBef>
                <a:spcAft>
                  <a:spcPct val="0"/>
                </a:spcAft>
                <a:buClrTx/>
                <a:buSzTx/>
                <a:buFontTx/>
                <a:buNone/>
                <a:tabLst/>
              </a:pPr>
              <a:r>
                <a:rPr kumimoji="0" lang="en-GB" sz="1400" i="0" u="none" strike="noStrike" cap="none" normalizeH="0" baseline="0" dirty="0">
                  <a:ln>
                    <a:noFill/>
                  </a:ln>
                  <a:solidFill>
                    <a:schemeClr val="bg1"/>
                  </a:solidFill>
                  <a:effectLst/>
                </a:rPr>
                <a:t>time</a:t>
              </a:r>
            </a:p>
          </p:txBody>
        </p:sp>
      </p:grpSp>
      <p:sp>
        <p:nvSpPr>
          <p:cNvPr id="15" name="TextBox 14"/>
          <p:cNvSpPr txBox="1"/>
          <p:nvPr/>
        </p:nvSpPr>
        <p:spPr>
          <a:xfrm>
            <a:off x="2352040" y="1109845"/>
            <a:ext cx="7100250"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A table is generated that lists all production events and the key information for each event: when the event occurred, which product and order generated the activity, which specific code is worked, which activity is performed, on which work cell, how many people are involved, what is the lead time in case of external activities, and what is the worked time  </a:t>
            </a:r>
          </a:p>
        </p:txBody>
      </p:sp>
      <p:sp>
        <p:nvSpPr>
          <p:cNvPr id="36" name="TextBox 35"/>
          <p:cNvSpPr txBox="1"/>
          <p:nvPr/>
        </p:nvSpPr>
        <p:spPr>
          <a:xfrm>
            <a:off x="192723" y="3055485"/>
            <a:ext cx="2408237" cy="3239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From such table a series of pivot can be executed in excel to answer specific questions</a:t>
            </a:r>
          </a:p>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pivots can be also implemented within the Python environment; this step has been left out to keep the model as basic as possible and focused on the core algorithm</a:t>
            </a:r>
          </a:p>
        </p:txBody>
      </p:sp>
      <p:cxnSp>
        <p:nvCxnSpPr>
          <p:cNvPr id="38" name="Straight Connector 37"/>
          <p:cNvCxnSpPr/>
          <p:nvPr/>
        </p:nvCxnSpPr>
        <p:spPr bwMode="auto">
          <a:xfrm>
            <a:off x="2600960" y="3055485"/>
            <a:ext cx="0" cy="3284355"/>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Box 39"/>
          <p:cNvSpPr txBox="1"/>
          <p:nvPr/>
        </p:nvSpPr>
        <p:spPr>
          <a:xfrm>
            <a:off x="2736553" y="3111917"/>
            <a:ext cx="707017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i="1" dirty="0">
                <a:solidFill>
                  <a:schemeClr val="accent4">
                    <a:lumMod val="75000"/>
                  </a:schemeClr>
                </a:solidFill>
              </a:rPr>
              <a:t>Output example 1: </a:t>
            </a:r>
            <a:r>
              <a:rPr lang="en-GB" sz="1600" dirty="0">
                <a:solidFill>
                  <a:schemeClr val="accent5">
                    <a:lumMod val="50000"/>
                  </a:schemeClr>
                </a:solidFill>
              </a:rPr>
              <a:t>machine hours per week and bottleneck identification</a:t>
            </a:r>
          </a:p>
        </p:txBody>
      </p:sp>
      <p:sp>
        <p:nvSpPr>
          <p:cNvPr id="43" name="TextBox 42"/>
          <p:cNvSpPr txBox="1"/>
          <p:nvPr/>
        </p:nvSpPr>
        <p:spPr>
          <a:xfrm>
            <a:off x="2736553" y="4808637"/>
            <a:ext cx="707017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i="1" dirty="0">
                <a:solidFill>
                  <a:schemeClr val="accent4">
                    <a:lumMod val="75000"/>
                  </a:schemeClr>
                </a:solidFill>
              </a:rPr>
              <a:t>Output example 2: </a:t>
            </a:r>
            <a:r>
              <a:rPr lang="en-GB" sz="1600" dirty="0">
                <a:solidFill>
                  <a:schemeClr val="accent5">
                    <a:lumMod val="50000"/>
                  </a:schemeClr>
                </a:solidFill>
              </a:rPr>
              <a:t>resulting delivery dates</a:t>
            </a:r>
          </a:p>
        </p:txBody>
      </p:sp>
      <p:pic>
        <p:nvPicPr>
          <p:cNvPr id="46" name="Picture 45"/>
          <p:cNvPicPr>
            <a:picLocks noChangeAspect="1"/>
          </p:cNvPicPr>
          <p:nvPr/>
        </p:nvPicPr>
        <p:blipFill>
          <a:blip r:embed="rId4"/>
          <a:stretch>
            <a:fillRect/>
          </a:stretch>
        </p:blipFill>
        <p:spPr>
          <a:xfrm>
            <a:off x="3163639" y="5151840"/>
            <a:ext cx="6216000" cy="1188000"/>
          </a:xfrm>
          <a:prstGeom prst="rect">
            <a:avLst/>
          </a:prstGeom>
        </p:spPr>
      </p:pic>
      <p:cxnSp>
        <p:nvCxnSpPr>
          <p:cNvPr id="47" name="Straight Connector 46"/>
          <p:cNvCxnSpPr/>
          <p:nvPr/>
        </p:nvCxnSpPr>
        <p:spPr bwMode="auto">
          <a:xfrm flipH="1">
            <a:off x="391160" y="1222963"/>
            <a:ext cx="0" cy="1555797"/>
          </a:xfrm>
          <a:prstGeom prst="line">
            <a:avLst/>
          </a:prstGeom>
          <a:solidFill>
            <a:schemeClr val="accent1"/>
          </a:solidFill>
          <a:ln w="19050" cap="flat" cmpd="sng" algn="ctr">
            <a:solidFill>
              <a:srgbClr val="64748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0" name="Picture 49"/>
          <p:cNvPicPr>
            <a:picLocks noChangeAspect="1"/>
          </p:cNvPicPr>
          <p:nvPr/>
        </p:nvPicPr>
        <p:blipFill>
          <a:blip r:embed="rId5"/>
          <a:stretch>
            <a:fillRect/>
          </a:stretch>
        </p:blipFill>
        <p:spPr>
          <a:xfrm>
            <a:off x="2736551" y="3358138"/>
            <a:ext cx="6961989" cy="1107182"/>
          </a:xfrm>
          <a:prstGeom prst="rect">
            <a:avLst/>
          </a:prstGeom>
        </p:spPr>
      </p:pic>
    </p:spTree>
    <p:extLst>
      <p:ext uri="{BB962C8B-B14F-4D97-AF65-F5344CB8AC3E}">
        <p14:creationId xmlns:p14="http://schemas.microsoft.com/office/powerpoint/2010/main" val="3275943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Bottlenecks location can be identified easily by plotting the weekly hours utilized for each cell</a:t>
            </a:r>
          </a:p>
        </p:txBody>
      </p:sp>
      <p:sp>
        <p:nvSpPr>
          <p:cNvPr id="4" name="TextBox 3"/>
          <p:cNvSpPr txBox="1"/>
          <p:nvPr/>
        </p:nvSpPr>
        <p:spPr>
          <a:xfrm>
            <a:off x="568960" y="3523823"/>
            <a:ext cx="859885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The table reports the hours used for each cell, we observe that all cells are used up to the maximum capacity of hours per week; thus in this specific example the factory is balanced</a:t>
            </a:r>
          </a:p>
        </p:txBody>
      </p:sp>
      <p:pic>
        <p:nvPicPr>
          <p:cNvPr id="5" name="Picture 4"/>
          <p:cNvPicPr>
            <a:picLocks noChangeAspect="1"/>
          </p:cNvPicPr>
          <p:nvPr/>
        </p:nvPicPr>
        <p:blipFill>
          <a:blip r:embed="rId3"/>
          <a:stretch>
            <a:fillRect/>
          </a:stretch>
        </p:blipFill>
        <p:spPr>
          <a:xfrm>
            <a:off x="265579" y="1461820"/>
            <a:ext cx="9335077" cy="1484580"/>
          </a:xfrm>
          <a:prstGeom prst="rect">
            <a:avLst/>
          </a:prstGeom>
        </p:spPr>
      </p:pic>
    </p:spTree>
    <p:extLst>
      <p:ext uri="{BB962C8B-B14F-4D97-AF65-F5344CB8AC3E}">
        <p14:creationId xmlns:p14="http://schemas.microsoft.com/office/powerpoint/2010/main" val="4232880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production lead time and the delivery dates can be assessed to understand whether the factory has enough capacity</a:t>
            </a:r>
          </a:p>
        </p:txBody>
      </p:sp>
      <p:pic>
        <p:nvPicPr>
          <p:cNvPr id="3" name="Picture 2"/>
          <p:cNvPicPr>
            <a:picLocks noChangeAspect="1"/>
          </p:cNvPicPr>
          <p:nvPr/>
        </p:nvPicPr>
        <p:blipFill>
          <a:blip r:embed="rId3"/>
          <a:stretch>
            <a:fillRect/>
          </a:stretch>
        </p:blipFill>
        <p:spPr>
          <a:xfrm>
            <a:off x="1905480" y="3140160"/>
            <a:ext cx="7458642" cy="1425493"/>
          </a:xfrm>
          <a:prstGeom prst="rect">
            <a:avLst/>
          </a:prstGeom>
        </p:spPr>
      </p:pic>
      <p:pic>
        <p:nvPicPr>
          <p:cNvPr id="4" name="Picture 3"/>
          <p:cNvPicPr>
            <a:picLocks noChangeAspect="1"/>
          </p:cNvPicPr>
          <p:nvPr/>
        </p:nvPicPr>
        <p:blipFill>
          <a:blip r:embed="rId4"/>
          <a:stretch>
            <a:fillRect/>
          </a:stretch>
        </p:blipFill>
        <p:spPr>
          <a:xfrm>
            <a:off x="1905480" y="1369987"/>
            <a:ext cx="7459200" cy="1425600"/>
          </a:xfrm>
          <a:prstGeom prst="rect">
            <a:avLst/>
          </a:prstGeom>
        </p:spPr>
      </p:pic>
      <p:sp>
        <p:nvSpPr>
          <p:cNvPr id="5" name="TextBox 4"/>
          <p:cNvSpPr txBox="1"/>
          <p:nvPr/>
        </p:nvSpPr>
        <p:spPr>
          <a:xfrm>
            <a:off x="350520" y="2073387"/>
            <a:ext cx="13462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Production start</a:t>
            </a:r>
          </a:p>
        </p:txBody>
      </p:sp>
      <p:sp>
        <p:nvSpPr>
          <p:cNvPr id="6" name="TextBox 5"/>
          <p:cNvSpPr txBox="1"/>
          <p:nvPr/>
        </p:nvSpPr>
        <p:spPr>
          <a:xfrm>
            <a:off x="350520" y="3713480"/>
            <a:ext cx="13462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Ready for delivery</a:t>
            </a:r>
          </a:p>
        </p:txBody>
      </p:sp>
    </p:spTree>
    <p:extLst>
      <p:ext uri="{BB962C8B-B14F-4D97-AF65-F5344CB8AC3E}">
        <p14:creationId xmlns:p14="http://schemas.microsoft.com/office/powerpoint/2010/main" val="22586386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Also observing the delivery date for each order it can be understood whether the factory capacity is sufficient </a:t>
            </a:r>
          </a:p>
        </p:txBody>
      </p:sp>
      <p:sp>
        <p:nvSpPr>
          <p:cNvPr id="4" name="TextBox 3"/>
          <p:cNvSpPr txBox="1"/>
          <p:nvPr/>
        </p:nvSpPr>
        <p:spPr>
          <a:xfrm>
            <a:off x="345440" y="1503680"/>
            <a:ext cx="2611119" cy="2318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The table shows when the production orders are ready to be shipped in terms of number of products per month</a:t>
            </a:r>
          </a:p>
          <a:p>
            <a:pPr marL="268288" indent="-268288" algn="l">
              <a:spcBef>
                <a:spcPts val="400"/>
              </a:spcBef>
              <a:spcAft>
                <a:spcPts val="400"/>
              </a:spcAft>
              <a:buClr>
                <a:schemeClr val="accent2"/>
              </a:buClr>
              <a:buSzPct val="95000"/>
              <a:buFont typeface="Wingdings 2" panose="05020102010507070707" pitchFamily="18" charset="2"/>
              <a:buChar char="¾"/>
            </a:pPr>
            <a:r>
              <a:rPr lang="en-GB" sz="1600" b="0" dirty="0">
                <a:solidFill>
                  <a:srgbClr val="263238"/>
                </a:solidFill>
              </a:rPr>
              <a:t>The output database is actually more precise as it includes the exact date for each single item</a:t>
            </a:r>
          </a:p>
        </p:txBody>
      </p:sp>
      <p:pic>
        <p:nvPicPr>
          <p:cNvPr id="7" name="Picture 6"/>
          <p:cNvPicPr>
            <a:picLocks noChangeAspect="1"/>
          </p:cNvPicPr>
          <p:nvPr/>
        </p:nvPicPr>
        <p:blipFill>
          <a:blip r:embed="rId3"/>
          <a:stretch>
            <a:fillRect/>
          </a:stretch>
        </p:blipFill>
        <p:spPr>
          <a:xfrm>
            <a:off x="3714431" y="1417200"/>
            <a:ext cx="5600700" cy="4810125"/>
          </a:xfrm>
          <a:prstGeom prst="rect">
            <a:avLst/>
          </a:prstGeom>
        </p:spPr>
      </p:pic>
    </p:spTree>
    <p:extLst>
      <p:ext uri="{BB962C8B-B14F-4D97-AF65-F5344CB8AC3E}">
        <p14:creationId xmlns:p14="http://schemas.microsoft.com/office/powerpoint/2010/main" val="1033018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Total labour hours simulated per week is an information that can be used to better plan hiring and define line balance</a:t>
            </a:r>
          </a:p>
        </p:txBody>
      </p:sp>
      <p:pic>
        <p:nvPicPr>
          <p:cNvPr id="3" name="Picture 2"/>
          <p:cNvPicPr>
            <a:picLocks noChangeAspect="1"/>
          </p:cNvPicPr>
          <p:nvPr/>
        </p:nvPicPr>
        <p:blipFill>
          <a:blip r:embed="rId3"/>
          <a:stretch>
            <a:fillRect/>
          </a:stretch>
        </p:blipFill>
        <p:spPr>
          <a:xfrm>
            <a:off x="2785524" y="1229359"/>
            <a:ext cx="6607396" cy="5186669"/>
          </a:xfrm>
          <a:prstGeom prst="rect">
            <a:avLst/>
          </a:prstGeom>
        </p:spPr>
      </p:pic>
      <p:sp>
        <p:nvSpPr>
          <p:cNvPr id="4" name="TextBox 3"/>
          <p:cNvSpPr txBox="1"/>
          <p:nvPr/>
        </p:nvSpPr>
        <p:spPr>
          <a:xfrm>
            <a:off x="233363" y="1318125"/>
            <a:ext cx="2281237"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68288" indent="-268288" algn="l">
              <a:spcBef>
                <a:spcPts val="300"/>
              </a:spcBef>
              <a:spcAft>
                <a:spcPts val="0"/>
              </a:spcAft>
              <a:buClr>
                <a:schemeClr val="accent2"/>
              </a:buClr>
              <a:buSzPct val="95000"/>
              <a:buFont typeface="Wingdings 2" panose="05020102010507070707" pitchFamily="18" charset="2"/>
              <a:buChar char="¾"/>
            </a:pPr>
            <a:r>
              <a:rPr lang="en-GB" sz="1600" b="0" dirty="0">
                <a:solidFill>
                  <a:srgbClr val="263238"/>
                </a:solidFill>
              </a:rPr>
              <a:t>This type of outputs can be generated for the entire factory, or for each specific line</a:t>
            </a:r>
          </a:p>
        </p:txBody>
      </p:sp>
    </p:spTree>
    <p:extLst>
      <p:ext uri="{BB962C8B-B14F-4D97-AF65-F5344CB8AC3E}">
        <p14:creationId xmlns:p14="http://schemas.microsoft.com/office/powerpoint/2010/main" val="2625108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50" name="Text Placeholder 2">
            <a:hlinkClick r:id="rId9" action="ppaction://hlinksldjump"/>
          </p:cNvPr>
          <p:cNvSpPr>
            <a:spLocks noGrp="1"/>
          </p:cNvSpPr>
          <p:nvPr>
            <p:custDataLst>
              <p:tags r:id="rId2"/>
            </p:custDataLst>
          </p:nvPr>
        </p:nvSpPr>
        <p:spPr bwMode="gray">
          <a:xfrm>
            <a:off x="1806575" y="24114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b="0" dirty="0">
                <a:solidFill>
                  <a:srgbClr val="263238"/>
                </a:solidFill>
              </a:rPr>
              <a:t>The need for a factory simulation model</a:t>
            </a:r>
          </a:p>
        </p:txBody>
      </p:sp>
      <p:sp>
        <p:nvSpPr>
          <p:cNvPr id="52" name="Text Placeholder 2">
            <a:hlinkClick r:id="rId10" action="ppaction://hlinksldjump"/>
          </p:cNvPr>
          <p:cNvSpPr>
            <a:spLocks noGrp="1"/>
          </p:cNvSpPr>
          <p:nvPr>
            <p:custDataLst>
              <p:tags r:id="rId3"/>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description and illustrative example</a:t>
            </a:r>
          </a:p>
        </p:txBody>
      </p:sp>
      <p:sp>
        <p:nvSpPr>
          <p:cNvPr id="9" name="Text Placeholder 2"/>
          <p:cNvSpPr>
            <a:spLocks noGrp="1"/>
          </p:cNvSpPr>
          <p:nvPr>
            <p:custDataLst>
              <p:tags r:id="rId4"/>
            </p:custDataLst>
          </p:nvPr>
        </p:nvSpPr>
        <p:spPr bwMode="gray">
          <a:xfrm>
            <a:off x="1806575" y="3225800"/>
            <a:ext cx="6483350" cy="406400"/>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dirty="0">
                <a:solidFill>
                  <a:srgbClr val="263238"/>
                </a:solidFill>
              </a:rPr>
              <a:t>How the model functions under the hood</a:t>
            </a:r>
            <a:endParaRPr lang="en-GB" dirty="0">
              <a:solidFill>
                <a:srgbClr val="263238"/>
              </a:solidFill>
            </a:endParaRPr>
          </a:p>
        </p:txBody>
      </p:sp>
      <p:sp>
        <p:nvSpPr>
          <p:cNvPr id="67" name="Text Placeholder 2">
            <a:hlinkClick r:id="rId11" action="ppaction://hlinksldjump"/>
          </p:cNvPr>
          <p:cNvSpPr>
            <a:spLocks noGrp="1"/>
          </p:cNvSpPr>
          <p:nvPr>
            <p:custDataLst>
              <p:tags r:id="rId5"/>
            </p:custDataLst>
          </p:nvPr>
        </p:nvSpPr>
        <p:spPr bwMode="gray">
          <a:xfrm>
            <a:off x="1806575" y="3632200"/>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infrastructure and scalability to other applications</a:t>
            </a:r>
          </a:p>
        </p:txBody>
      </p:sp>
      <p:sp>
        <p:nvSpPr>
          <p:cNvPr id="54" name="Text Placeholder 2">
            <a:hlinkClick r:id="rId12" action="ppaction://hlinksldjump"/>
          </p:cNvPr>
          <p:cNvSpPr>
            <a:spLocks noGrp="1"/>
          </p:cNvSpPr>
          <p:nvPr>
            <p:custDataLst>
              <p:tags r:id="rId6"/>
            </p:custDataLst>
          </p:nvPr>
        </p:nvSpPr>
        <p:spPr bwMode="gray">
          <a:xfrm>
            <a:off x="1806575" y="40401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How to make it function on your pc (installation)</a:t>
            </a:r>
          </a:p>
        </p:txBody>
      </p:sp>
    </p:spTree>
    <p:extLst>
      <p:ext uri="{BB962C8B-B14F-4D97-AF65-F5344CB8AC3E}">
        <p14:creationId xmlns:p14="http://schemas.microsoft.com/office/powerpoint/2010/main" val="3834535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simulation model has been implemented following a relatively simple and visual process which can be adapted to different needs</a:t>
            </a:r>
          </a:p>
        </p:txBody>
      </p:sp>
      <p:sp>
        <p:nvSpPr>
          <p:cNvPr id="3" name="TextBox 2"/>
          <p:cNvSpPr txBox="1"/>
          <p:nvPr/>
        </p:nvSpPr>
        <p:spPr>
          <a:xfrm>
            <a:off x="365761" y="1109845"/>
            <a:ext cx="9133839"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following pages illustrates  from an “object oriented” viewpoint the process that has been coded in software to implement the factory simulation</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selected process is one among many possible choices, it can be changed easily by modifying the simulation code if a different process can better represent the problem at hand</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current implementation is proposed with three key aims:</a:t>
            </a:r>
          </a:p>
          <a:p>
            <a:pPr marL="446088" lvl="2" indent="-180975" algn="l">
              <a:spcBef>
                <a:spcPts val="300"/>
              </a:spcBef>
              <a:spcAft>
                <a:spcPts val="0"/>
              </a:spcAft>
              <a:buClr>
                <a:schemeClr val="accent2">
                  <a:lumMod val="100000"/>
                </a:schemeClr>
              </a:buClr>
              <a:buSzPct val="130000"/>
              <a:buFont typeface="Arial" panose="020B0604020202020204" pitchFamily="34" charset="0"/>
              <a:buChar char="›"/>
            </a:pPr>
            <a:r>
              <a:rPr lang="en-GB" sz="1600" b="0" dirty="0">
                <a:solidFill>
                  <a:srgbClr val="263238"/>
                </a:solidFill>
              </a:rPr>
              <a:t>Provide a tool that is effective and that can be applied on real assignments</a:t>
            </a:r>
          </a:p>
          <a:p>
            <a:pPr marL="446088" lvl="2" indent="-180975" algn="l">
              <a:spcBef>
                <a:spcPts val="300"/>
              </a:spcBef>
              <a:spcAft>
                <a:spcPts val="0"/>
              </a:spcAft>
              <a:buClr>
                <a:schemeClr val="accent2">
                  <a:lumMod val="100000"/>
                </a:schemeClr>
              </a:buClr>
              <a:buSzPct val="130000"/>
              <a:buFont typeface="Arial" panose="020B0604020202020204" pitchFamily="34" charset="0"/>
              <a:buChar char="›"/>
            </a:pPr>
            <a:r>
              <a:rPr lang="en-GB" sz="1600" b="0" dirty="0">
                <a:solidFill>
                  <a:srgbClr val="263238"/>
                </a:solidFill>
              </a:rPr>
              <a:t>Make the basic tool as simple as possible to facilitate the understanding of the underlying technology and methodology</a:t>
            </a:r>
          </a:p>
          <a:p>
            <a:pPr marL="446088" lvl="2" indent="-180975" algn="l">
              <a:spcBef>
                <a:spcPts val="300"/>
              </a:spcBef>
              <a:spcAft>
                <a:spcPts val="0"/>
              </a:spcAft>
              <a:buClr>
                <a:schemeClr val="accent2">
                  <a:lumMod val="100000"/>
                </a:schemeClr>
              </a:buClr>
              <a:buSzPct val="130000"/>
              <a:buFont typeface="Arial" panose="020B0604020202020204" pitchFamily="34" charset="0"/>
              <a:buChar char="›"/>
            </a:pPr>
            <a:r>
              <a:rPr lang="en-GB" sz="1600" b="0" dirty="0">
                <a:solidFill>
                  <a:srgbClr val="263238"/>
                </a:solidFill>
              </a:rPr>
              <a:t>Provide an example of what can be done with the framework by working on the software code which is released open source</a:t>
            </a:r>
          </a:p>
        </p:txBody>
      </p:sp>
      <p:sp>
        <p:nvSpPr>
          <p:cNvPr id="88" name="TextBox 87"/>
          <p:cNvSpPr txBox="1"/>
          <p:nvPr/>
        </p:nvSpPr>
        <p:spPr>
          <a:xfrm>
            <a:off x="657361" y="4106728"/>
            <a:ext cx="850187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300"/>
              </a:spcBef>
              <a:spcAft>
                <a:spcPts val="0"/>
              </a:spcAft>
              <a:buClr>
                <a:schemeClr val="accent2">
                  <a:lumMod val="100000"/>
                </a:schemeClr>
              </a:buClr>
              <a:buSzPct val="95000"/>
            </a:pPr>
            <a:r>
              <a:rPr lang="en-GB" sz="1600" b="0" dirty="0">
                <a:solidFill>
                  <a:srgbClr val="263238"/>
                </a:solidFill>
              </a:rPr>
              <a:t>Some live “objects” are instantiated in software, and are listed as follows:</a:t>
            </a:r>
          </a:p>
        </p:txBody>
      </p:sp>
      <p:pic>
        <p:nvPicPr>
          <p:cNvPr id="36" name="Picture 35"/>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14992" y="4775280"/>
            <a:ext cx="526861" cy="526861"/>
          </a:xfrm>
          <a:prstGeom prst="rect">
            <a:avLst/>
          </a:prstGeom>
        </p:spPr>
      </p:pic>
      <p:pic>
        <p:nvPicPr>
          <p:cNvPr id="39" name="Picture 38"/>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6007" y="4851050"/>
            <a:ext cx="375321" cy="375321"/>
          </a:xfrm>
          <a:prstGeom prst="rect">
            <a:avLst/>
          </a:prstGeom>
        </p:spPr>
      </p:pic>
      <p:sp>
        <p:nvSpPr>
          <p:cNvPr id="40" name="Pentagon 39"/>
          <p:cNvSpPr/>
          <p:nvPr/>
        </p:nvSpPr>
        <p:spPr bwMode="auto">
          <a:xfrm>
            <a:off x="811041" y="4838286"/>
            <a:ext cx="797735" cy="400849"/>
          </a:xfrm>
          <a:prstGeom prst="homePlate">
            <a:avLst>
              <a:gd name="adj" fmla="val 24324"/>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r>
              <a:rPr lang="en-GB" sz="1200" dirty="0">
                <a:solidFill>
                  <a:schemeClr val="bg1"/>
                </a:solidFill>
              </a:rPr>
              <a:t>queues</a:t>
            </a:r>
          </a:p>
        </p:txBody>
      </p:sp>
      <p:pic>
        <p:nvPicPr>
          <p:cNvPr id="43" name="Picture 42"/>
          <p:cNvPicPr>
            <a:picLocks noChangeAspect="1"/>
          </p:cNvPicPr>
          <p:nvPr/>
        </p:nvPicPr>
        <p:blipFill rotWithShape="1">
          <a:blip r:embed="rId4">
            <a:duotone>
              <a:schemeClr val="accent1">
                <a:shade val="45000"/>
                <a:satMod val="135000"/>
              </a:schemeClr>
              <a:prstClr val="white"/>
            </a:duotone>
          </a:blip>
          <a:srcRect t="8516" b="8254"/>
          <a:stretch/>
        </p:blipFill>
        <p:spPr>
          <a:xfrm>
            <a:off x="7160236" y="4856881"/>
            <a:ext cx="436934" cy="363660"/>
          </a:xfrm>
          <a:prstGeom prst="rect">
            <a:avLst/>
          </a:prstGeom>
        </p:spPr>
      </p:pic>
      <p:grpSp>
        <p:nvGrpSpPr>
          <p:cNvPr id="45" name="Group 44"/>
          <p:cNvGrpSpPr>
            <a:grpSpLocks noChangeAspect="1"/>
          </p:cNvGrpSpPr>
          <p:nvPr/>
        </p:nvGrpSpPr>
        <p:grpSpPr>
          <a:xfrm>
            <a:off x="4587731" y="4826339"/>
            <a:ext cx="646908" cy="424744"/>
            <a:chOff x="965200" y="3674742"/>
            <a:chExt cx="1391294" cy="913489"/>
          </a:xfrm>
        </p:grpSpPr>
        <p:sp>
          <p:nvSpPr>
            <p:cNvPr id="47" name="Folded Corner 46"/>
            <p:cNvSpPr/>
            <p:nvPr/>
          </p:nvSpPr>
          <p:spPr bwMode="auto">
            <a:xfrm>
              <a:off x="965200" y="3674742"/>
              <a:ext cx="1391294" cy="913489"/>
            </a:xfrm>
            <a:prstGeom prst="foldedCorner">
              <a:avLst/>
            </a:prstGeom>
            <a:solidFill>
              <a:schemeClr val="bg1"/>
            </a:solid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nvGrpSpPr>
            <p:cNvPr id="50" name="Group 49"/>
            <p:cNvGrpSpPr/>
            <p:nvPr/>
          </p:nvGrpSpPr>
          <p:grpSpPr>
            <a:xfrm>
              <a:off x="1088475" y="3781877"/>
              <a:ext cx="1057888" cy="705780"/>
              <a:chOff x="-920978" y="1675227"/>
              <a:chExt cx="825457" cy="550710"/>
            </a:xfrm>
          </p:grpSpPr>
          <p:cxnSp>
            <p:nvCxnSpPr>
              <p:cNvPr id="52" name="Straight Connector 51"/>
              <p:cNvCxnSpPr/>
              <p:nvPr/>
            </p:nvCxnSpPr>
            <p:spPr bwMode="auto">
              <a:xfrm flipV="1">
                <a:off x="-868363" y="1719263"/>
                <a:ext cx="355600" cy="209550"/>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53" name="Straight Connector 52"/>
              <p:cNvCxnSpPr/>
              <p:nvPr/>
            </p:nvCxnSpPr>
            <p:spPr bwMode="auto">
              <a:xfrm>
                <a:off x="-873125" y="1928814"/>
                <a:ext cx="358775" cy="250824"/>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54" name="Straight Connector 53"/>
              <p:cNvCxnSpPr/>
              <p:nvPr/>
            </p:nvCxnSpPr>
            <p:spPr bwMode="auto">
              <a:xfrm>
                <a:off x="-873125" y="1930400"/>
                <a:ext cx="388937" cy="2063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55" name="Straight Connector 54"/>
              <p:cNvCxnSpPr/>
              <p:nvPr/>
            </p:nvCxnSpPr>
            <p:spPr bwMode="auto">
              <a:xfrm>
                <a:off x="-477838" y="1951038"/>
                <a:ext cx="288925" cy="182562"/>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56" name="Straight Connector 55"/>
              <p:cNvCxnSpPr/>
              <p:nvPr/>
            </p:nvCxnSpPr>
            <p:spPr bwMode="auto">
              <a:xfrm>
                <a:off x="-482600" y="1946275"/>
                <a:ext cx="341312" cy="2698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57" name="Straight Connector 56"/>
              <p:cNvCxnSpPr/>
              <p:nvPr/>
            </p:nvCxnSpPr>
            <p:spPr bwMode="auto">
              <a:xfrm flipV="1">
                <a:off x="-482600" y="1830388"/>
                <a:ext cx="312737" cy="119062"/>
              </a:xfrm>
              <a:prstGeom prst="line">
                <a:avLst/>
              </a:prstGeom>
              <a:solidFill>
                <a:schemeClr val="bg1"/>
              </a:solidFill>
              <a:ln w="9525" cap="flat" cmpd="sng" algn="ctr">
                <a:solidFill>
                  <a:srgbClr val="66757D"/>
                </a:solidFill>
                <a:prstDash val="solid"/>
                <a:round/>
                <a:headEnd type="none" w="med" len="med"/>
                <a:tailEnd type="none" w="med" len="med"/>
              </a:ln>
              <a:effectLst/>
            </p:spPr>
          </p:cxnSp>
          <p:sp>
            <p:nvSpPr>
              <p:cNvPr id="58" name="Oval 57"/>
              <p:cNvSpPr/>
              <p:nvPr/>
            </p:nvSpPr>
            <p:spPr bwMode="auto">
              <a:xfrm>
                <a:off x="-920978" y="188001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9" name="Oval 58"/>
              <p:cNvSpPr/>
              <p:nvPr/>
            </p:nvSpPr>
            <p:spPr bwMode="auto">
              <a:xfrm>
                <a:off x="-565378" y="16752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0" name="Oval 59"/>
              <p:cNvSpPr/>
              <p:nvPr/>
            </p:nvSpPr>
            <p:spPr bwMode="auto">
              <a:xfrm>
                <a:off x="-527991" y="19038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1" name="Oval 60"/>
              <p:cNvSpPr/>
              <p:nvPr/>
            </p:nvSpPr>
            <p:spPr bwMode="auto">
              <a:xfrm>
                <a:off x="-560506" y="21324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2" name="Oval 61"/>
              <p:cNvSpPr/>
              <p:nvPr/>
            </p:nvSpPr>
            <p:spPr bwMode="auto">
              <a:xfrm>
                <a:off x="-216019" y="178650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3" name="Oval 62"/>
              <p:cNvSpPr/>
              <p:nvPr/>
            </p:nvSpPr>
            <p:spPr bwMode="auto">
              <a:xfrm>
                <a:off x="-189031" y="1926770"/>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64" name="Oval 63"/>
              <p:cNvSpPr/>
              <p:nvPr/>
            </p:nvSpPr>
            <p:spPr bwMode="auto">
              <a:xfrm>
                <a:off x="-235786" y="2082041"/>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grpSp>
      <p:pic>
        <p:nvPicPr>
          <p:cNvPr id="65" name="Picture 64"/>
          <p:cNvPicPr>
            <a:picLocks noChangeAspect="1"/>
          </p:cNvPicPr>
          <p:nvPr/>
        </p:nvPicPr>
        <p:blipFill>
          <a:blip r:embed="rId5">
            <a:duotone>
              <a:schemeClr val="accent1">
                <a:shade val="45000"/>
                <a:satMod val="135000"/>
              </a:schemeClr>
              <a:prstClr val="white"/>
            </a:duotone>
          </a:blip>
          <a:stretch>
            <a:fillRect/>
          </a:stretch>
        </p:blipFill>
        <p:spPr>
          <a:xfrm>
            <a:off x="8393993" y="4820244"/>
            <a:ext cx="436934" cy="436934"/>
          </a:xfrm>
          <a:prstGeom prst="rect">
            <a:avLst/>
          </a:prstGeom>
        </p:spPr>
      </p:pic>
      <p:pic>
        <p:nvPicPr>
          <p:cNvPr id="76" name="Picture 75"/>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891691" y="4785457"/>
            <a:ext cx="506507" cy="506507"/>
          </a:xfrm>
          <a:prstGeom prst="rect">
            <a:avLst/>
          </a:prstGeom>
        </p:spPr>
      </p:pic>
      <p:sp>
        <p:nvSpPr>
          <p:cNvPr id="5" name="Rectangle 4"/>
          <p:cNvSpPr/>
          <p:nvPr/>
        </p:nvSpPr>
        <p:spPr>
          <a:xfrm>
            <a:off x="626881" y="5372740"/>
            <a:ext cx="1166054" cy="246221"/>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queues</a:t>
            </a:r>
          </a:p>
        </p:txBody>
      </p:sp>
      <p:sp>
        <p:nvSpPr>
          <p:cNvPr id="81" name="Rectangle 80"/>
          <p:cNvSpPr/>
          <p:nvPr/>
        </p:nvSpPr>
        <p:spPr>
          <a:xfrm>
            <a:off x="3094399" y="5372740"/>
            <a:ext cx="1166054" cy="246221"/>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work cells</a:t>
            </a:r>
          </a:p>
        </p:txBody>
      </p:sp>
      <p:sp>
        <p:nvSpPr>
          <p:cNvPr id="82" name="Rectangle 81"/>
          <p:cNvSpPr/>
          <p:nvPr/>
        </p:nvSpPr>
        <p:spPr>
          <a:xfrm>
            <a:off x="4328158" y="5372740"/>
            <a:ext cx="1166054" cy="492443"/>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bill of materials</a:t>
            </a:r>
          </a:p>
        </p:txBody>
      </p:sp>
      <p:sp>
        <p:nvSpPr>
          <p:cNvPr id="83" name="Rectangle 82"/>
          <p:cNvSpPr/>
          <p:nvPr/>
        </p:nvSpPr>
        <p:spPr>
          <a:xfrm>
            <a:off x="5561917" y="5372740"/>
            <a:ext cx="1166054" cy="246221"/>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warehouse</a:t>
            </a:r>
          </a:p>
        </p:txBody>
      </p:sp>
      <p:sp>
        <p:nvSpPr>
          <p:cNvPr id="84" name="Rectangle 83"/>
          <p:cNvSpPr/>
          <p:nvPr/>
        </p:nvSpPr>
        <p:spPr>
          <a:xfrm>
            <a:off x="6795676" y="5372740"/>
            <a:ext cx="1166054" cy="738664"/>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empty production boxes</a:t>
            </a:r>
          </a:p>
        </p:txBody>
      </p:sp>
      <p:sp>
        <p:nvSpPr>
          <p:cNvPr id="85" name="Rectangle 84"/>
          <p:cNvSpPr/>
          <p:nvPr/>
        </p:nvSpPr>
        <p:spPr>
          <a:xfrm>
            <a:off x="8029433" y="5372740"/>
            <a:ext cx="1166054" cy="738664"/>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filled production boxes </a:t>
            </a:r>
          </a:p>
        </p:txBody>
      </p:sp>
      <p:sp>
        <p:nvSpPr>
          <p:cNvPr id="86" name="Rectangle 85"/>
          <p:cNvSpPr/>
          <p:nvPr/>
        </p:nvSpPr>
        <p:spPr>
          <a:xfrm>
            <a:off x="1860640" y="5372740"/>
            <a:ext cx="1166054" cy="246221"/>
          </a:xfrm>
          <a:prstGeom prst="rect">
            <a:avLst/>
          </a:prstGeom>
        </p:spPr>
        <p:txBody>
          <a:bodyPr wrap="square" lIns="0" tIns="0" rIns="0" bIns="0">
            <a:spAutoFit/>
          </a:bodyPr>
          <a:lstStyle/>
          <a:p>
            <a:pPr marL="0" lvl="2">
              <a:spcBef>
                <a:spcPts val="300"/>
              </a:spcBef>
              <a:spcAft>
                <a:spcPts val="0"/>
              </a:spcAft>
              <a:buClr>
                <a:schemeClr val="accent2">
                  <a:lumMod val="100000"/>
                </a:schemeClr>
              </a:buClr>
              <a:buSzPct val="130000"/>
            </a:pPr>
            <a:r>
              <a:rPr lang="en-GB" sz="1600" b="0" dirty="0">
                <a:solidFill>
                  <a:srgbClr val="263238"/>
                </a:solidFill>
              </a:rPr>
              <a:t>blue collars</a:t>
            </a:r>
          </a:p>
        </p:txBody>
      </p:sp>
      <p:sp>
        <p:nvSpPr>
          <p:cNvPr id="6" name="Rectangle 5"/>
          <p:cNvSpPr/>
          <p:nvPr/>
        </p:nvSpPr>
        <p:spPr bwMode="auto">
          <a:xfrm>
            <a:off x="436880" y="4038600"/>
            <a:ext cx="9032240" cy="2260600"/>
          </a:xfrm>
          <a:prstGeom prst="rect">
            <a:avLst/>
          </a:prstGeom>
          <a:noFill/>
          <a:ln w="19050" cap="flat" cmpd="sng" algn="ctr">
            <a:solidFill>
              <a:srgbClr val="167D9A"/>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cxnSp>
        <p:nvCxnSpPr>
          <p:cNvPr id="16" name="Straight Connector 15"/>
          <p:cNvCxnSpPr/>
          <p:nvPr/>
        </p:nvCxnSpPr>
        <p:spPr bwMode="auto">
          <a:xfrm>
            <a:off x="436880" y="4434840"/>
            <a:ext cx="9032240"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08629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simulation is initiated creating the objects that will last for the entire duration and running the time-line from start to end</a:t>
            </a:r>
          </a:p>
        </p:txBody>
      </p:sp>
      <p:sp>
        <p:nvSpPr>
          <p:cNvPr id="3" name="TextBox 2"/>
          <p:cNvSpPr txBox="1"/>
          <p:nvPr/>
        </p:nvSpPr>
        <p:spPr>
          <a:xfrm>
            <a:off x="365761" y="1109845"/>
            <a:ext cx="9390032"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time is run from the initial time to the end time (such dates are in the “</a:t>
            </a:r>
            <a:r>
              <a:rPr lang="en-GB" sz="1600" i="1" dirty="0">
                <a:solidFill>
                  <a:srgbClr val="263238"/>
                </a:solidFill>
              </a:rPr>
              <a:t>shifts</a:t>
            </a:r>
            <a:r>
              <a:rPr lang="en-GB" sz="1600" b="0" dirty="0">
                <a:solidFill>
                  <a:srgbClr val="263238"/>
                </a:solidFill>
              </a:rPr>
              <a:t>” sheet)</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work stations listed in the “</a:t>
            </a:r>
            <a:r>
              <a:rPr lang="en-GB" sz="1600" dirty="0" err="1">
                <a:solidFill>
                  <a:srgbClr val="263238"/>
                </a:solidFill>
              </a:rPr>
              <a:t>work_cells</a:t>
            </a:r>
            <a:r>
              <a:rPr lang="en-GB" sz="1600" b="0" dirty="0">
                <a:solidFill>
                  <a:srgbClr val="263238"/>
                </a:solidFill>
              </a:rPr>
              <a:t>” sheet are created, waiting for an incoming queue of codes to be produced</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number of blue collars from the “</a:t>
            </a:r>
            <a:r>
              <a:rPr lang="en-GB" sz="1600" i="1" dirty="0">
                <a:solidFill>
                  <a:srgbClr val="263238"/>
                </a:solidFill>
              </a:rPr>
              <a:t>shifts</a:t>
            </a:r>
            <a:r>
              <a:rPr lang="en-GB" sz="1600" b="0" dirty="0">
                <a:solidFill>
                  <a:srgbClr val="263238"/>
                </a:solidFill>
              </a:rPr>
              <a:t>” worksheet is put in waiting, to be called when products, components, or subcomponents will need to be produced</a:t>
            </a:r>
          </a:p>
        </p:txBody>
      </p:sp>
      <p:cxnSp>
        <p:nvCxnSpPr>
          <p:cNvPr id="7" name="Straight Arrow Connector 6"/>
          <p:cNvCxnSpPr/>
          <p:nvPr/>
        </p:nvCxnSpPr>
        <p:spPr bwMode="auto">
          <a:xfrm>
            <a:off x="436880" y="2791209"/>
            <a:ext cx="8564880" cy="0"/>
          </a:xfrm>
          <a:prstGeom prst="straightConnector1">
            <a:avLst/>
          </a:prstGeom>
          <a:solidFill>
            <a:schemeClr val="accent1"/>
          </a:solidFill>
          <a:ln w="19050" cap="flat" cmpd="sng" algn="ctr">
            <a:solidFill>
              <a:srgbClr val="0F766E"/>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a:xfrm>
            <a:off x="1650224" y="2506888"/>
            <a:ext cx="42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time</a:t>
            </a:r>
          </a:p>
        </p:txBody>
      </p:sp>
      <p:pic>
        <p:nvPicPr>
          <p:cNvPr id="9" name="Picture 8"/>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181765" y="3420081"/>
            <a:ext cx="526861" cy="526861"/>
          </a:xfrm>
          <a:prstGeom prst="rect">
            <a:avLst/>
          </a:prstGeom>
        </p:spPr>
      </p:pic>
      <p:pic>
        <p:nvPicPr>
          <p:cNvPr id="10" name="Picture 9"/>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69252" y="4421018"/>
            <a:ext cx="470875" cy="470875"/>
          </a:xfrm>
          <a:prstGeom prst="rect">
            <a:avLst/>
          </a:prstGeom>
        </p:spPr>
      </p:pic>
      <p:pic>
        <p:nvPicPr>
          <p:cNvPr id="11" name="Picture 10"/>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585494" y="4956248"/>
            <a:ext cx="375321" cy="375321"/>
          </a:xfrm>
          <a:prstGeom prst="rect">
            <a:avLst/>
          </a:prstGeom>
        </p:spPr>
      </p:pic>
      <p:pic>
        <p:nvPicPr>
          <p:cNvPr id="12" name="Picture 11"/>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1192" y="5459168"/>
            <a:ext cx="375321" cy="375321"/>
          </a:xfrm>
          <a:prstGeom prst="rect">
            <a:avLst/>
          </a:prstGeom>
        </p:spPr>
      </p:pic>
      <p:pic>
        <p:nvPicPr>
          <p:cNvPr id="13" name="Picture 12"/>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1192" y="6044184"/>
            <a:ext cx="375321" cy="375321"/>
          </a:xfrm>
          <a:prstGeom prst="rect">
            <a:avLst/>
          </a:prstGeom>
        </p:spPr>
      </p:pic>
      <p:cxnSp>
        <p:nvCxnSpPr>
          <p:cNvPr id="15" name="Elbow Connector 14"/>
          <p:cNvCxnSpPr>
            <a:stCxn id="10" idx="2"/>
            <a:endCxn id="11" idx="1"/>
          </p:cNvCxnSpPr>
          <p:nvPr/>
        </p:nvCxnSpPr>
        <p:spPr bwMode="auto">
          <a:xfrm rot="16200000" flipH="1">
            <a:off x="1319084" y="4877499"/>
            <a:ext cx="252016" cy="280804"/>
          </a:xfrm>
          <a:prstGeom prst="bentConnector2">
            <a:avLst/>
          </a:prstGeom>
          <a:solidFill>
            <a:schemeClr val="accent1"/>
          </a:solidFill>
          <a:ln w="19050" cap="flat" cmpd="sng" algn="ctr">
            <a:solidFill>
              <a:srgbClr val="0F766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Elbow Connector 17"/>
          <p:cNvCxnSpPr>
            <a:stCxn id="10" idx="2"/>
            <a:endCxn id="12" idx="1"/>
          </p:cNvCxnSpPr>
          <p:nvPr/>
        </p:nvCxnSpPr>
        <p:spPr bwMode="auto">
          <a:xfrm rot="16200000" flipH="1">
            <a:off x="1080473" y="5116110"/>
            <a:ext cx="754936" cy="306502"/>
          </a:xfrm>
          <a:prstGeom prst="bentConnector2">
            <a:avLst/>
          </a:prstGeom>
          <a:solidFill>
            <a:schemeClr val="accent1"/>
          </a:solidFill>
          <a:ln w="19050" cap="flat" cmpd="sng" algn="ctr">
            <a:solidFill>
              <a:srgbClr val="0F766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Elbow Connector 19"/>
          <p:cNvCxnSpPr>
            <a:stCxn id="10" idx="2"/>
            <a:endCxn id="13" idx="1"/>
          </p:cNvCxnSpPr>
          <p:nvPr/>
        </p:nvCxnSpPr>
        <p:spPr bwMode="auto">
          <a:xfrm rot="16200000" flipH="1">
            <a:off x="787965" y="5408618"/>
            <a:ext cx="1339952" cy="306502"/>
          </a:xfrm>
          <a:prstGeom prst="bentConnector2">
            <a:avLst/>
          </a:prstGeom>
          <a:solidFill>
            <a:schemeClr val="accent1"/>
          </a:solidFill>
          <a:ln w="19050" cap="flat" cmpd="sng" algn="ctr">
            <a:solidFill>
              <a:srgbClr val="0F766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4" name="Picture 23"/>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035205" y="3420081"/>
            <a:ext cx="526861" cy="526861"/>
          </a:xfrm>
          <a:prstGeom prst="rect">
            <a:avLst/>
          </a:prstGeom>
        </p:spPr>
      </p:pic>
      <p:pic>
        <p:nvPicPr>
          <p:cNvPr id="25" name="Picture 24"/>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888645" y="3420081"/>
            <a:ext cx="526861" cy="526861"/>
          </a:xfrm>
          <a:prstGeom prst="rect">
            <a:avLst/>
          </a:prstGeom>
        </p:spPr>
      </p:pic>
      <p:pic>
        <p:nvPicPr>
          <p:cNvPr id="26" name="Picture 25"/>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181765" y="4019521"/>
            <a:ext cx="526861" cy="526861"/>
          </a:xfrm>
          <a:prstGeom prst="rect">
            <a:avLst/>
          </a:prstGeom>
        </p:spPr>
      </p:pic>
      <p:pic>
        <p:nvPicPr>
          <p:cNvPr id="27" name="Picture 26"/>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035205" y="4019521"/>
            <a:ext cx="526861" cy="526861"/>
          </a:xfrm>
          <a:prstGeom prst="rect">
            <a:avLst/>
          </a:prstGeom>
        </p:spPr>
      </p:pic>
      <p:pic>
        <p:nvPicPr>
          <p:cNvPr id="28" name="Picture 27"/>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888645" y="4019521"/>
            <a:ext cx="526861" cy="526861"/>
          </a:xfrm>
          <a:prstGeom prst="rect">
            <a:avLst/>
          </a:prstGeom>
        </p:spPr>
      </p:pic>
      <p:sp>
        <p:nvSpPr>
          <p:cNvPr id="29" name="Oval 28"/>
          <p:cNvSpPr/>
          <p:nvPr/>
        </p:nvSpPr>
        <p:spPr bwMode="auto">
          <a:xfrm>
            <a:off x="4912360" y="2715009"/>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0" name="Oval 29"/>
          <p:cNvSpPr/>
          <p:nvPr/>
        </p:nvSpPr>
        <p:spPr bwMode="auto">
          <a:xfrm>
            <a:off x="5577840" y="2715009"/>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1" name="Oval 30"/>
          <p:cNvSpPr/>
          <p:nvPr/>
        </p:nvSpPr>
        <p:spPr bwMode="auto">
          <a:xfrm>
            <a:off x="6283960" y="2715009"/>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2" name="Oval 31"/>
          <p:cNvSpPr/>
          <p:nvPr/>
        </p:nvSpPr>
        <p:spPr bwMode="auto">
          <a:xfrm>
            <a:off x="7188200" y="2715009"/>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3" name="Oval 32"/>
          <p:cNvSpPr/>
          <p:nvPr/>
        </p:nvSpPr>
        <p:spPr bwMode="auto">
          <a:xfrm>
            <a:off x="7980680" y="2715009"/>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4" name="TextBox 33"/>
          <p:cNvSpPr txBox="1"/>
          <p:nvPr/>
        </p:nvSpPr>
        <p:spPr>
          <a:xfrm>
            <a:off x="2181765" y="3118804"/>
            <a:ext cx="102380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Work cells</a:t>
            </a:r>
          </a:p>
        </p:txBody>
      </p:sp>
      <p:sp>
        <p:nvSpPr>
          <p:cNvPr id="35" name="TextBox 34"/>
          <p:cNvSpPr txBox="1"/>
          <p:nvPr/>
        </p:nvSpPr>
        <p:spPr>
          <a:xfrm>
            <a:off x="2181765" y="5075897"/>
            <a:ext cx="116378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Blue collars</a:t>
            </a:r>
          </a:p>
        </p:txBody>
      </p:sp>
      <p:cxnSp>
        <p:nvCxnSpPr>
          <p:cNvPr id="37" name="Straight Arrow Connector 36"/>
          <p:cNvCxnSpPr/>
          <p:nvPr/>
        </p:nvCxnSpPr>
        <p:spPr bwMode="auto">
          <a:xfrm>
            <a:off x="2118360" y="2661740"/>
            <a:ext cx="1264920" cy="0"/>
          </a:xfrm>
          <a:prstGeom prst="straightConnector1">
            <a:avLst/>
          </a:prstGeom>
          <a:solidFill>
            <a:schemeClr val="accent1"/>
          </a:solidFill>
          <a:ln w="19050" cap="flat" cmpd="sng" algn="ctr">
            <a:solidFill>
              <a:srgbClr val="263238"/>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Pentagon 40"/>
          <p:cNvSpPr/>
          <p:nvPr/>
        </p:nvSpPr>
        <p:spPr bwMode="auto">
          <a:xfrm>
            <a:off x="974952" y="3442175"/>
            <a:ext cx="965977" cy="482672"/>
          </a:xfrm>
          <a:prstGeom prst="homePlate">
            <a:avLst>
              <a:gd name="adj" fmla="val 24324"/>
            </a:avLst>
          </a:prstGeom>
          <a:solidFill>
            <a:srgbClr val="167D9A"/>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r>
              <a:rPr lang="en-GB" sz="1200" dirty="0">
                <a:solidFill>
                  <a:schemeClr val="bg1"/>
                </a:solidFill>
              </a:rPr>
              <a:t>Codes queue</a:t>
            </a:r>
          </a:p>
        </p:txBody>
      </p:sp>
      <p:sp>
        <p:nvSpPr>
          <p:cNvPr id="42" name="TextBox 41"/>
          <p:cNvSpPr txBox="1"/>
          <p:nvPr/>
        </p:nvSpPr>
        <p:spPr>
          <a:xfrm>
            <a:off x="5176546" y="3377605"/>
            <a:ext cx="242694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Products to be produced</a:t>
            </a:r>
          </a:p>
        </p:txBody>
      </p:sp>
      <p:sp>
        <p:nvSpPr>
          <p:cNvPr id="44" name="Left Brace 43"/>
          <p:cNvSpPr/>
          <p:nvPr/>
        </p:nvSpPr>
        <p:spPr bwMode="auto">
          <a:xfrm rot="16200000">
            <a:off x="6369477" y="1433319"/>
            <a:ext cx="335601" cy="3425289"/>
          </a:xfrm>
          <a:prstGeom prst="leftBrace">
            <a:avLst>
              <a:gd name="adj1" fmla="val 0"/>
              <a:gd name="adj2" fmla="val 13071"/>
            </a:avLst>
          </a:prstGeom>
          <a:noFill/>
          <a:ln w="19050" cap="flat" cmpd="sng" algn="ctr">
            <a:solidFill>
              <a:srgbClr val="263238"/>
            </a:solidFill>
            <a:prstDash val="solid"/>
            <a:round/>
            <a:headEnd type="none" w="med" len="med"/>
            <a:tailEnd type="none" w="med" len="med"/>
          </a:ln>
          <a:effectLst/>
        </p:spPr>
        <p:txBody>
          <a:bodyPr rtlCol="0" anchor="ctr"/>
          <a:lstStyle/>
          <a:p>
            <a:pPr algn="ctr"/>
            <a:endParaRPr lang="en-GB"/>
          </a:p>
        </p:txBody>
      </p:sp>
      <p:sp>
        <p:nvSpPr>
          <p:cNvPr id="46" name="Rectangle 45"/>
          <p:cNvSpPr/>
          <p:nvPr/>
        </p:nvSpPr>
        <p:spPr bwMode="auto">
          <a:xfrm>
            <a:off x="609600" y="2926080"/>
            <a:ext cx="4048760" cy="3693160"/>
          </a:xfrm>
          <a:prstGeom prst="rect">
            <a:avLst/>
          </a:prstGeom>
          <a:noFill/>
          <a:ln w="19050" cap="flat" cmpd="sng" algn="ctr">
            <a:solidFill>
              <a:srgbClr val="263238"/>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dirty="0" err="1"/>
          </a:p>
        </p:txBody>
      </p:sp>
      <p:sp>
        <p:nvSpPr>
          <p:cNvPr id="48" name="Isosceles Triangle 47"/>
          <p:cNvSpPr/>
          <p:nvPr/>
        </p:nvSpPr>
        <p:spPr bwMode="auto">
          <a:xfrm rot="10800000">
            <a:off x="504961" y="2519495"/>
            <a:ext cx="304800" cy="219126"/>
          </a:xfrm>
          <a:prstGeom prst="triangl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49" name="TextBox 48"/>
          <p:cNvSpPr txBox="1"/>
          <p:nvPr/>
        </p:nvSpPr>
        <p:spPr>
          <a:xfrm>
            <a:off x="4958093" y="5347518"/>
            <a:ext cx="263144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Elements that last for the entire simulation are initiated at time zero</a:t>
            </a:r>
          </a:p>
        </p:txBody>
      </p:sp>
      <p:cxnSp>
        <p:nvCxnSpPr>
          <p:cNvPr id="51" name="Straight Connector 50"/>
          <p:cNvCxnSpPr/>
          <p:nvPr/>
        </p:nvCxnSpPr>
        <p:spPr bwMode="auto">
          <a:xfrm>
            <a:off x="4658360" y="5516880"/>
            <a:ext cx="254000" cy="0"/>
          </a:xfrm>
          <a:prstGeom prst="line">
            <a:avLst/>
          </a:prstGeom>
          <a:noFill/>
          <a:ln w="19050" cap="flat" cmpd="sng" algn="ctr">
            <a:solidFill>
              <a:srgbClr val="263238"/>
            </a:solidFill>
            <a:prstDash val="solid"/>
            <a:round/>
            <a:headEnd type="none" w="med" len="med"/>
            <a:tailEnd type="none" w="med" len="med"/>
          </a:ln>
          <a:effectLst/>
        </p:spPr>
      </p:cxnSp>
    </p:spTree>
    <p:extLst>
      <p:ext uri="{BB962C8B-B14F-4D97-AF65-F5344CB8AC3E}">
        <p14:creationId xmlns:p14="http://schemas.microsoft.com/office/powerpoint/2010/main" val="1202398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When a production of a final product is started, the bill of material is recursively looked up to schedule the production of components</a:t>
            </a:r>
          </a:p>
        </p:txBody>
      </p:sp>
      <p:sp>
        <p:nvSpPr>
          <p:cNvPr id="3" name="TextBox 2"/>
          <p:cNvSpPr txBox="1"/>
          <p:nvPr/>
        </p:nvSpPr>
        <p:spPr>
          <a:xfrm>
            <a:off x="365761" y="1109845"/>
            <a:ext cx="9390032"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Scanning the “</a:t>
            </a:r>
            <a:r>
              <a:rPr lang="en-GB" sz="1600" i="1" dirty="0" err="1">
                <a:solidFill>
                  <a:srgbClr val="263238"/>
                </a:solidFill>
              </a:rPr>
              <a:t>production_start</a:t>
            </a:r>
            <a:r>
              <a:rPr lang="en-GB" sz="1600" b="0" dirty="0">
                <a:solidFill>
                  <a:srgbClr val="263238"/>
                </a:solidFill>
              </a:rPr>
              <a:t>” worksheet, at the time when a product is asked for production a cascade of events are executed:</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An “empty production box” is generated to trigger the production of the code</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a:t>
            </a:r>
            <a:r>
              <a:rPr lang="en-GB" sz="1600" i="1" dirty="0" err="1">
                <a:solidFill>
                  <a:srgbClr val="263238"/>
                </a:solidFill>
              </a:rPr>
              <a:t>bom</a:t>
            </a:r>
            <a:r>
              <a:rPr lang="en-GB" sz="1600" b="0" dirty="0">
                <a:solidFill>
                  <a:srgbClr val="263238"/>
                </a:solidFill>
              </a:rPr>
              <a:t>” sheet is scanned to identify the required components</a:t>
            </a:r>
          </a:p>
          <a:p>
            <a:pPr marL="446088" lvl="2" indent="-180975" algn="l">
              <a:spcBef>
                <a:spcPts val="300"/>
              </a:spcBef>
              <a:spcAft>
                <a:spcPts val="0"/>
              </a:spcAft>
              <a:buClr>
                <a:schemeClr val="accent2">
                  <a:lumMod val="100000"/>
                </a:schemeClr>
              </a:buClr>
              <a:buSzPct val="130000"/>
              <a:buFont typeface="Arial" panose="020B0604020202020204" pitchFamily="34" charset="0"/>
              <a:buChar char="›"/>
            </a:pPr>
            <a:r>
              <a:rPr lang="en-GB" sz="1600" b="0" dirty="0">
                <a:solidFill>
                  <a:srgbClr val="263238"/>
                </a:solidFill>
              </a:rPr>
              <a:t>if some components for the code to be produced are not available, then the production box is temporarily held apart</a:t>
            </a:r>
          </a:p>
          <a:p>
            <a:pPr marL="446088" lvl="2" indent="-180975" algn="l">
              <a:spcBef>
                <a:spcPts val="300"/>
              </a:spcBef>
              <a:spcAft>
                <a:spcPts val="0"/>
              </a:spcAft>
              <a:buClr>
                <a:schemeClr val="accent2">
                  <a:lumMod val="100000"/>
                </a:schemeClr>
              </a:buClr>
              <a:buSzPct val="130000"/>
              <a:buFont typeface="Arial" panose="020B0604020202020204" pitchFamily="34" charset="0"/>
              <a:buChar char="›"/>
            </a:pPr>
            <a:r>
              <a:rPr lang="en-GB" sz="1600" b="0" dirty="0">
                <a:solidFill>
                  <a:srgbClr val="263238"/>
                </a:solidFill>
              </a:rPr>
              <a:t>and for each missing component, an upstream production box is generated recursively</a:t>
            </a:r>
          </a:p>
        </p:txBody>
      </p:sp>
      <p:cxnSp>
        <p:nvCxnSpPr>
          <p:cNvPr id="5" name="Straight Arrow Connector 4"/>
          <p:cNvCxnSpPr/>
          <p:nvPr/>
        </p:nvCxnSpPr>
        <p:spPr bwMode="auto">
          <a:xfrm>
            <a:off x="914400" y="3445508"/>
            <a:ext cx="7970520" cy="0"/>
          </a:xfrm>
          <a:prstGeom prst="straightConnector1">
            <a:avLst/>
          </a:prstGeom>
          <a:solidFill>
            <a:schemeClr val="accent1"/>
          </a:solidFill>
          <a:ln w="19050" cap="flat" cmpd="sng" algn="ctr">
            <a:solidFill>
              <a:srgbClr val="0F766E"/>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Oval 6"/>
          <p:cNvSpPr/>
          <p:nvPr/>
        </p:nvSpPr>
        <p:spPr bwMode="auto">
          <a:xfrm>
            <a:off x="4758764" y="3369308"/>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 name="Isosceles Triangle 12"/>
          <p:cNvSpPr/>
          <p:nvPr/>
        </p:nvSpPr>
        <p:spPr bwMode="auto">
          <a:xfrm rot="10800000">
            <a:off x="4682564" y="3105768"/>
            <a:ext cx="304800" cy="219126"/>
          </a:xfrm>
          <a:prstGeom prst="triangl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pic>
        <p:nvPicPr>
          <p:cNvPr id="15" name="Picture 14"/>
          <p:cNvPicPr>
            <a:picLocks noChangeAspect="1"/>
          </p:cNvPicPr>
          <p:nvPr/>
        </p:nvPicPr>
        <p:blipFill rotWithShape="1">
          <a:blip r:embed="rId2">
            <a:duotone>
              <a:schemeClr val="accent1">
                <a:shade val="45000"/>
                <a:satMod val="135000"/>
              </a:schemeClr>
              <a:prstClr val="white"/>
            </a:duotone>
          </a:blip>
          <a:srcRect t="8516" b="8254"/>
          <a:stretch/>
        </p:blipFill>
        <p:spPr>
          <a:xfrm>
            <a:off x="3453204" y="3942420"/>
            <a:ext cx="817880" cy="680721"/>
          </a:xfrm>
          <a:prstGeom prst="rect">
            <a:avLst/>
          </a:prstGeom>
        </p:spPr>
      </p:pic>
      <p:sp>
        <p:nvSpPr>
          <p:cNvPr id="17" name="TextBox 16"/>
          <p:cNvSpPr txBox="1"/>
          <p:nvPr/>
        </p:nvSpPr>
        <p:spPr>
          <a:xfrm>
            <a:off x="990810" y="3199287"/>
            <a:ext cx="42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time</a:t>
            </a:r>
          </a:p>
        </p:txBody>
      </p:sp>
      <p:cxnSp>
        <p:nvCxnSpPr>
          <p:cNvPr id="20" name="Elbow Connector 19"/>
          <p:cNvCxnSpPr>
            <a:stCxn id="7" idx="4"/>
            <a:endCxn id="15" idx="0"/>
          </p:cNvCxnSpPr>
          <p:nvPr/>
        </p:nvCxnSpPr>
        <p:spPr bwMode="auto">
          <a:xfrm rot="5400000">
            <a:off x="4138198" y="3245654"/>
            <a:ext cx="420712" cy="972820"/>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Elbow Connector 21"/>
          <p:cNvCxnSpPr>
            <a:stCxn id="15" idx="1"/>
            <a:endCxn id="24" idx="1"/>
          </p:cNvCxnSpPr>
          <p:nvPr/>
        </p:nvCxnSpPr>
        <p:spPr bwMode="auto">
          <a:xfrm rot="10800000" flipH="1" flipV="1">
            <a:off x="3453204" y="4282780"/>
            <a:ext cx="182880" cy="914461"/>
          </a:xfrm>
          <a:prstGeom prst="bentConnector3">
            <a:avLst>
              <a:gd name="adj1" fmla="val -125000"/>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4" name="Picture 23"/>
          <p:cNvPicPr>
            <a:picLocks noChangeAspect="1"/>
          </p:cNvPicPr>
          <p:nvPr/>
        </p:nvPicPr>
        <p:blipFill rotWithShape="1">
          <a:blip r:embed="rId2">
            <a:duotone>
              <a:schemeClr val="accent1">
                <a:shade val="45000"/>
                <a:satMod val="135000"/>
              </a:schemeClr>
              <a:prstClr val="white"/>
            </a:duotone>
          </a:blip>
          <a:srcRect t="8516" b="8254"/>
          <a:stretch/>
        </p:blipFill>
        <p:spPr>
          <a:xfrm>
            <a:off x="3636084" y="4856881"/>
            <a:ext cx="817880" cy="680721"/>
          </a:xfrm>
          <a:prstGeom prst="rect">
            <a:avLst/>
          </a:prstGeom>
        </p:spPr>
      </p:pic>
      <p:pic>
        <p:nvPicPr>
          <p:cNvPr id="27" name="Picture 26"/>
          <p:cNvPicPr>
            <a:picLocks noChangeAspect="1"/>
          </p:cNvPicPr>
          <p:nvPr/>
        </p:nvPicPr>
        <p:blipFill rotWithShape="1">
          <a:blip r:embed="rId2">
            <a:duotone>
              <a:schemeClr val="accent1">
                <a:shade val="45000"/>
                <a:satMod val="135000"/>
              </a:schemeClr>
              <a:prstClr val="white"/>
            </a:duotone>
          </a:blip>
          <a:srcRect t="8516" b="8254"/>
          <a:stretch/>
        </p:blipFill>
        <p:spPr>
          <a:xfrm>
            <a:off x="3636084" y="5701403"/>
            <a:ext cx="817880" cy="680721"/>
          </a:xfrm>
          <a:prstGeom prst="rect">
            <a:avLst/>
          </a:prstGeom>
        </p:spPr>
      </p:pic>
      <p:cxnSp>
        <p:nvCxnSpPr>
          <p:cNvPr id="32" name="Elbow Connector 31"/>
          <p:cNvCxnSpPr>
            <a:stCxn id="15" idx="1"/>
            <a:endCxn id="27" idx="1"/>
          </p:cNvCxnSpPr>
          <p:nvPr/>
        </p:nvCxnSpPr>
        <p:spPr bwMode="auto">
          <a:xfrm rot="10800000" flipH="1" flipV="1">
            <a:off x="3453204" y="4282780"/>
            <a:ext cx="182880" cy="1758983"/>
          </a:xfrm>
          <a:prstGeom prst="bentConnector3">
            <a:avLst>
              <a:gd name="adj1" fmla="val -125000"/>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4" name="Picture 33"/>
          <p:cNvPicPr>
            <a:picLocks noChangeAspect="1"/>
          </p:cNvPicPr>
          <p:nvPr/>
        </p:nvPicPr>
        <p:blipFill rotWithShape="1">
          <a:blip r:embed="rId2">
            <a:duotone>
              <a:schemeClr val="accent1">
                <a:shade val="45000"/>
                <a:satMod val="135000"/>
              </a:schemeClr>
              <a:prstClr val="white"/>
            </a:duotone>
          </a:blip>
          <a:srcRect t="8516" b="8254"/>
          <a:stretch/>
        </p:blipFill>
        <p:spPr>
          <a:xfrm>
            <a:off x="4936564" y="5071482"/>
            <a:ext cx="817880" cy="680721"/>
          </a:xfrm>
          <a:prstGeom prst="rect">
            <a:avLst/>
          </a:prstGeom>
        </p:spPr>
      </p:pic>
      <p:cxnSp>
        <p:nvCxnSpPr>
          <p:cNvPr id="40" name="Elbow Connector 39"/>
          <p:cNvCxnSpPr>
            <a:stCxn id="27" idx="3"/>
            <a:endCxn id="34" idx="1"/>
          </p:cNvCxnSpPr>
          <p:nvPr/>
        </p:nvCxnSpPr>
        <p:spPr bwMode="auto">
          <a:xfrm flipV="1">
            <a:off x="4453964" y="5411843"/>
            <a:ext cx="482600" cy="629921"/>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4" name="Group 73"/>
          <p:cNvGrpSpPr/>
          <p:nvPr/>
        </p:nvGrpSpPr>
        <p:grpSpPr>
          <a:xfrm>
            <a:off x="919792" y="3834436"/>
            <a:ext cx="1391294" cy="913489"/>
            <a:chOff x="965200" y="3674742"/>
            <a:chExt cx="1391294" cy="913489"/>
          </a:xfrm>
        </p:grpSpPr>
        <p:sp>
          <p:nvSpPr>
            <p:cNvPr id="69" name="Folded Corner 68"/>
            <p:cNvSpPr/>
            <p:nvPr/>
          </p:nvSpPr>
          <p:spPr bwMode="auto">
            <a:xfrm>
              <a:off x="965200" y="3674742"/>
              <a:ext cx="1391294" cy="913489"/>
            </a:xfrm>
            <a:prstGeom prst="foldedCorner">
              <a:avLst/>
            </a:prstGeom>
            <a:solidFill>
              <a:schemeClr val="bg1"/>
            </a:solid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nvGrpSpPr>
            <p:cNvPr id="44" name="Group 43"/>
            <p:cNvGrpSpPr/>
            <p:nvPr/>
          </p:nvGrpSpPr>
          <p:grpSpPr>
            <a:xfrm>
              <a:off x="1088475" y="3781877"/>
              <a:ext cx="1057888" cy="705780"/>
              <a:chOff x="-920978" y="1675227"/>
              <a:chExt cx="825457" cy="550710"/>
            </a:xfrm>
          </p:grpSpPr>
          <p:cxnSp>
            <p:nvCxnSpPr>
              <p:cNvPr id="45" name="Straight Connector 44"/>
              <p:cNvCxnSpPr/>
              <p:nvPr/>
            </p:nvCxnSpPr>
            <p:spPr bwMode="auto">
              <a:xfrm flipV="1">
                <a:off x="-868363" y="1719263"/>
                <a:ext cx="355600" cy="209550"/>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6" name="Straight Connector 45"/>
              <p:cNvCxnSpPr/>
              <p:nvPr/>
            </p:nvCxnSpPr>
            <p:spPr bwMode="auto">
              <a:xfrm>
                <a:off x="-873125" y="1928814"/>
                <a:ext cx="358775" cy="250824"/>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7" name="Straight Connector 46"/>
              <p:cNvCxnSpPr/>
              <p:nvPr/>
            </p:nvCxnSpPr>
            <p:spPr bwMode="auto">
              <a:xfrm>
                <a:off x="-873125" y="1930400"/>
                <a:ext cx="388937" cy="2063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8" name="Straight Connector 47"/>
              <p:cNvCxnSpPr/>
              <p:nvPr/>
            </p:nvCxnSpPr>
            <p:spPr bwMode="auto">
              <a:xfrm>
                <a:off x="-477838" y="1951038"/>
                <a:ext cx="288925" cy="182562"/>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49" name="Straight Connector 48"/>
              <p:cNvCxnSpPr/>
              <p:nvPr/>
            </p:nvCxnSpPr>
            <p:spPr bwMode="auto">
              <a:xfrm>
                <a:off x="-482600" y="1946275"/>
                <a:ext cx="341312" cy="26988"/>
              </a:xfrm>
              <a:prstGeom prst="line">
                <a:avLst/>
              </a:prstGeom>
              <a:solidFill>
                <a:schemeClr val="bg1"/>
              </a:solidFill>
              <a:ln w="9525" cap="flat" cmpd="sng" algn="ctr">
                <a:solidFill>
                  <a:srgbClr val="66757D"/>
                </a:solidFill>
                <a:prstDash val="solid"/>
                <a:round/>
                <a:headEnd type="none" w="med" len="med"/>
                <a:tailEnd type="none" w="med" len="med"/>
              </a:ln>
              <a:effectLst/>
            </p:spPr>
          </p:cxnSp>
          <p:cxnSp>
            <p:nvCxnSpPr>
              <p:cNvPr id="50" name="Straight Connector 49"/>
              <p:cNvCxnSpPr/>
              <p:nvPr/>
            </p:nvCxnSpPr>
            <p:spPr bwMode="auto">
              <a:xfrm flipV="1">
                <a:off x="-482600" y="1830388"/>
                <a:ext cx="312737" cy="119062"/>
              </a:xfrm>
              <a:prstGeom prst="line">
                <a:avLst/>
              </a:prstGeom>
              <a:solidFill>
                <a:schemeClr val="bg1"/>
              </a:solidFill>
              <a:ln w="9525" cap="flat" cmpd="sng" algn="ctr">
                <a:solidFill>
                  <a:srgbClr val="66757D"/>
                </a:solidFill>
                <a:prstDash val="solid"/>
                <a:round/>
                <a:headEnd type="none" w="med" len="med"/>
                <a:tailEnd type="none" w="med" len="med"/>
              </a:ln>
              <a:effectLst/>
            </p:spPr>
          </p:cxnSp>
          <p:sp>
            <p:nvSpPr>
              <p:cNvPr id="51" name="Oval 50"/>
              <p:cNvSpPr/>
              <p:nvPr/>
            </p:nvSpPr>
            <p:spPr bwMode="auto">
              <a:xfrm>
                <a:off x="-920978" y="188001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2" name="Oval 51"/>
              <p:cNvSpPr/>
              <p:nvPr/>
            </p:nvSpPr>
            <p:spPr bwMode="auto">
              <a:xfrm>
                <a:off x="-565378" y="16752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3" name="Oval 52"/>
              <p:cNvSpPr/>
              <p:nvPr/>
            </p:nvSpPr>
            <p:spPr bwMode="auto">
              <a:xfrm>
                <a:off x="-527991" y="19038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4" name="Oval 53"/>
              <p:cNvSpPr/>
              <p:nvPr/>
            </p:nvSpPr>
            <p:spPr bwMode="auto">
              <a:xfrm>
                <a:off x="-560506" y="2132427"/>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5" name="Oval 54"/>
              <p:cNvSpPr/>
              <p:nvPr/>
            </p:nvSpPr>
            <p:spPr bwMode="auto">
              <a:xfrm>
                <a:off x="-216019" y="1786505"/>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6" name="Oval 55"/>
              <p:cNvSpPr/>
              <p:nvPr/>
            </p:nvSpPr>
            <p:spPr bwMode="auto">
              <a:xfrm>
                <a:off x="-189031" y="1926770"/>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sp>
            <p:nvSpPr>
              <p:cNvPr id="57" name="Oval 56"/>
              <p:cNvSpPr/>
              <p:nvPr/>
            </p:nvSpPr>
            <p:spPr bwMode="auto">
              <a:xfrm>
                <a:off x="-235786" y="2082041"/>
                <a:ext cx="93510" cy="93510"/>
              </a:xfrm>
              <a:prstGeom prst="ellipse">
                <a:avLst/>
              </a:prstGeom>
              <a:solidFill>
                <a:srgbClr val="0F766E"/>
              </a:solidFill>
              <a:ln w="3175" cap="flat" cmpd="sng" algn="ctr">
                <a:solidFill>
                  <a:srgbClr val="66757D"/>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charset="0"/>
                  <a:ea typeface="Arial Unicode MS" pitchFamily="34" charset="-128"/>
                  <a:cs typeface="Arial Unicode MS" pitchFamily="34" charset="-128"/>
                </a:endParaRPr>
              </a:p>
            </p:txBody>
          </p:sp>
        </p:grpSp>
      </p:grpSp>
      <p:pic>
        <p:nvPicPr>
          <p:cNvPr id="61" name="Picture 60"/>
          <p:cNvPicPr>
            <a:picLocks noChangeAspect="1"/>
          </p:cNvPicPr>
          <p:nvPr/>
        </p:nvPicPr>
        <p:blipFill rotWithShape="1">
          <a:blip r:embed="rId2">
            <a:duotone>
              <a:schemeClr val="accent1">
                <a:shade val="45000"/>
                <a:satMod val="135000"/>
              </a:schemeClr>
              <a:prstClr val="white"/>
            </a:duotone>
          </a:blip>
          <a:srcRect t="8516" b="8254"/>
          <a:stretch/>
        </p:blipFill>
        <p:spPr>
          <a:xfrm>
            <a:off x="4936564" y="5919183"/>
            <a:ext cx="817880" cy="680721"/>
          </a:xfrm>
          <a:prstGeom prst="rect">
            <a:avLst/>
          </a:prstGeom>
        </p:spPr>
      </p:pic>
      <p:cxnSp>
        <p:nvCxnSpPr>
          <p:cNvPr id="63" name="Elbow Connector 62"/>
          <p:cNvCxnSpPr>
            <a:stCxn id="27" idx="3"/>
            <a:endCxn id="61" idx="1"/>
          </p:cNvCxnSpPr>
          <p:nvPr/>
        </p:nvCxnSpPr>
        <p:spPr bwMode="auto">
          <a:xfrm>
            <a:off x="4453964" y="6041764"/>
            <a:ext cx="482600" cy="217780"/>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Box 72"/>
          <p:cNvSpPr txBox="1"/>
          <p:nvPr/>
        </p:nvSpPr>
        <p:spPr>
          <a:xfrm>
            <a:off x="914400" y="4826936"/>
            <a:ext cx="2042160"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The bill of materials is read recursively to create the tree of needed production boxes (for product, components, and subcomponents)</a:t>
            </a:r>
          </a:p>
        </p:txBody>
      </p:sp>
      <p:sp>
        <p:nvSpPr>
          <p:cNvPr id="75" name="TextBox 74"/>
          <p:cNvSpPr txBox="1"/>
          <p:nvPr/>
        </p:nvSpPr>
        <p:spPr>
          <a:xfrm>
            <a:off x="3741054" y="4329759"/>
            <a:ext cx="8496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a:t>
            </a:r>
          </a:p>
        </p:txBody>
      </p:sp>
      <p:sp>
        <p:nvSpPr>
          <p:cNvPr id="76" name="TextBox 75"/>
          <p:cNvSpPr txBox="1"/>
          <p:nvPr/>
        </p:nvSpPr>
        <p:spPr>
          <a:xfrm>
            <a:off x="3885687" y="5223882"/>
            <a:ext cx="16145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11</a:t>
            </a:r>
          </a:p>
        </p:txBody>
      </p:sp>
      <p:sp>
        <p:nvSpPr>
          <p:cNvPr id="77" name="TextBox 76"/>
          <p:cNvSpPr txBox="1"/>
          <p:nvPr/>
        </p:nvSpPr>
        <p:spPr>
          <a:xfrm>
            <a:off x="3881455" y="6074878"/>
            <a:ext cx="16991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a:t>
            </a:r>
          </a:p>
        </p:txBody>
      </p:sp>
      <p:sp>
        <p:nvSpPr>
          <p:cNvPr id="78" name="TextBox 77"/>
          <p:cNvSpPr txBox="1"/>
          <p:nvPr/>
        </p:nvSpPr>
        <p:spPr>
          <a:xfrm>
            <a:off x="5144405" y="5462339"/>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121</a:t>
            </a:r>
          </a:p>
        </p:txBody>
      </p:sp>
      <p:sp>
        <p:nvSpPr>
          <p:cNvPr id="79" name="TextBox 78"/>
          <p:cNvSpPr txBox="1"/>
          <p:nvPr/>
        </p:nvSpPr>
        <p:spPr>
          <a:xfrm>
            <a:off x="5144405" y="6329199"/>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sp>
        <p:nvSpPr>
          <p:cNvPr id="90" name="TextBox 89"/>
          <p:cNvSpPr txBox="1"/>
          <p:nvPr/>
        </p:nvSpPr>
        <p:spPr>
          <a:xfrm>
            <a:off x="6710419" y="4130698"/>
            <a:ext cx="263144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Empty production boxes which are later used in the input queue for production work cells</a:t>
            </a:r>
          </a:p>
        </p:txBody>
      </p:sp>
      <p:sp>
        <p:nvSpPr>
          <p:cNvPr id="91" name="Left Brace 90"/>
          <p:cNvSpPr/>
          <p:nvPr/>
        </p:nvSpPr>
        <p:spPr bwMode="auto">
          <a:xfrm flipH="1">
            <a:off x="5939968" y="3906011"/>
            <a:ext cx="650762" cy="2734790"/>
          </a:xfrm>
          <a:prstGeom prst="leftBrace">
            <a:avLst>
              <a:gd name="adj1" fmla="val 0"/>
              <a:gd name="adj2" fmla="val 13071"/>
            </a:avLst>
          </a:prstGeom>
          <a:noFill/>
          <a:ln w="19050" cap="flat" cmpd="sng" algn="ctr">
            <a:solidFill>
              <a:srgbClr val="263238"/>
            </a:solidFill>
            <a:prstDash val="solid"/>
            <a:round/>
            <a:headEnd type="none" w="med" len="med"/>
            <a:tailEnd type="none" w="med" len="med"/>
          </a:ln>
          <a:effectLst/>
        </p:spPr>
        <p:txBody>
          <a:bodyPr rtlCol="0" anchor="ctr"/>
          <a:lstStyle/>
          <a:p>
            <a:pPr algn="ctr"/>
            <a:endParaRPr lang="en-GB"/>
          </a:p>
        </p:txBody>
      </p:sp>
    </p:spTree>
    <p:extLst>
      <p:ext uri="{BB962C8B-B14F-4D97-AF65-F5344CB8AC3E}">
        <p14:creationId xmlns:p14="http://schemas.microsoft.com/office/powerpoint/2010/main" val="1690610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duotone>
              <a:schemeClr val="accent1">
                <a:shade val="45000"/>
                <a:satMod val="135000"/>
              </a:schemeClr>
              <a:prstClr val="white"/>
            </a:duotone>
          </a:blip>
          <a:srcRect t="8516" b="8254"/>
          <a:stretch/>
        </p:blipFill>
        <p:spPr>
          <a:xfrm>
            <a:off x="1173120" y="3908591"/>
            <a:ext cx="817880" cy="680721"/>
          </a:xfrm>
          <a:prstGeom prst="rect">
            <a:avLst/>
          </a:prstGeom>
        </p:spPr>
      </p:pic>
      <p:sp>
        <p:nvSpPr>
          <p:cNvPr id="2" name="Title 1"/>
          <p:cNvSpPr>
            <a:spLocks noGrp="1"/>
          </p:cNvSpPr>
          <p:nvPr>
            <p:ph type="title"/>
          </p:nvPr>
        </p:nvSpPr>
        <p:spPr/>
        <p:txBody>
          <a:bodyPr/>
          <a:lstStyle/>
          <a:p>
            <a:r>
              <a:rPr lang="en-GB" dirty="0">
                <a:solidFill>
                  <a:srgbClr val="263238"/>
                </a:solidFill>
              </a:rPr>
              <a:t>Production box objects are used to signal the need for a product, which can trigger production, purchasing, or warehouse withdraw</a:t>
            </a:r>
          </a:p>
        </p:txBody>
      </p:sp>
      <p:sp>
        <p:nvSpPr>
          <p:cNvPr id="3" name="TextBox 2"/>
          <p:cNvSpPr txBox="1"/>
          <p:nvPr/>
        </p:nvSpPr>
        <p:spPr>
          <a:xfrm>
            <a:off x="365761" y="1109845"/>
            <a:ext cx="9390032" cy="151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In the implemented simulation scheme, empty production boxes are analogues to </a:t>
            </a:r>
            <a:r>
              <a:rPr lang="en-GB" sz="1600" b="0" dirty="0" err="1">
                <a:solidFill>
                  <a:srgbClr val="263238"/>
                </a:solidFill>
              </a:rPr>
              <a:t>kanban</a:t>
            </a:r>
            <a:r>
              <a:rPr lang="en-GB" sz="1600" b="0" dirty="0">
                <a:solidFill>
                  <a:srgbClr val="263238"/>
                </a:solidFill>
              </a:rPr>
              <a:t> cards, representing components, subcomponents, or products to be produced, purchased, or withdrawn from the warehouse</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Each empty production box can trigger three different operations: a withdrawn from the warehouse (if the code is in the warehouse), a purchasing (if the code has to be purchased), or a production activity (if the code needs to be produced and all subcomponents are available for the production box</a:t>
            </a:r>
          </a:p>
        </p:txBody>
      </p:sp>
      <p:pic>
        <p:nvPicPr>
          <p:cNvPr id="4" name="Picture 3"/>
          <p:cNvPicPr>
            <a:picLocks noChangeAspect="1"/>
          </p:cNvPicPr>
          <p:nvPr/>
        </p:nvPicPr>
        <p:blipFill>
          <a:blip r:embed="rId3">
            <a:duotone>
              <a:schemeClr val="accent1">
                <a:shade val="45000"/>
                <a:satMod val="135000"/>
              </a:schemeClr>
              <a:prstClr val="white"/>
            </a:duotone>
          </a:blip>
          <a:stretch>
            <a:fillRect/>
          </a:stretch>
        </p:blipFill>
        <p:spPr>
          <a:xfrm>
            <a:off x="7616714" y="3771432"/>
            <a:ext cx="817880" cy="817880"/>
          </a:xfrm>
          <a:prstGeom prst="rect">
            <a:avLst/>
          </a:prstGeom>
        </p:spPr>
      </p:pic>
      <p:sp>
        <p:nvSpPr>
          <p:cNvPr id="10" name="TextBox 9"/>
          <p:cNvSpPr txBox="1"/>
          <p:nvPr/>
        </p:nvSpPr>
        <p:spPr>
          <a:xfrm>
            <a:off x="1365721" y="4318607"/>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sp>
        <p:nvSpPr>
          <p:cNvPr id="12" name="TextBox 11"/>
          <p:cNvSpPr txBox="1"/>
          <p:nvPr/>
        </p:nvSpPr>
        <p:spPr>
          <a:xfrm>
            <a:off x="7811855" y="4250028"/>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grpSp>
        <p:nvGrpSpPr>
          <p:cNvPr id="23" name="Group 22"/>
          <p:cNvGrpSpPr/>
          <p:nvPr/>
        </p:nvGrpSpPr>
        <p:grpSpPr>
          <a:xfrm>
            <a:off x="4520441" y="5954702"/>
            <a:ext cx="1215317" cy="205420"/>
            <a:chOff x="4596202" y="3701418"/>
            <a:chExt cx="1215317" cy="189862"/>
          </a:xfrm>
        </p:grpSpPr>
        <p:sp>
          <p:nvSpPr>
            <p:cNvPr id="13" name="Rectangle 12"/>
            <p:cNvSpPr/>
            <p:nvPr/>
          </p:nvSpPr>
          <p:spPr bwMode="auto">
            <a:xfrm>
              <a:off x="4596202" y="3701418"/>
              <a:ext cx="1215317" cy="189862"/>
            </a:xfrm>
            <a:prstGeom prst="rect">
              <a:avLst/>
            </a:prstGeom>
            <a:solidFill>
              <a:schemeClr val="bg1"/>
            </a:solid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 name="Parallelogram 14"/>
            <p:cNvSpPr/>
            <p:nvPr/>
          </p:nvSpPr>
          <p:spPr bwMode="auto">
            <a:xfrm>
              <a:off x="4617085"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6" name="Parallelogram 15"/>
            <p:cNvSpPr/>
            <p:nvPr/>
          </p:nvSpPr>
          <p:spPr bwMode="auto">
            <a:xfrm>
              <a:off x="4774367"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7" name="Parallelogram 16"/>
            <p:cNvSpPr/>
            <p:nvPr/>
          </p:nvSpPr>
          <p:spPr bwMode="auto">
            <a:xfrm>
              <a:off x="4931649"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8" name="Parallelogram 17"/>
            <p:cNvSpPr/>
            <p:nvPr/>
          </p:nvSpPr>
          <p:spPr bwMode="auto">
            <a:xfrm>
              <a:off x="5088931"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9" name="Parallelogram 18"/>
            <p:cNvSpPr/>
            <p:nvPr/>
          </p:nvSpPr>
          <p:spPr bwMode="auto">
            <a:xfrm>
              <a:off x="5246213"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20" name="Parallelogram 19"/>
            <p:cNvSpPr/>
            <p:nvPr/>
          </p:nvSpPr>
          <p:spPr bwMode="auto">
            <a:xfrm>
              <a:off x="5403495"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21" name="Parallelogram 20"/>
            <p:cNvSpPr/>
            <p:nvPr/>
          </p:nvSpPr>
          <p:spPr bwMode="auto">
            <a:xfrm>
              <a:off x="5560775"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sp>
        <p:nvSpPr>
          <p:cNvPr id="28" name="TextBox 27"/>
          <p:cNvSpPr txBox="1"/>
          <p:nvPr/>
        </p:nvSpPr>
        <p:spPr>
          <a:xfrm>
            <a:off x="804231" y="4753106"/>
            <a:ext cx="145494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production box</a:t>
            </a:r>
          </a:p>
        </p:txBody>
      </p:sp>
      <p:sp>
        <p:nvSpPr>
          <p:cNvPr id="29" name="TextBox 28"/>
          <p:cNvSpPr txBox="1"/>
          <p:nvPr/>
        </p:nvSpPr>
        <p:spPr>
          <a:xfrm>
            <a:off x="7148363" y="4753106"/>
            <a:ext cx="173832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Production box with finished code</a:t>
            </a:r>
          </a:p>
        </p:txBody>
      </p:sp>
      <p:grpSp>
        <p:nvGrpSpPr>
          <p:cNvPr id="46" name="Group 45"/>
          <p:cNvGrpSpPr/>
          <p:nvPr/>
        </p:nvGrpSpPr>
        <p:grpSpPr>
          <a:xfrm>
            <a:off x="3738121" y="5954702"/>
            <a:ext cx="742079" cy="205420"/>
            <a:chOff x="3473961" y="5549903"/>
            <a:chExt cx="742079" cy="205420"/>
          </a:xfrm>
        </p:grpSpPr>
        <p:sp>
          <p:nvSpPr>
            <p:cNvPr id="31" name="Rectangle 30"/>
            <p:cNvSpPr/>
            <p:nvPr/>
          </p:nvSpPr>
          <p:spPr bwMode="auto">
            <a:xfrm>
              <a:off x="3473961" y="5549903"/>
              <a:ext cx="742079" cy="205420"/>
            </a:xfrm>
            <a:prstGeom prst="rect">
              <a:avLst/>
            </a:prstGeom>
            <a:solidFill>
              <a:schemeClr val="bg1"/>
            </a:solidFill>
            <a:ln w="9525" cap="flat" cmpd="sng" algn="ctr">
              <a:solidFill>
                <a:srgbClr val="167D9A"/>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2" name="Parallelogram 31"/>
            <p:cNvSpPr/>
            <p:nvPr/>
          </p:nvSpPr>
          <p:spPr bwMode="auto">
            <a:xfrm>
              <a:off x="3494844"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3" name="Parallelogram 32"/>
            <p:cNvSpPr/>
            <p:nvPr/>
          </p:nvSpPr>
          <p:spPr bwMode="auto">
            <a:xfrm>
              <a:off x="3652126"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4" name="Parallelogram 33"/>
            <p:cNvSpPr/>
            <p:nvPr/>
          </p:nvSpPr>
          <p:spPr bwMode="auto">
            <a:xfrm>
              <a:off x="3809408"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5" name="Parallelogram 34"/>
            <p:cNvSpPr/>
            <p:nvPr/>
          </p:nvSpPr>
          <p:spPr bwMode="auto">
            <a:xfrm>
              <a:off x="3966690"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pic>
        <p:nvPicPr>
          <p:cNvPr id="40" name="Picture 39"/>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214057" y="5490732"/>
            <a:ext cx="324180" cy="324180"/>
          </a:xfrm>
          <a:prstGeom prst="rect">
            <a:avLst/>
          </a:prstGeom>
        </p:spPr>
      </p:pic>
      <p:pic>
        <p:nvPicPr>
          <p:cNvPr id="41" name="Picture 40"/>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733603" y="5453853"/>
            <a:ext cx="455072" cy="455072"/>
          </a:xfrm>
          <a:prstGeom prst="rect">
            <a:avLst/>
          </a:prstGeom>
        </p:spPr>
      </p:pic>
      <p:sp>
        <p:nvSpPr>
          <p:cNvPr id="37" name="TextBox 36"/>
          <p:cNvSpPr txBox="1"/>
          <p:nvPr/>
        </p:nvSpPr>
        <p:spPr>
          <a:xfrm>
            <a:off x="4666294" y="6169458"/>
            <a:ext cx="9969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production time</a:t>
            </a:r>
          </a:p>
        </p:txBody>
      </p:sp>
      <p:sp>
        <p:nvSpPr>
          <p:cNvPr id="38" name="TextBox 37"/>
          <p:cNvSpPr txBox="1"/>
          <p:nvPr/>
        </p:nvSpPr>
        <p:spPr>
          <a:xfrm>
            <a:off x="3725190" y="6169458"/>
            <a:ext cx="7857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queuing time</a:t>
            </a:r>
          </a:p>
        </p:txBody>
      </p:sp>
      <p:sp>
        <p:nvSpPr>
          <p:cNvPr id="55" name="TextBox 54"/>
          <p:cNvSpPr txBox="1"/>
          <p:nvPr/>
        </p:nvSpPr>
        <p:spPr>
          <a:xfrm>
            <a:off x="3813216" y="4798123"/>
            <a:ext cx="187805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lead time</a:t>
            </a:r>
          </a:p>
        </p:txBody>
      </p:sp>
      <p:sp>
        <p:nvSpPr>
          <p:cNvPr id="56" name="TextBox 55"/>
          <p:cNvSpPr txBox="1"/>
          <p:nvPr/>
        </p:nvSpPr>
        <p:spPr>
          <a:xfrm>
            <a:off x="3774620" y="4302087"/>
            <a:ext cx="187805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0F766E"/>
                </a:solidFill>
              </a:rPr>
              <a:t>Procurement office</a:t>
            </a:r>
          </a:p>
        </p:txBody>
      </p:sp>
      <p:pic>
        <p:nvPicPr>
          <p:cNvPr id="57" name="Picture 56"/>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848184" y="2982502"/>
            <a:ext cx="769775" cy="769775"/>
          </a:xfrm>
          <a:prstGeom prst="rect">
            <a:avLst/>
          </a:prstGeom>
        </p:spPr>
      </p:pic>
      <p:sp>
        <p:nvSpPr>
          <p:cNvPr id="58" name="TextBox 57"/>
          <p:cNvSpPr txBox="1"/>
          <p:nvPr/>
        </p:nvSpPr>
        <p:spPr>
          <a:xfrm>
            <a:off x="4382060" y="3028423"/>
            <a:ext cx="1329526" cy="184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0F766E"/>
                </a:solidFill>
              </a:rPr>
              <a:t>Warehouse</a:t>
            </a:r>
          </a:p>
        </p:txBody>
      </p:sp>
      <p:sp>
        <p:nvSpPr>
          <p:cNvPr id="14" name="Rectangle 13"/>
          <p:cNvSpPr/>
          <p:nvPr/>
        </p:nvSpPr>
        <p:spPr bwMode="auto">
          <a:xfrm>
            <a:off x="3417411" y="5372042"/>
            <a:ext cx="2772892" cy="1191670"/>
          </a:xfrm>
          <a:prstGeom prst="rect">
            <a:avLst/>
          </a:prstGeom>
          <a:noFill/>
          <a:ln w="9525" cap="flat" cmpd="sng" algn="ctr">
            <a:solidFill>
              <a:srgbClr val="64748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0" name="Rectangle 59"/>
          <p:cNvSpPr/>
          <p:nvPr/>
        </p:nvSpPr>
        <p:spPr bwMode="auto">
          <a:xfrm>
            <a:off x="3417411" y="4076290"/>
            <a:ext cx="2772892" cy="1191670"/>
          </a:xfrm>
          <a:prstGeom prst="rect">
            <a:avLst/>
          </a:prstGeom>
          <a:noFill/>
          <a:ln w="9525" cap="flat" cmpd="sng" algn="ctr">
            <a:solidFill>
              <a:srgbClr val="64748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1" name="Rectangle 60"/>
          <p:cNvSpPr/>
          <p:nvPr/>
        </p:nvSpPr>
        <p:spPr bwMode="auto">
          <a:xfrm>
            <a:off x="3417411" y="2781377"/>
            <a:ext cx="2772892" cy="1191670"/>
          </a:xfrm>
          <a:prstGeom prst="rect">
            <a:avLst/>
          </a:prstGeom>
          <a:noFill/>
          <a:ln w="9525" cap="flat" cmpd="sng" algn="ctr">
            <a:solidFill>
              <a:srgbClr val="64748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nvGrpSpPr>
          <p:cNvPr id="22" name="Group 21"/>
          <p:cNvGrpSpPr/>
          <p:nvPr/>
        </p:nvGrpSpPr>
        <p:grpSpPr>
          <a:xfrm>
            <a:off x="3738121" y="4563113"/>
            <a:ext cx="2002279" cy="209975"/>
            <a:chOff x="3392681" y="4227833"/>
            <a:chExt cx="2002279" cy="209975"/>
          </a:xfrm>
        </p:grpSpPr>
        <p:sp>
          <p:nvSpPr>
            <p:cNvPr id="62" name="Parallelogram 61"/>
            <p:cNvSpPr/>
            <p:nvPr/>
          </p:nvSpPr>
          <p:spPr bwMode="auto">
            <a:xfrm>
              <a:off x="3437141"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3" name="Parallelogram 62"/>
            <p:cNvSpPr/>
            <p:nvPr/>
          </p:nvSpPr>
          <p:spPr bwMode="auto">
            <a:xfrm>
              <a:off x="3594188"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4" name="Parallelogram 63"/>
            <p:cNvSpPr/>
            <p:nvPr/>
          </p:nvSpPr>
          <p:spPr bwMode="auto">
            <a:xfrm>
              <a:off x="3751235"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5" name="Parallelogram 64"/>
            <p:cNvSpPr/>
            <p:nvPr/>
          </p:nvSpPr>
          <p:spPr bwMode="auto">
            <a:xfrm>
              <a:off x="3908282"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6" name="Parallelogram 65"/>
            <p:cNvSpPr/>
            <p:nvPr/>
          </p:nvSpPr>
          <p:spPr bwMode="auto">
            <a:xfrm>
              <a:off x="4065329"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7" name="Parallelogram 66"/>
            <p:cNvSpPr/>
            <p:nvPr/>
          </p:nvSpPr>
          <p:spPr bwMode="auto">
            <a:xfrm>
              <a:off x="4222376"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69" name="Parallelogram 68"/>
            <p:cNvSpPr/>
            <p:nvPr/>
          </p:nvSpPr>
          <p:spPr bwMode="auto">
            <a:xfrm>
              <a:off x="4379423"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70" name="Parallelogram 69"/>
            <p:cNvSpPr/>
            <p:nvPr/>
          </p:nvSpPr>
          <p:spPr bwMode="auto">
            <a:xfrm>
              <a:off x="4536470"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71" name="Parallelogram 70"/>
            <p:cNvSpPr/>
            <p:nvPr/>
          </p:nvSpPr>
          <p:spPr bwMode="auto">
            <a:xfrm>
              <a:off x="4693517"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72" name="Parallelogram 71"/>
            <p:cNvSpPr/>
            <p:nvPr/>
          </p:nvSpPr>
          <p:spPr bwMode="auto">
            <a:xfrm>
              <a:off x="4850564"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73" name="Parallelogram 72"/>
            <p:cNvSpPr/>
            <p:nvPr/>
          </p:nvSpPr>
          <p:spPr bwMode="auto">
            <a:xfrm>
              <a:off x="5007611"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74" name="Parallelogram 73"/>
            <p:cNvSpPr/>
            <p:nvPr/>
          </p:nvSpPr>
          <p:spPr bwMode="auto">
            <a:xfrm>
              <a:off x="5164662" y="4227833"/>
              <a:ext cx="210503" cy="204798"/>
            </a:xfrm>
            <a:prstGeom prst="parallelogram">
              <a:avLst>
                <a:gd name="adj" fmla="val 59118"/>
              </a:avLst>
            </a:prstGeom>
            <a:solidFill>
              <a:schemeClr val="tx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47" name="Rectangle 46"/>
            <p:cNvSpPr/>
            <p:nvPr/>
          </p:nvSpPr>
          <p:spPr bwMode="auto">
            <a:xfrm>
              <a:off x="3392681" y="4232388"/>
              <a:ext cx="2002279" cy="205420"/>
            </a:xfrm>
            <a:prstGeom prst="rect">
              <a:avLst/>
            </a:prstGeom>
            <a:no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sp>
        <p:nvSpPr>
          <p:cNvPr id="75" name="TextBox 74"/>
          <p:cNvSpPr txBox="1"/>
          <p:nvPr/>
        </p:nvSpPr>
        <p:spPr>
          <a:xfrm>
            <a:off x="4698606" y="3408402"/>
            <a:ext cx="112804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zero lead time</a:t>
            </a:r>
          </a:p>
        </p:txBody>
      </p:sp>
      <p:cxnSp>
        <p:nvCxnSpPr>
          <p:cNvPr id="26" name="Elbow Connector 25"/>
          <p:cNvCxnSpPr>
            <a:stCxn id="9" idx="3"/>
            <a:endCxn id="14" idx="1"/>
          </p:cNvCxnSpPr>
          <p:nvPr/>
        </p:nvCxnSpPr>
        <p:spPr bwMode="auto">
          <a:xfrm>
            <a:off x="1991000" y="4248952"/>
            <a:ext cx="1426411" cy="1718925"/>
          </a:xfrm>
          <a:prstGeom prst="bentConnector3">
            <a:avLst/>
          </a:prstGeom>
          <a:solidFill>
            <a:schemeClr val="accent1"/>
          </a:solidFill>
          <a:ln w="19050" cap="flat" cmpd="sng" algn="ctr">
            <a:solidFill>
              <a:srgbClr val="167D9A"/>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Elbow Connector 75"/>
          <p:cNvCxnSpPr>
            <a:stCxn id="9" idx="3"/>
            <a:endCxn id="60" idx="1"/>
          </p:cNvCxnSpPr>
          <p:nvPr/>
        </p:nvCxnSpPr>
        <p:spPr bwMode="auto">
          <a:xfrm>
            <a:off x="1991000" y="4248952"/>
            <a:ext cx="1426411" cy="423173"/>
          </a:xfrm>
          <a:prstGeom prst="bentConnector3">
            <a:avLst/>
          </a:prstGeom>
          <a:solidFill>
            <a:schemeClr val="accent1"/>
          </a:solidFill>
          <a:ln w="19050" cap="flat" cmpd="sng" algn="ctr">
            <a:solidFill>
              <a:srgbClr val="167D9A"/>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Elbow Connector 76"/>
          <p:cNvCxnSpPr>
            <a:stCxn id="9" idx="3"/>
            <a:endCxn id="61" idx="1"/>
          </p:cNvCxnSpPr>
          <p:nvPr/>
        </p:nvCxnSpPr>
        <p:spPr bwMode="auto">
          <a:xfrm flipV="1">
            <a:off x="1991000" y="3377212"/>
            <a:ext cx="1426411" cy="871740"/>
          </a:xfrm>
          <a:prstGeom prst="bentConnector3">
            <a:avLst>
              <a:gd name="adj1" fmla="val 50000"/>
            </a:avLst>
          </a:prstGeom>
          <a:solidFill>
            <a:schemeClr val="accent1"/>
          </a:solidFill>
          <a:ln w="19050" cap="flat" cmpd="sng" algn="ctr">
            <a:solidFill>
              <a:srgbClr val="167D9A"/>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Elbow Connector 82"/>
          <p:cNvCxnSpPr>
            <a:stCxn id="14" idx="3"/>
            <a:endCxn id="4" idx="1"/>
          </p:cNvCxnSpPr>
          <p:nvPr/>
        </p:nvCxnSpPr>
        <p:spPr bwMode="auto">
          <a:xfrm flipV="1">
            <a:off x="6190303" y="4180372"/>
            <a:ext cx="1426411" cy="1787505"/>
          </a:xfrm>
          <a:prstGeom prst="bentConnector3">
            <a:avLst/>
          </a:prstGeom>
          <a:solidFill>
            <a:schemeClr val="accent1"/>
          </a:solidFill>
          <a:ln w="19050" cap="flat" cmpd="sng" algn="ctr">
            <a:solidFill>
              <a:srgbClr val="167D9A"/>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Elbow Connector 84"/>
          <p:cNvCxnSpPr>
            <a:stCxn id="60" idx="3"/>
            <a:endCxn id="4" idx="1"/>
          </p:cNvCxnSpPr>
          <p:nvPr/>
        </p:nvCxnSpPr>
        <p:spPr bwMode="auto">
          <a:xfrm flipV="1">
            <a:off x="6190303" y="4180372"/>
            <a:ext cx="1426411" cy="491753"/>
          </a:xfrm>
          <a:prstGeom prst="bentConnector3">
            <a:avLst/>
          </a:prstGeom>
          <a:solidFill>
            <a:schemeClr val="accent1"/>
          </a:solidFill>
          <a:ln w="19050" cap="flat" cmpd="sng" algn="ctr">
            <a:solidFill>
              <a:srgbClr val="167D9A"/>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Elbow Connector 86"/>
          <p:cNvCxnSpPr>
            <a:stCxn id="61" idx="3"/>
            <a:endCxn id="4" idx="1"/>
          </p:cNvCxnSpPr>
          <p:nvPr/>
        </p:nvCxnSpPr>
        <p:spPr bwMode="auto">
          <a:xfrm>
            <a:off x="6190303" y="3377212"/>
            <a:ext cx="1426411" cy="803160"/>
          </a:xfrm>
          <a:prstGeom prst="bentConnector3">
            <a:avLst/>
          </a:prstGeom>
          <a:solidFill>
            <a:schemeClr val="accent1"/>
          </a:solidFill>
          <a:ln w="19050" cap="flat" cmpd="sng" algn="ctr">
            <a:solidFill>
              <a:srgbClr val="167D9A"/>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92763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duotone>
              <a:schemeClr val="accent1">
                <a:shade val="45000"/>
                <a:satMod val="135000"/>
              </a:schemeClr>
              <a:prstClr val="white"/>
            </a:duotone>
          </a:blip>
          <a:srcRect t="8516" b="8254"/>
          <a:stretch/>
        </p:blipFill>
        <p:spPr>
          <a:xfrm>
            <a:off x="2671322" y="5185349"/>
            <a:ext cx="817880" cy="680721"/>
          </a:xfrm>
          <a:prstGeom prst="rect">
            <a:avLst/>
          </a:prstGeom>
        </p:spPr>
      </p:pic>
      <p:sp>
        <p:nvSpPr>
          <p:cNvPr id="2" name="Title 1"/>
          <p:cNvSpPr>
            <a:spLocks noGrp="1"/>
          </p:cNvSpPr>
          <p:nvPr>
            <p:ph type="title"/>
          </p:nvPr>
        </p:nvSpPr>
        <p:spPr/>
        <p:txBody>
          <a:bodyPr/>
          <a:lstStyle/>
          <a:p>
            <a:r>
              <a:rPr lang="en-GB" dirty="0">
                <a:solidFill>
                  <a:srgbClr val="263238"/>
                </a:solidFill>
              </a:rPr>
              <a:t>The components and subcomponents to be produced require time from work station and blue collars</a:t>
            </a:r>
          </a:p>
        </p:txBody>
      </p:sp>
      <p:sp>
        <p:nvSpPr>
          <p:cNvPr id="3" name="TextBox 2"/>
          <p:cNvSpPr txBox="1"/>
          <p:nvPr/>
        </p:nvSpPr>
        <p:spPr>
          <a:xfrm>
            <a:off x="365761" y="1109845"/>
            <a:ext cx="9390032" cy="204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If the component does not require subcomponents, or all the subcomponents are available in the warehouse, the production box is put in the incoming queue of the work cell that is assigned to the production code (in case of purchases, the assigned “work cell” is actually the procurement function, which is effectively modelled as a work cell with a lead time for the acquisition)</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When a work cell finds a production box in the incoming queue, the work cell calls the required blue collars, waits in case the blue collars are temporarily not available, and starts three subsequent processes: setup, production, and lead time wait for external purchases</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times for setup, production, and external lead time are taken form the “</a:t>
            </a:r>
            <a:r>
              <a:rPr lang="en-GB" sz="1600" i="1" dirty="0" err="1">
                <a:solidFill>
                  <a:srgbClr val="263238"/>
                </a:solidFill>
              </a:rPr>
              <a:t>bol</a:t>
            </a:r>
            <a:r>
              <a:rPr lang="en-GB" sz="1600" b="0" dirty="0">
                <a:solidFill>
                  <a:srgbClr val="263238"/>
                </a:solidFill>
              </a:rPr>
              <a:t>” worksheet</a:t>
            </a:r>
          </a:p>
        </p:txBody>
      </p:sp>
      <p:pic>
        <p:nvPicPr>
          <p:cNvPr id="4" name="Picture 3"/>
          <p:cNvPicPr>
            <a:picLocks noChangeAspect="1"/>
          </p:cNvPicPr>
          <p:nvPr/>
        </p:nvPicPr>
        <p:blipFill>
          <a:blip r:embed="rId3">
            <a:duotone>
              <a:schemeClr val="accent1">
                <a:shade val="45000"/>
                <a:satMod val="135000"/>
              </a:schemeClr>
              <a:prstClr val="white"/>
            </a:duotone>
          </a:blip>
          <a:stretch>
            <a:fillRect/>
          </a:stretch>
        </p:blipFill>
        <p:spPr>
          <a:xfrm>
            <a:off x="5544062" y="5116769"/>
            <a:ext cx="817880" cy="817880"/>
          </a:xfrm>
          <a:prstGeom prst="rect">
            <a:avLst/>
          </a:prstGeom>
        </p:spPr>
      </p:pic>
      <p:cxnSp>
        <p:nvCxnSpPr>
          <p:cNvPr id="5" name="Straight Arrow Connector 4"/>
          <p:cNvCxnSpPr/>
          <p:nvPr/>
        </p:nvCxnSpPr>
        <p:spPr bwMode="auto">
          <a:xfrm>
            <a:off x="914400" y="3548071"/>
            <a:ext cx="7970520" cy="0"/>
          </a:xfrm>
          <a:prstGeom prst="straightConnector1">
            <a:avLst/>
          </a:prstGeom>
          <a:solidFill>
            <a:schemeClr val="accent1"/>
          </a:solidFill>
          <a:ln w="19050" cap="flat" cmpd="sng" algn="ctr">
            <a:solidFill>
              <a:srgbClr val="0F766E"/>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Oval 5"/>
          <p:cNvSpPr/>
          <p:nvPr/>
        </p:nvSpPr>
        <p:spPr bwMode="auto">
          <a:xfrm>
            <a:off x="1812364" y="3471871"/>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7" name="Isosceles Triangle 6"/>
          <p:cNvSpPr/>
          <p:nvPr/>
        </p:nvSpPr>
        <p:spPr bwMode="auto">
          <a:xfrm rot="10800000">
            <a:off x="5811201" y="3290845"/>
            <a:ext cx="304800" cy="219126"/>
          </a:xfrm>
          <a:prstGeom prst="triangl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8" name="TextBox 7"/>
          <p:cNvSpPr txBox="1"/>
          <p:nvPr/>
        </p:nvSpPr>
        <p:spPr>
          <a:xfrm>
            <a:off x="990810" y="3301850"/>
            <a:ext cx="42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time</a:t>
            </a:r>
          </a:p>
        </p:txBody>
      </p:sp>
      <p:sp>
        <p:nvSpPr>
          <p:cNvPr id="10" name="TextBox 9"/>
          <p:cNvSpPr txBox="1"/>
          <p:nvPr/>
        </p:nvSpPr>
        <p:spPr>
          <a:xfrm>
            <a:off x="2863923" y="5595365"/>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sp>
        <p:nvSpPr>
          <p:cNvPr id="12" name="TextBox 11"/>
          <p:cNvSpPr txBox="1"/>
          <p:nvPr/>
        </p:nvSpPr>
        <p:spPr>
          <a:xfrm>
            <a:off x="5739203" y="5595365"/>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grpSp>
        <p:nvGrpSpPr>
          <p:cNvPr id="23" name="Group 22"/>
          <p:cNvGrpSpPr/>
          <p:nvPr/>
        </p:nvGrpSpPr>
        <p:grpSpPr>
          <a:xfrm>
            <a:off x="4256281" y="5549903"/>
            <a:ext cx="1215317" cy="205420"/>
            <a:chOff x="4596202" y="3701418"/>
            <a:chExt cx="1215317" cy="189862"/>
          </a:xfrm>
        </p:grpSpPr>
        <p:sp>
          <p:nvSpPr>
            <p:cNvPr id="13" name="Rectangle 12"/>
            <p:cNvSpPr/>
            <p:nvPr/>
          </p:nvSpPr>
          <p:spPr bwMode="auto">
            <a:xfrm>
              <a:off x="4596202" y="3701418"/>
              <a:ext cx="1215317" cy="189862"/>
            </a:xfrm>
            <a:prstGeom prst="rect">
              <a:avLst/>
            </a:prstGeom>
            <a:solidFill>
              <a:schemeClr val="bg1"/>
            </a:solid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 name="Parallelogram 14"/>
            <p:cNvSpPr/>
            <p:nvPr/>
          </p:nvSpPr>
          <p:spPr bwMode="auto">
            <a:xfrm>
              <a:off x="4617085"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6" name="Parallelogram 15"/>
            <p:cNvSpPr/>
            <p:nvPr/>
          </p:nvSpPr>
          <p:spPr bwMode="auto">
            <a:xfrm>
              <a:off x="4774367"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7" name="Parallelogram 16"/>
            <p:cNvSpPr/>
            <p:nvPr/>
          </p:nvSpPr>
          <p:spPr bwMode="auto">
            <a:xfrm>
              <a:off x="4931649"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8" name="Parallelogram 17"/>
            <p:cNvSpPr/>
            <p:nvPr/>
          </p:nvSpPr>
          <p:spPr bwMode="auto">
            <a:xfrm>
              <a:off x="5088931"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9" name="Parallelogram 18"/>
            <p:cNvSpPr/>
            <p:nvPr/>
          </p:nvSpPr>
          <p:spPr bwMode="auto">
            <a:xfrm>
              <a:off x="5246213"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20" name="Parallelogram 19"/>
            <p:cNvSpPr/>
            <p:nvPr/>
          </p:nvSpPr>
          <p:spPr bwMode="auto">
            <a:xfrm>
              <a:off x="5403495"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21" name="Parallelogram 20"/>
            <p:cNvSpPr/>
            <p:nvPr/>
          </p:nvSpPr>
          <p:spPr bwMode="auto">
            <a:xfrm>
              <a:off x="5560775" y="3701418"/>
              <a:ext cx="210503" cy="189287"/>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sp>
        <p:nvSpPr>
          <p:cNvPr id="24" name="TextBox 23"/>
          <p:cNvSpPr txBox="1"/>
          <p:nvPr/>
        </p:nvSpPr>
        <p:spPr>
          <a:xfrm>
            <a:off x="4402134" y="5168474"/>
            <a:ext cx="9969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production time</a:t>
            </a:r>
          </a:p>
        </p:txBody>
      </p:sp>
      <p:sp>
        <p:nvSpPr>
          <p:cNvPr id="28" name="TextBox 27"/>
          <p:cNvSpPr txBox="1"/>
          <p:nvPr/>
        </p:nvSpPr>
        <p:spPr>
          <a:xfrm>
            <a:off x="2302433" y="6029864"/>
            <a:ext cx="145494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Empty production box</a:t>
            </a:r>
          </a:p>
        </p:txBody>
      </p:sp>
      <p:sp>
        <p:nvSpPr>
          <p:cNvPr id="29" name="TextBox 28"/>
          <p:cNvSpPr txBox="1"/>
          <p:nvPr/>
        </p:nvSpPr>
        <p:spPr>
          <a:xfrm>
            <a:off x="5294151" y="6063324"/>
            <a:ext cx="173832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spcBef>
                <a:spcPts val="400"/>
              </a:spcBef>
              <a:spcAft>
                <a:spcPts val="400"/>
              </a:spcAft>
              <a:buClr>
                <a:schemeClr val="accent2"/>
              </a:buClr>
              <a:buSzPct val="95000"/>
            </a:pPr>
            <a:r>
              <a:rPr lang="en-GB" sz="1600" b="0" dirty="0">
                <a:solidFill>
                  <a:srgbClr val="263238"/>
                </a:solidFill>
              </a:rPr>
              <a:t>Production box with finished code</a:t>
            </a:r>
          </a:p>
        </p:txBody>
      </p:sp>
      <p:grpSp>
        <p:nvGrpSpPr>
          <p:cNvPr id="46" name="Group 45"/>
          <p:cNvGrpSpPr/>
          <p:nvPr/>
        </p:nvGrpSpPr>
        <p:grpSpPr>
          <a:xfrm>
            <a:off x="3473961" y="5549903"/>
            <a:ext cx="742079" cy="205420"/>
            <a:chOff x="3473961" y="5549903"/>
            <a:chExt cx="742079" cy="205420"/>
          </a:xfrm>
        </p:grpSpPr>
        <p:sp>
          <p:nvSpPr>
            <p:cNvPr id="31" name="Rectangle 30"/>
            <p:cNvSpPr/>
            <p:nvPr/>
          </p:nvSpPr>
          <p:spPr bwMode="auto">
            <a:xfrm>
              <a:off x="3473961" y="5549903"/>
              <a:ext cx="742079" cy="205420"/>
            </a:xfrm>
            <a:prstGeom prst="rect">
              <a:avLst/>
            </a:prstGeom>
            <a:solidFill>
              <a:schemeClr val="bg1"/>
            </a:solidFill>
            <a:ln w="9525" cap="flat" cmpd="sng" algn="ctr">
              <a:solidFill>
                <a:srgbClr val="167D9A"/>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2" name="Parallelogram 31"/>
            <p:cNvSpPr/>
            <p:nvPr/>
          </p:nvSpPr>
          <p:spPr bwMode="auto">
            <a:xfrm>
              <a:off x="3494844"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3" name="Parallelogram 32"/>
            <p:cNvSpPr/>
            <p:nvPr/>
          </p:nvSpPr>
          <p:spPr bwMode="auto">
            <a:xfrm>
              <a:off x="3652126"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4" name="Parallelogram 33"/>
            <p:cNvSpPr/>
            <p:nvPr/>
          </p:nvSpPr>
          <p:spPr bwMode="auto">
            <a:xfrm>
              <a:off x="3809408"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35" name="Parallelogram 34"/>
            <p:cNvSpPr/>
            <p:nvPr/>
          </p:nvSpPr>
          <p:spPr bwMode="auto">
            <a:xfrm>
              <a:off x="3966690" y="5549903"/>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sp>
        <p:nvSpPr>
          <p:cNvPr id="39" name="TextBox 38"/>
          <p:cNvSpPr txBox="1"/>
          <p:nvPr/>
        </p:nvSpPr>
        <p:spPr>
          <a:xfrm>
            <a:off x="3481350" y="5168474"/>
            <a:ext cx="7857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queuing time</a:t>
            </a:r>
          </a:p>
        </p:txBody>
      </p:sp>
      <p:pic>
        <p:nvPicPr>
          <p:cNvPr id="40" name="Picture 39"/>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391868" y="4323979"/>
            <a:ext cx="402286" cy="402286"/>
          </a:xfrm>
          <a:prstGeom prst="rect">
            <a:avLst/>
          </a:prstGeom>
        </p:spPr>
      </p:pic>
      <p:pic>
        <p:nvPicPr>
          <p:cNvPr id="41" name="Picture 40"/>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276968" y="3741009"/>
            <a:ext cx="564714" cy="564714"/>
          </a:xfrm>
          <a:prstGeom prst="rect">
            <a:avLst/>
          </a:prstGeom>
        </p:spPr>
      </p:pic>
      <p:sp>
        <p:nvSpPr>
          <p:cNvPr id="42" name="TextBox 41"/>
          <p:cNvSpPr txBox="1"/>
          <p:nvPr/>
        </p:nvSpPr>
        <p:spPr>
          <a:xfrm>
            <a:off x="4925648" y="3839286"/>
            <a:ext cx="202509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Work station and blue collars working on the code</a:t>
            </a:r>
          </a:p>
        </p:txBody>
      </p:sp>
      <p:cxnSp>
        <p:nvCxnSpPr>
          <p:cNvPr id="44" name="Straight Connector 43"/>
          <p:cNvCxnSpPr/>
          <p:nvPr/>
        </p:nvCxnSpPr>
        <p:spPr bwMode="auto">
          <a:xfrm>
            <a:off x="4235961" y="3638645"/>
            <a:ext cx="0" cy="1764000"/>
          </a:xfrm>
          <a:prstGeom prst="line">
            <a:avLst/>
          </a:prstGeom>
          <a:solidFill>
            <a:schemeClr val="accent1"/>
          </a:solidFill>
          <a:ln w="19050" cap="flat" cmpd="sng" algn="ctr">
            <a:solidFill>
              <a:srgbClr val="0F766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Pentagon 44"/>
          <p:cNvSpPr/>
          <p:nvPr/>
        </p:nvSpPr>
        <p:spPr bwMode="auto">
          <a:xfrm>
            <a:off x="3372336" y="3822613"/>
            <a:ext cx="770082" cy="482672"/>
          </a:xfrm>
          <a:prstGeom prst="homePlate">
            <a:avLst>
              <a:gd name="adj" fmla="val 24324"/>
            </a:avLst>
          </a:prstGeom>
          <a:solidFill>
            <a:srgbClr val="167D9A"/>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r>
              <a:rPr lang="en-GB" sz="1200" dirty="0">
                <a:solidFill>
                  <a:schemeClr val="bg1"/>
                </a:solidFill>
              </a:rPr>
              <a:t>queue</a:t>
            </a:r>
          </a:p>
        </p:txBody>
      </p:sp>
      <p:pic>
        <p:nvPicPr>
          <p:cNvPr id="47" name="Picture 46"/>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636745" y="5823041"/>
            <a:ext cx="453044" cy="453044"/>
          </a:xfrm>
          <a:prstGeom prst="rect">
            <a:avLst/>
          </a:prstGeom>
        </p:spPr>
      </p:pic>
      <p:pic>
        <p:nvPicPr>
          <p:cNvPr id="48" name="Picture 47"/>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652126" y="5823041"/>
            <a:ext cx="453044" cy="453044"/>
          </a:xfrm>
          <a:prstGeom prst="rect">
            <a:avLst/>
          </a:prstGeom>
        </p:spPr>
      </p:pic>
    </p:spTree>
    <p:extLst>
      <p:ext uri="{BB962C8B-B14F-4D97-AF65-F5344CB8AC3E}">
        <p14:creationId xmlns:p14="http://schemas.microsoft.com/office/powerpoint/2010/main" val="3824943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Components are produced trough an inverse order in respect to the </a:t>
            </a:r>
            <a:r>
              <a:rPr lang="en-GB" dirty="0" err="1">
                <a:solidFill>
                  <a:srgbClr val="263238"/>
                </a:solidFill>
              </a:rPr>
              <a:t>bom</a:t>
            </a:r>
            <a:r>
              <a:rPr lang="en-GB" dirty="0">
                <a:solidFill>
                  <a:srgbClr val="263238"/>
                </a:solidFill>
              </a:rPr>
              <a:t> listing – from subcomponents to assemblies</a:t>
            </a:r>
          </a:p>
        </p:txBody>
      </p:sp>
      <p:sp>
        <p:nvSpPr>
          <p:cNvPr id="3" name="TextBox 2"/>
          <p:cNvSpPr txBox="1"/>
          <p:nvPr/>
        </p:nvSpPr>
        <p:spPr>
          <a:xfrm>
            <a:off x="365761" y="1109845"/>
            <a:ext cx="9390032"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The actual production of codes is executed in the reverse order with respect to the generation of production boxes</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Each production box is put in queue for production when all needed components became available</a:t>
            </a:r>
          </a:p>
          <a:p>
            <a:pPr marL="273050" lvl="1" indent="-273050" algn="l">
              <a:spcBef>
                <a:spcPts val="300"/>
              </a:spcBef>
              <a:spcAft>
                <a:spcPts val="0"/>
              </a:spcAft>
              <a:buClr>
                <a:schemeClr val="accent2">
                  <a:lumMod val="100000"/>
                </a:schemeClr>
              </a:buClr>
              <a:buSzPct val="95000"/>
              <a:buFont typeface="Wingdings 2" panose="05020102010507070707" pitchFamily="18" charset="2"/>
              <a:buChar char=""/>
            </a:pPr>
            <a:r>
              <a:rPr lang="en-GB" sz="1600" b="0" dirty="0">
                <a:solidFill>
                  <a:srgbClr val="263238"/>
                </a:solidFill>
              </a:rPr>
              <a:t>During the simulation, relevant events are stored in a log table, which will be exported in excel as the output from the simulation</a:t>
            </a:r>
          </a:p>
        </p:txBody>
      </p:sp>
      <p:cxnSp>
        <p:nvCxnSpPr>
          <p:cNvPr id="5" name="Straight Arrow Connector 4"/>
          <p:cNvCxnSpPr/>
          <p:nvPr/>
        </p:nvCxnSpPr>
        <p:spPr bwMode="auto">
          <a:xfrm>
            <a:off x="243840" y="2790188"/>
            <a:ext cx="9367520" cy="0"/>
          </a:xfrm>
          <a:prstGeom prst="straightConnector1">
            <a:avLst/>
          </a:prstGeom>
          <a:solidFill>
            <a:schemeClr val="accent1"/>
          </a:solidFill>
          <a:ln w="19050" cap="flat" cmpd="sng" algn="ctr">
            <a:solidFill>
              <a:srgbClr val="0F766E"/>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Oval 6"/>
          <p:cNvSpPr/>
          <p:nvPr/>
        </p:nvSpPr>
        <p:spPr bwMode="auto">
          <a:xfrm>
            <a:off x="816895" y="2713989"/>
            <a:ext cx="152400" cy="152400"/>
          </a:xfrm>
          <a:prstGeom prst="ellips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 name="Isosceles Triangle 12"/>
          <p:cNvSpPr/>
          <p:nvPr/>
        </p:nvSpPr>
        <p:spPr bwMode="auto">
          <a:xfrm rot="10800000">
            <a:off x="8726800" y="2494862"/>
            <a:ext cx="304800" cy="219126"/>
          </a:xfrm>
          <a:prstGeom prst="triangle">
            <a:avLst/>
          </a:prstGeom>
          <a:solidFill>
            <a:srgbClr val="0F766E"/>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pic>
        <p:nvPicPr>
          <p:cNvPr id="15" name="Picture 14"/>
          <p:cNvPicPr>
            <a:picLocks noChangeAspect="1"/>
          </p:cNvPicPr>
          <p:nvPr/>
        </p:nvPicPr>
        <p:blipFill rotWithShape="1">
          <a:blip r:embed="rId2">
            <a:duotone>
              <a:schemeClr val="accent1">
                <a:shade val="45000"/>
                <a:satMod val="135000"/>
              </a:schemeClr>
              <a:prstClr val="white"/>
            </a:duotone>
          </a:blip>
          <a:srcRect t="8516" b="8254"/>
          <a:stretch/>
        </p:blipFill>
        <p:spPr>
          <a:xfrm>
            <a:off x="6658684" y="3349151"/>
            <a:ext cx="817880" cy="680721"/>
          </a:xfrm>
          <a:prstGeom prst="rect">
            <a:avLst/>
          </a:prstGeom>
        </p:spPr>
      </p:pic>
      <p:sp>
        <p:nvSpPr>
          <p:cNvPr id="17" name="TextBox 16"/>
          <p:cNvSpPr txBox="1"/>
          <p:nvPr/>
        </p:nvSpPr>
        <p:spPr>
          <a:xfrm>
            <a:off x="1857337" y="2543967"/>
            <a:ext cx="42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dirty="0">
                <a:solidFill>
                  <a:srgbClr val="0F766E"/>
                </a:solidFill>
              </a:rPr>
              <a:t>time</a:t>
            </a:r>
          </a:p>
        </p:txBody>
      </p:sp>
      <p:pic>
        <p:nvPicPr>
          <p:cNvPr id="24" name="Picture 23"/>
          <p:cNvPicPr>
            <a:picLocks noChangeAspect="1"/>
          </p:cNvPicPr>
          <p:nvPr/>
        </p:nvPicPr>
        <p:blipFill rotWithShape="1">
          <a:blip r:embed="rId2">
            <a:duotone>
              <a:schemeClr val="accent1">
                <a:shade val="45000"/>
                <a:satMod val="135000"/>
              </a:schemeClr>
              <a:prstClr val="white"/>
            </a:duotone>
          </a:blip>
          <a:srcRect t="8516" b="8254"/>
          <a:stretch/>
        </p:blipFill>
        <p:spPr>
          <a:xfrm>
            <a:off x="477376" y="3219962"/>
            <a:ext cx="817880" cy="680721"/>
          </a:xfrm>
          <a:prstGeom prst="rect">
            <a:avLst/>
          </a:prstGeom>
        </p:spPr>
      </p:pic>
      <p:pic>
        <p:nvPicPr>
          <p:cNvPr id="27" name="Picture 26"/>
          <p:cNvPicPr>
            <a:picLocks noChangeAspect="1"/>
          </p:cNvPicPr>
          <p:nvPr/>
        </p:nvPicPr>
        <p:blipFill rotWithShape="1">
          <a:blip r:embed="rId2">
            <a:duotone>
              <a:schemeClr val="accent1">
                <a:shade val="45000"/>
                <a:satMod val="135000"/>
              </a:schemeClr>
              <a:prstClr val="white"/>
            </a:duotone>
          </a:blip>
          <a:srcRect t="8516" b="8254"/>
          <a:stretch/>
        </p:blipFill>
        <p:spPr>
          <a:xfrm>
            <a:off x="3640113" y="4498906"/>
            <a:ext cx="817880" cy="680721"/>
          </a:xfrm>
          <a:prstGeom prst="rect">
            <a:avLst/>
          </a:prstGeom>
        </p:spPr>
      </p:pic>
      <p:pic>
        <p:nvPicPr>
          <p:cNvPr id="34" name="Picture 33"/>
          <p:cNvPicPr>
            <a:picLocks noChangeAspect="1"/>
          </p:cNvPicPr>
          <p:nvPr/>
        </p:nvPicPr>
        <p:blipFill rotWithShape="1">
          <a:blip r:embed="rId2">
            <a:duotone>
              <a:schemeClr val="accent1">
                <a:shade val="45000"/>
                <a:satMod val="135000"/>
              </a:schemeClr>
              <a:prstClr val="white"/>
            </a:duotone>
          </a:blip>
          <a:srcRect t="8516" b="8254"/>
          <a:stretch/>
        </p:blipFill>
        <p:spPr>
          <a:xfrm>
            <a:off x="477376" y="4108049"/>
            <a:ext cx="817880" cy="680721"/>
          </a:xfrm>
          <a:prstGeom prst="rect">
            <a:avLst/>
          </a:prstGeom>
        </p:spPr>
      </p:pic>
      <p:pic>
        <p:nvPicPr>
          <p:cNvPr id="61" name="Picture 60"/>
          <p:cNvPicPr>
            <a:picLocks noChangeAspect="1"/>
          </p:cNvPicPr>
          <p:nvPr/>
        </p:nvPicPr>
        <p:blipFill rotWithShape="1">
          <a:blip r:embed="rId2">
            <a:duotone>
              <a:schemeClr val="accent1">
                <a:shade val="45000"/>
                <a:satMod val="135000"/>
              </a:schemeClr>
              <a:prstClr val="white"/>
            </a:duotone>
          </a:blip>
          <a:srcRect t="8516" b="8254"/>
          <a:stretch/>
        </p:blipFill>
        <p:spPr>
          <a:xfrm>
            <a:off x="479493" y="5047335"/>
            <a:ext cx="817880" cy="680721"/>
          </a:xfrm>
          <a:prstGeom prst="rect">
            <a:avLst/>
          </a:prstGeom>
        </p:spPr>
      </p:pic>
      <p:sp>
        <p:nvSpPr>
          <p:cNvPr id="75" name="TextBox 74"/>
          <p:cNvSpPr txBox="1"/>
          <p:nvPr/>
        </p:nvSpPr>
        <p:spPr>
          <a:xfrm>
            <a:off x="6946534" y="3736490"/>
            <a:ext cx="8496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a:t>
            </a:r>
          </a:p>
        </p:txBody>
      </p:sp>
      <p:sp>
        <p:nvSpPr>
          <p:cNvPr id="76" name="TextBox 75"/>
          <p:cNvSpPr txBox="1"/>
          <p:nvPr/>
        </p:nvSpPr>
        <p:spPr>
          <a:xfrm>
            <a:off x="726979" y="3586963"/>
            <a:ext cx="16145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11</a:t>
            </a:r>
          </a:p>
        </p:txBody>
      </p:sp>
      <p:sp>
        <p:nvSpPr>
          <p:cNvPr id="77" name="TextBox 76"/>
          <p:cNvSpPr txBox="1"/>
          <p:nvPr/>
        </p:nvSpPr>
        <p:spPr>
          <a:xfrm>
            <a:off x="3885484" y="4872381"/>
            <a:ext cx="16991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a:t>
            </a:r>
          </a:p>
        </p:txBody>
      </p:sp>
      <p:sp>
        <p:nvSpPr>
          <p:cNvPr id="78" name="TextBox 77"/>
          <p:cNvSpPr txBox="1"/>
          <p:nvPr/>
        </p:nvSpPr>
        <p:spPr>
          <a:xfrm>
            <a:off x="685217" y="4498906"/>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121</a:t>
            </a:r>
          </a:p>
        </p:txBody>
      </p:sp>
      <p:sp>
        <p:nvSpPr>
          <p:cNvPr id="79" name="TextBox 78"/>
          <p:cNvSpPr txBox="1"/>
          <p:nvPr/>
        </p:nvSpPr>
        <p:spPr>
          <a:xfrm>
            <a:off x="687334" y="5457351"/>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pic>
        <p:nvPicPr>
          <p:cNvPr id="58" name="Picture 57"/>
          <p:cNvPicPr>
            <a:picLocks noChangeAspect="1"/>
          </p:cNvPicPr>
          <p:nvPr/>
        </p:nvPicPr>
        <p:blipFill>
          <a:blip r:embed="rId3">
            <a:duotone>
              <a:schemeClr val="accent1">
                <a:shade val="45000"/>
                <a:satMod val="135000"/>
              </a:schemeClr>
              <a:prstClr val="white"/>
            </a:duotone>
          </a:blip>
          <a:stretch>
            <a:fillRect/>
          </a:stretch>
        </p:blipFill>
        <p:spPr>
          <a:xfrm>
            <a:off x="2252222" y="3148169"/>
            <a:ext cx="817880" cy="817880"/>
          </a:xfrm>
          <a:prstGeom prst="rect">
            <a:avLst/>
          </a:prstGeom>
        </p:spPr>
      </p:pic>
      <p:sp>
        <p:nvSpPr>
          <p:cNvPr id="59" name="TextBox 58"/>
          <p:cNvSpPr txBox="1"/>
          <p:nvPr/>
        </p:nvSpPr>
        <p:spPr>
          <a:xfrm>
            <a:off x="2494075" y="3626765"/>
            <a:ext cx="16145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11</a:t>
            </a:r>
          </a:p>
        </p:txBody>
      </p:sp>
      <p:pic>
        <p:nvPicPr>
          <p:cNvPr id="60" name="Picture 59"/>
          <p:cNvPicPr>
            <a:picLocks noChangeAspect="1"/>
          </p:cNvPicPr>
          <p:nvPr/>
        </p:nvPicPr>
        <p:blipFill>
          <a:blip r:embed="rId3">
            <a:duotone>
              <a:schemeClr val="accent1">
                <a:shade val="45000"/>
                <a:satMod val="135000"/>
              </a:schemeClr>
              <a:prstClr val="white"/>
            </a:duotone>
          </a:blip>
          <a:stretch>
            <a:fillRect/>
          </a:stretch>
        </p:blipFill>
        <p:spPr>
          <a:xfrm>
            <a:off x="2252222" y="4047208"/>
            <a:ext cx="817880" cy="817880"/>
          </a:xfrm>
          <a:prstGeom prst="rect">
            <a:avLst/>
          </a:prstGeom>
        </p:spPr>
      </p:pic>
      <p:sp>
        <p:nvSpPr>
          <p:cNvPr id="62" name="TextBox 61"/>
          <p:cNvSpPr txBox="1"/>
          <p:nvPr/>
        </p:nvSpPr>
        <p:spPr>
          <a:xfrm>
            <a:off x="2447363" y="4525804"/>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121</a:t>
            </a:r>
          </a:p>
        </p:txBody>
      </p:sp>
      <p:pic>
        <p:nvPicPr>
          <p:cNvPr id="64" name="Picture 63"/>
          <p:cNvPicPr>
            <a:picLocks noChangeAspect="1"/>
          </p:cNvPicPr>
          <p:nvPr/>
        </p:nvPicPr>
        <p:blipFill>
          <a:blip r:embed="rId3">
            <a:duotone>
              <a:schemeClr val="accent1">
                <a:shade val="45000"/>
                <a:satMod val="135000"/>
              </a:schemeClr>
              <a:prstClr val="white"/>
            </a:duotone>
          </a:blip>
          <a:stretch>
            <a:fillRect/>
          </a:stretch>
        </p:blipFill>
        <p:spPr>
          <a:xfrm>
            <a:off x="2252222" y="4964218"/>
            <a:ext cx="817880" cy="817880"/>
          </a:xfrm>
          <a:prstGeom prst="rect">
            <a:avLst/>
          </a:prstGeom>
        </p:spPr>
      </p:pic>
      <p:sp>
        <p:nvSpPr>
          <p:cNvPr id="65" name="TextBox 64"/>
          <p:cNvSpPr txBox="1"/>
          <p:nvPr/>
        </p:nvSpPr>
        <p:spPr>
          <a:xfrm>
            <a:off x="2447363" y="5442814"/>
            <a:ext cx="25487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122</a:t>
            </a:r>
          </a:p>
        </p:txBody>
      </p:sp>
      <p:pic>
        <p:nvPicPr>
          <p:cNvPr id="68" name="Picture 67"/>
          <p:cNvPicPr>
            <a:picLocks noChangeAspect="1"/>
          </p:cNvPicPr>
          <p:nvPr/>
        </p:nvPicPr>
        <p:blipFill>
          <a:blip r:embed="rId3">
            <a:duotone>
              <a:schemeClr val="accent1">
                <a:shade val="45000"/>
                <a:satMod val="135000"/>
              </a:schemeClr>
              <a:prstClr val="white"/>
            </a:duotone>
          </a:blip>
          <a:stretch>
            <a:fillRect/>
          </a:stretch>
        </p:blipFill>
        <p:spPr>
          <a:xfrm>
            <a:off x="5439335" y="4431074"/>
            <a:ext cx="817880" cy="817880"/>
          </a:xfrm>
          <a:prstGeom prst="rect">
            <a:avLst/>
          </a:prstGeom>
        </p:spPr>
      </p:pic>
      <p:sp>
        <p:nvSpPr>
          <p:cNvPr id="71" name="TextBox 70"/>
          <p:cNvSpPr txBox="1"/>
          <p:nvPr/>
        </p:nvSpPr>
        <p:spPr>
          <a:xfrm>
            <a:off x="5676956" y="4909670"/>
            <a:ext cx="16991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12</a:t>
            </a:r>
          </a:p>
        </p:txBody>
      </p:sp>
      <p:grpSp>
        <p:nvGrpSpPr>
          <p:cNvPr id="14" name="Group 13"/>
          <p:cNvGrpSpPr/>
          <p:nvPr/>
        </p:nvGrpSpPr>
        <p:grpSpPr>
          <a:xfrm>
            <a:off x="1295257" y="3501744"/>
            <a:ext cx="895420" cy="205420"/>
            <a:chOff x="4539273" y="2099046"/>
            <a:chExt cx="1215317" cy="205420"/>
          </a:xfrm>
        </p:grpSpPr>
        <p:sp>
          <p:nvSpPr>
            <p:cNvPr id="93" name="Parallelogram 92"/>
            <p:cNvSpPr/>
            <p:nvPr/>
          </p:nvSpPr>
          <p:spPr bwMode="auto">
            <a:xfrm>
              <a:off x="4560156"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94" name="Parallelogram 93"/>
            <p:cNvSpPr/>
            <p:nvPr/>
          </p:nvSpPr>
          <p:spPr bwMode="auto">
            <a:xfrm>
              <a:off x="4717438"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95" name="Parallelogram 94"/>
            <p:cNvSpPr/>
            <p:nvPr/>
          </p:nvSpPr>
          <p:spPr bwMode="auto">
            <a:xfrm>
              <a:off x="4874720"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96" name="Parallelogram 95"/>
            <p:cNvSpPr/>
            <p:nvPr/>
          </p:nvSpPr>
          <p:spPr bwMode="auto">
            <a:xfrm>
              <a:off x="5032002"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97" name="Parallelogram 96"/>
            <p:cNvSpPr/>
            <p:nvPr/>
          </p:nvSpPr>
          <p:spPr bwMode="auto">
            <a:xfrm>
              <a:off x="5189284"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98" name="Parallelogram 97"/>
            <p:cNvSpPr/>
            <p:nvPr/>
          </p:nvSpPr>
          <p:spPr bwMode="auto">
            <a:xfrm>
              <a:off x="534656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99" name="Parallelogram 98"/>
            <p:cNvSpPr/>
            <p:nvPr/>
          </p:nvSpPr>
          <p:spPr bwMode="auto">
            <a:xfrm>
              <a:off x="550384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92" name="Rectangle 91"/>
            <p:cNvSpPr/>
            <p:nvPr/>
          </p:nvSpPr>
          <p:spPr bwMode="auto">
            <a:xfrm>
              <a:off x="4539273" y="2099046"/>
              <a:ext cx="1215317" cy="205420"/>
            </a:xfrm>
            <a:prstGeom prst="rect">
              <a:avLst/>
            </a:prstGeom>
            <a:no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grpSp>
        <p:nvGrpSpPr>
          <p:cNvPr id="121" name="Group 120"/>
          <p:cNvGrpSpPr/>
          <p:nvPr/>
        </p:nvGrpSpPr>
        <p:grpSpPr>
          <a:xfrm>
            <a:off x="1295257" y="4412978"/>
            <a:ext cx="895420" cy="205420"/>
            <a:chOff x="4539273" y="2099046"/>
            <a:chExt cx="1215317" cy="205420"/>
          </a:xfrm>
        </p:grpSpPr>
        <p:sp>
          <p:nvSpPr>
            <p:cNvPr id="122" name="Parallelogram 121"/>
            <p:cNvSpPr/>
            <p:nvPr/>
          </p:nvSpPr>
          <p:spPr bwMode="auto">
            <a:xfrm>
              <a:off x="4560156"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23" name="Parallelogram 122"/>
            <p:cNvSpPr/>
            <p:nvPr/>
          </p:nvSpPr>
          <p:spPr bwMode="auto">
            <a:xfrm>
              <a:off x="4717438"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24" name="Parallelogram 123"/>
            <p:cNvSpPr/>
            <p:nvPr/>
          </p:nvSpPr>
          <p:spPr bwMode="auto">
            <a:xfrm>
              <a:off x="4874720"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125" name="Parallelogram 124"/>
            <p:cNvSpPr/>
            <p:nvPr/>
          </p:nvSpPr>
          <p:spPr bwMode="auto">
            <a:xfrm>
              <a:off x="5032002"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26" name="Parallelogram 125"/>
            <p:cNvSpPr/>
            <p:nvPr/>
          </p:nvSpPr>
          <p:spPr bwMode="auto">
            <a:xfrm>
              <a:off x="5189284"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27" name="Parallelogram 126"/>
            <p:cNvSpPr/>
            <p:nvPr/>
          </p:nvSpPr>
          <p:spPr bwMode="auto">
            <a:xfrm>
              <a:off x="534656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28" name="Parallelogram 127"/>
            <p:cNvSpPr/>
            <p:nvPr/>
          </p:nvSpPr>
          <p:spPr bwMode="auto">
            <a:xfrm>
              <a:off x="550384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29" name="Rectangle 128"/>
            <p:cNvSpPr/>
            <p:nvPr/>
          </p:nvSpPr>
          <p:spPr bwMode="auto">
            <a:xfrm>
              <a:off x="4539273" y="2099046"/>
              <a:ext cx="1215317" cy="205420"/>
            </a:xfrm>
            <a:prstGeom prst="rect">
              <a:avLst/>
            </a:prstGeom>
            <a:no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grpSp>
        <p:nvGrpSpPr>
          <p:cNvPr id="130" name="Group 129"/>
          <p:cNvGrpSpPr/>
          <p:nvPr/>
        </p:nvGrpSpPr>
        <p:grpSpPr>
          <a:xfrm>
            <a:off x="1295257" y="5357663"/>
            <a:ext cx="895420" cy="205420"/>
            <a:chOff x="4539273" y="2099046"/>
            <a:chExt cx="1215317" cy="205420"/>
          </a:xfrm>
        </p:grpSpPr>
        <p:sp>
          <p:nvSpPr>
            <p:cNvPr id="131" name="Parallelogram 130"/>
            <p:cNvSpPr/>
            <p:nvPr/>
          </p:nvSpPr>
          <p:spPr bwMode="auto">
            <a:xfrm>
              <a:off x="4560156"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2" name="Parallelogram 131"/>
            <p:cNvSpPr/>
            <p:nvPr/>
          </p:nvSpPr>
          <p:spPr bwMode="auto">
            <a:xfrm>
              <a:off x="4717438"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3" name="Parallelogram 132"/>
            <p:cNvSpPr/>
            <p:nvPr/>
          </p:nvSpPr>
          <p:spPr bwMode="auto">
            <a:xfrm>
              <a:off x="4874720"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134" name="Parallelogram 133"/>
            <p:cNvSpPr/>
            <p:nvPr/>
          </p:nvSpPr>
          <p:spPr bwMode="auto">
            <a:xfrm>
              <a:off x="5032002"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5" name="Parallelogram 134"/>
            <p:cNvSpPr/>
            <p:nvPr/>
          </p:nvSpPr>
          <p:spPr bwMode="auto">
            <a:xfrm>
              <a:off x="5189284"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6" name="Parallelogram 135"/>
            <p:cNvSpPr/>
            <p:nvPr/>
          </p:nvSpPr>
          <p:spPr bwMode="auto">
            <a:xfrm>
              <a:off x="534656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7" name="Parallelogram 136"/>
            <p:cNvSpPr/>
            <p:nvPr/>
          </p:nvSpPr>
          <p:spPr bwMode="auto">
            <a:xfrm>
              <a:off x="550384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38" name="Rectangle 137"/>
            <p:cNvSpPr/>
            <p:nvPr/>
          </p:nvSpPr>
          <p:spPr bwMode="auto">
            <a:xfrm>
              <a:off x="4539273" y="2099046"/>
              <a:ext cx="1215317" cy="205420"/>
            </a:xfrm>
            <a:prstGeom prst="rect">
              <a:avLst/>
            </a:prstGeom>
            <a:no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grpSp>
        <p:nvGrpSpPr>
          <p:cNvPr id="139" name="Group 138"/>
          <p:cNvGrpSpPr/>
          <p:nvPr/>
        </p:nvGrpSpPr>
        <p:grpSpPr>
          <a:xfrm>
            <a:off x="4500826" y="4769671"/>
            <a:ext cx="895420" cy="205420"/>
            <a:chOff x="4539273" y="2099046"/>
            <a:chExt cx="1215317" cy="205420"/>
          </a:xfrm>
        </p:grpSpPr>
        <p:sp>
          <p:nvSpPr>
            <p:cNvPr id="140" name="Parallelogram 139"/>
            <p:cNvSpPr/>
            <p:nvPr/>
          </p:nvSpPr>
          <p:spPr bwMode="auto">
            <a:xfrm>
              <a:off x="4560156"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41" name="Parallelogram 140"/>
            <p:cNvSpPr/>
            <p:nvPr/>
          </p:nvSpPr>
          <p:spPr bwMode="auto">
            <a:xfrm>
              <a:off x="4717438"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42" name="Parallelogram 141"/>
            <p:cNvSpPr/>
            <p:nvPr/>
          </p:nvSpPr>
          <p:spPr bwMode="auto">
            <a:xfrm>
              <a:off x="4874720"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143" name="Parallelogram 142"/>
            <p:cNvSpPr/>
            <p:nvPr/>
          </p:nvSpPr>
          <p:spPr bwMode="auto">
            <a:xfrm>
              <a:off x="5032002"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44" name="Parallelogram 143"/>
            <p:cNvSpPr/>
            <p:nvPr/>
          </p:nvSpPr>
          <p:spPr bwMode="auto">
            <a:xfrm>
              <a:off x="5189284"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45" name="Parallelogram 144"/>
            <p:cNvSpPr/>
            <p:nvPr/>
          </p:nvSpPr>
          <p:spPr bwMode="auto">
            <a:xfrm>
              <a:off x="534656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46" name="Parallelogram 145"/>
            <p:cNvSpPr/>
            <p:nvPr/>
          </p:nvSpPr>
          <p:spPr bwMode="auto">
            <a:xfrm>
              <a:off x="550384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47" name="Rectangle 146"/>
            <p:cNvSpPr/>
            <p:nvPr/>
          </p:nvSpPr>
          <p:spPr bwMode="auto">
            <a:xfrm>
              <a:off x="4539273" y="2099046"/>
              <a:ext cx="1215317" cy="205420"/>
            </a:xfrm>
            <a:prstGeom prst="rect">
              <a:avLst/>
            </a:prstGeom>
            <a:no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grpSp>
        <p:nvGrpSpPr>
          <p:cNvPr id="148" name="Group 147"/>
          <p:cNvGrpSpPr/>
          <p:nvPr/>
        </p:nvGrpSpPr>
        <p:grpSpPr>
          <a:xfrm>
            <a:off x="7506900" y="3586801"/>
            <a:ext cx="895420" cy="205420"/>
            <a:chOff x="4539273" y="2099046"/>
            <a:chExt cx="1215317" cy="205420"/>
          </a:xfrm>
        </p:grpSpPr>
        <p:sp>
          <p:nvSpPr>
            <p:cNvPr id="149" name="Parallelogram 148"/>
            <p:cNvSpPr/>
            <p:nvPr/>
          </p:nvSpPr>
          <p:spPr bwMode="auto">
            <a:xfrm>
              <a:off x="4560156"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0" name="Parallelogram 149"/>
            <p:cNvSpPr/>
            <p:nvPr/>
          </p:nvSpPr>
          <p:spPr bwMode="auto">
            <a:xfrm>
              <a:off x="4717438"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1" name="Parallelogram 150"/>
            <p:cNvSpPr/>
            <p:nvPr/>
          </p:nvSpPr>
          <p:spPr bwMode="auto">
            <a:xfrm>
              <a:off x="4874720" y="2099046"/>
              <a:ext cx="210503" cy="204798"/>
            </a:xfrm>
            <a:prstGeom prst="parallelogram">
              <a:avLst>
                <a:gd name="adj" fmla="val 59118"/>
              </a:avLst>
            </a:prstGeom>
            <a:solidFill>
              <a:srgbClr val="167D9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algn="l"/>
              <a:endParaRPr lang="en-GB" sz="1600" b="0" dirty="0" err="1"/>
            </a:p>
          </p:txBody>
        </p:sp>
        <p:sp>
          <p:nvSpPr>
            <p:cNvPr id="152" name="Parallelogram 151"/>
            <p:cNvSpPr/>
            <p:nvPr/>
          </p:nvSpPr>
          <p:spPr bwMode="auto">
            <a:xfrm>
              <a:off x="5032002"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3" name="Parallelogram 152"/>
            <p:cNvSpPr/>
            <p:nvPr/>
          </p:nvSpPr>
          <p:spPr bwMode="auto">
            <a:xfrm>
              <a:off x="5189284"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4" name="Parallelogram 153"/>
            <p:cNvSpPr/>
            <p:nvPr/>
          </p:nvSpPr>
          <p:spPr bwMode="auto">
            <a:xfrm>
              <a:off x="534656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5" name="Parallelogram 154"/>
            <p:cNvSpPr/>
            <p:nvPr/>
          </p:nvSpPr>
          <p:spPr bwMode="auto">
            <a:xfrm>
              <a:off x="5503846" y="2099046"/>
              <a:ext cx="210503" cy="204798"/>
            </a:xfrm>
            <a:prstGeom prst="parallelogram">
              <a:avLst>
                <a:gd name="adj" fmla="val 59118"/>
              </a:avLst>
            </a:prstGeom>
            <a:solidFill>
              <a:srgbClr val="0F766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sp>
          <p:nvSpPr>
            <p:cNvPr id="156" name="Rectangle 155"/>
            <p:cNvSpPr/>
            <p:nvPr/>
          </p:nvSpPr>
          <p:spPr bwMode="auto">
            <a:xfrm>
              <a:off x="4539273" y="2099046"/>
              <a:ext cx="1215317" cy="205420"/>
            </a:xfrm>
            <a:prstGeom prst="rect">
              <a:avLst/>
            </a:prstGeom>
            <a:noFill/>
            <a:ln w="9525" cap="flat" cmpd="sng" algn="ctr">
              <a:solidFill>
                <a:srgbClr val="0F766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err="1">
                <a:ln>
                  <a:noFill/>
                </a:ln>
                <a:solidFill>
                  <a:schemeClr val="tx1"/>
                </a:solidFill>
                <a:effectLst/>
                <a:latin typeface="Arial" charset="0"/>
                <a:ea typeface="Arial Unicode MS" pitchFamily="34" charset="-128"/>
                <a:cs typeface="Arial Unicode MS" pitchFamily="34" charset="-128"/>
              </a:endParaRPr>
            </a:p>
          </p:txBody>
        </p:sp>
      </p:grpSp>
      <p:pic>
        <p:nvPicPr>
          <p:cNvPr id="157" name="Picture 156"/>
          <p:cNvPicPr>
            <a:picLocks noChangeAspect="1"/>
          </p:cNvPicPr>
          <p:nvPr/>
        </p:nvPicPr>
        <p:blipFill>
          <a:blip r:embed="rId3">
            <a:duotone>
              <a:schemeClr val="accent1">
                <a:shade val="45000"/>
                <a:satMod val="135000"/>
              </a:schemeClr>
              <a:prstClr val="white"/>
            </a:duotone>
          </a:blip>
          <a:stretch>
            <a:fillRect/>
          </a:stretch>
        </p:blipFill>
        <p:spPr>
          <a:xfrm>
            <a:off x="8427576" y="3277914"/>
            <a:ext cx="817880" cy="817880"/>
          </a:xfrm>
          <a:prstGeom prst="rect">
            <a:avLst/>
          </a:prstGeom>
        </p:spPr>
      </p:pic>
      <p:sp>
        <p:nvSpPr>
          <p:cNvPr id="158" name="TextBox 157"/>
          <p:cNvSpPr txBox="1"/>
          <p:nvPr/>
        </p:nvSpPr>
        <p:spPr>
          <a:xfrm>
            <a:off x="8707676" y="3756510"/>
            <a:ext cx="84959"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1</a:t>
            </a:r>
          </a:p>
        </p:txBody>
      </p:sp>
      <p:cxnSp>
        <p:nvCxnSpPr>
          <p:cNvPr id="18" name="Elbow Connector 17"/>
          <p:cNvCxnSpPr>
            <a:stCxn id="60" idx="3"/>
            <a:endCxn id="27" idx="1"/>
          </p:cNvCxnSpPr>
          <p:nvPr/>
        </p:nvCxnSpPr>
        <p:spPr bwMode="auto">
          <a:xfrm>
            <a:off x="3070102" y="4456148"/>
            <a:ext cx="570011" cy="383119"/>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Elbow Connector 20"/>
          <p:cNvCxnSpPr>
            <a:stCxn id="64" idx="3"/>
            <a:endCxn id="27" idx="1"/>
          </p:cNvCxnSpPr>
          <p:nvPr/>
        </p:nvCxnSpPr>
        <p:spPr bwMode="auto">
          <a:xfrm flipV="1">
            <a:off x="3070102" y="4839267"/>
            <a:ext cx="570011" cy="533891"/>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Elbow Connector 24"/>
          <p:cNvCxnSpPr>
            <a:stCxn id="58" idx="3"/>
            <a:endCxn id="15" idx="1"/>
          </p:cNvCxnSpPr>
          <p:nvPr/>
        </p:nvCxnSpPr>
        <p:spPr bwMode="auto">
          <a:xfrm>
            <a:off x="3070102" y="3557109"/>
            <a:ext cx="3588582" cy="132403"/>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Elbow Connector 27"/>
          <p:cNvCxnSpPr>
            <a:stCxn id="68" idx="3"/>
            <a:endCxn id="15" idx="1"/>
          </p:cNvCxnSpPr>
          <p:nvPr/>
        </p:nvCxnSpPr>
        <p:spPr bwMode="auto">
          <a:xfrm flipV="1">
            <a:off x="6257215" y="3689512"/>
            <a:ext cx="401469" cy="1150502"/>
          </a:xfrm>
          <a:prstGeom prst="bentConnector3">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p:cNvSpPr txBox="1"/>
          <p:nvPr/>
        </p:nvSpPr>
        <p:spPr>
          <a:xfrm>
            <a:off x="459354" y="5740399"/>
            <a:ext cx="55233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Production box 122 is put in waiting queue immediately because it does not require components</a:t>
            </a:r>
          </a:p>
        </p:txBody>
      </p:sp>
      <p:sp>
        <p:nvSpPr>
          <p:cNvPr id="159" name="TextBox 158"/>
          <p:cNvSpPr txBox="1"/>
          <p:nvPr/>
        </p:nvSpPr>
        <p:spPr>
          <a:xfrm>
            <a:off x="6688684" y="4088924"/>
            <a:ext cx="306710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Production box 1 for the final product is put in waiting queue when all components became available</a:t>
            </a:r>
          </a:p>
        </p:txBody>
      </p:sp>
      <p:pic>
        <p:nvPicPr>
          <p:cNvPr id="160" name="Picture 159"/>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007781" y="4467728"/>
            <a:ext cx="191129" cy="191129"/>
          </a:xfrm>
          <a:prstGeom prst="rect">
            <a:avLst/>
          </a:prstGeom>
        </p:spPr>
      </p:pic>
      <p:pic>
        <p:nvPicPr>
          <p:cNvPr id="161" name="Picture 160"/>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693829" y="4441705"/>
            <a:ext cx="268300" cy="268300"/>
          </a:xfrm>
          <a:prstGeom prst="rect">
            <a:avLst/>
          </a:prstGeom>
        </p:spPr>
      </p:pic>
      <p:pic>
        <p:nvPicPr>
          <p:cNvPr id="162" name="Picture 161"/>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834866" y="3233405"/>
            <a:ext cx="191129" cy="191129"/>
          </a:xfrm>
          <a:prstGeom prst="rect">
            <a:avLst/>
          </a:prstGeom>
        </p:spPr>
      </p:pic>
      <p:pic>
        <p:nvPicPr>
          <p:cNvPr id="163" name="Picture 162"/>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520914" y="3207382"/>
            <a:ext cx="268300" cy="268300"/>
          </a:xfrm>
          <a:prstGeom prst="rect">
            <a:avLst/>
          </a:prstGeom>
        </p:spPr>
      </p:pic>
      <p:pic>
        <p:nvPicPr>
          <p:cNvPr id="164" name="Picture 163"/>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825904" y="4156096"/>
            <a:ext cx="191129" cy="191129"/>
          </a:xfrm>
          <a:prstGeom prst="rect">
            <a:avLst/>
          </a:prstGeom>
        </p:spPr>
      </p:pic>
      <p:pic>
        <p:nvPicPr>
          <p:cNvPr id="165" name="Picture 164"/>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511952" y="4130073"/>
            <a:ext cx="268300" cy="268300"/>
          </a:xfrm>
          <a:prstGeom prst="rect">
            <a:avLst/>
          </a:prstGeom>
        </p:spPr>
      </p:pic>
      <p:pic>
        <p:nvPicPr>
          <p:cNvPr id="166" name="Picture 165"/>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825904" y="5096425"/>
            <a:ext cx="191129" cy="191129"/>
          </a:xfrm>
          <a:prstGeom prst="rect">
            <a:avLst/>
          </a:prstGeom>
        </p:spPr>
      </p:pic>
      <p:pic>
        <p:nvPicPr>
          <p:cNvPr id="167" name="Picture 166"/>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511952" y="5070402"/>
            <a:ext cx="268300" cy="268300"/>
          </a:xfrm>
          <a:prstGeom prst="rect">
            <a:avLst/>
          </a:prstGeom>
        </p:spPr>
      </p:pic>
      <p:pic>
        <p:nvPicPr>
          <p:cNvPr id="168" name="Picture 167"/>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994081" y="3315914"/>
            <a:ext cx="191129" cy="191129"/>
          </a:xfrm>
          <a:prstGeom prst="rect">
            <a:avLst/>
          </a:prstGeom>
        </p:spPr>
      </p:pic>
      <p:pic>
        <p:nvPicPr>
          <p:cNvPr id="169" name="Picture 168"/>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680129" y="3289891"/>
            <a:ext cx="268300" cy="268300"/>
          </a:xfrm>
          <a:prstGeom prst="rect">
            <a:avLst/>
          </a:prstGeom>
        </p:spPr>
      </p:pic>
      <p:sp>
        <p:nvSpPr>
          <p:cNvPr id="170" name="TextBox 169"/>
          <p:cNvSpPr txBox="1"/>
          <p:nvPr/>
        </p:nvSpPr>
        <p:spPr>
          <a:xfrm>
            <a:off x="366811" y="2973045"/>
            <a:ext cx="11459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to be produced</a:t>
            </a:r>
          </a:p>
        </p:txBody>
      </p:sp>
      <p:sp>
        <p:nvSpPr>
          <p:cNvPr id="171" name="TextBox 170"/>
          <p:cNvSpPr txBox="1"/>
          <p:nvPr/>
        </p:nvSpPr>
        <p:spPr>
          <a:xfrm>
            <a:off x="2267028" y="2973045"/>
            <a:ext cx="76944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completed</a:t>
            </a:r>
          </a:p>
        </p:txBody>
      </p:sp>
      <p:sp>
        <p:nvSpPr>
          <p:cNvPr id="172" name="TextBox 171"/>
          <p:cNvSpPr txBox="1"/>
          <p:nvPr/>
        </p:nvSpPr>
        <p:spPr>
          <a:xfrm>
            <a:off x="6492212" y="3069565"/>
            <a:ext cx="11459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to be produced</a:t>
            </a:r>
          </a:p>
        </p:txBody>
      </p:sp>
      <p:sp>
        <p:nvSpPr>
          <p:cNvPr id="173" name="TextBox 172"/>
          <p:cNvSpPr txBox="1"/>
          <p:nvPr/>
        </p:nvSpPr>
        <p:spPr>
          <a:xfrm>
            <a:off x="8392429" y="3069565"/>
            <a:ext cx="76944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completed</a:t>
            </a:r>
          </a:p>
        </p:txBody>
      </p:sp>
      <p:sp>
        <p:nvSpPr>
          <p:cNvPr id="174" name="TextBox 173"/>
          <p:cNvSpPr txBox="1"/>
          <p:nvPr/>
        </p:nvSpPr>
        <p:spPr>
          <a:xfrm>
            <a:off x="3546916" y="4187545"/>
            <a:ext cx="11459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to be produced</a:t>
            </a:r>
          </a:p>
        </p:txBody>
      </p:sp>
      <p:sp>
        <p:nvSpPr>
          <p:cNvPr id="175" name="TextBox 174"/>
          <p:cNvSpPr txBox="1"/>
          <p:nvPr/>
        </p:nvSpPr>
        <p:spPr>
          <a:xfrm>
            <a:off x="5447133" y="4187545"/>
            <a:ext cx="76944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p>
            <a:pPr>
              <a:spcBef>
                <a:spcPts val="400"/>
              </a:spcBef>
              <a:spcAft>
                <a:spcPts val="400"/>
              </a:spcAft>
              <a:buClr>
                <a:schemeClr val="accent2"/>
              </a:buClr>
              <a:buSzPct val="95000"/>
            </a:pPr>
            <a:r>
              <a:rPr lang="en-GB" sz="1200" dirty="0">
                <a:solidFill>
                  <a:srgbClr val="263238"/>
                </a:solidFill>
              </a:rPr>
              <a:t>completed</a:t>
            </a:r>
          </a:p>
        </p:txBody>
      </p:sp>
    </p:spTree>
    <p:extLst>
      <p:ext uri="{BB962C8B-B14F-4D97-AF65-F5344CB8AC3E}">
        <p14:creationId xmlns:p14="http://schemas.microsoft.com/office/powerpoint/2010/main" val="1085222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b="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50" name="Text Placeholder 2">
            <a:hlinkClick r:id="rId9" action="ppaction://hlinksldjump"/>
          </p:cNvPr>
          <p:cNvSpPr>
            <a:spLocks noGrp="1"/>
          </p:cNvSpPr>
          <p:nvPr>
            <p:custDataLst>
              <p:tags r:id="rId2"/>
            </p:custDataLst>
          </p:nvPr>
        </p:nvSpPr>
        <p:spPr bwMode="gray">
          <a:xfrm>
            <a:off x="1806575" y="24114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b="0" dirty="0">
                <a:solidFill>
                  <a:srgbClr val="263238"/>
                </a:solidFill>
              </a:rPr>
              <a:t>The need for a factory simulation model</a:t>
            </a:r>
          </a:p>
        </p:txBody>
      </p:sp>
      <p:sp>
        <p:nvSpPr>
          <p:cNvPr id="52" name="Text Placeholder 2">
            <a:hlinkClick r:id="rId10" action="ppaction://hlinksldjump"/>
          </p:cNvPr>
          <p:cNvSpPr>
            <a:spLocks noGrp="1"/>
          </p:cNvSpPr>
          <p:nvPr>
            <p:custDataLst>
              <p:tags r:id="rId3"/>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description and illustrative example</a:t>
            </a:r>
          </a:p>
        </p:txBody>
      </p:sp>
      <p:sp>
        <p:nvSpPr>
          <p:cNvPr id="24" name="Text Placeholder 2">
            <a:hlinkClick r:id="rId11" action="ppaction://hlinksldjump"/>
          </p:cNvPr>
          <p:cNvSpPr>
            <a:spLocks noGrp="1"/>
          </p:cNvSpPr>
          <p:nvPr>
            <p:custDataLst>
              <p:tags r:id="rId4"/>
            </p:custDataLst>
          </p:nvPr>
        </p:nvSpPr>
        <p:spPr bwMode="gray">
          <a:xfrm>
            <a:off x="1806575" y="3225800"/>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b="0" dirty="0">
                <a:solidFill>
                  <a:srgbClr val="263238"/>
                </a:solidFill>
              </a:rPr>
              <a:t>How the </a:t>
            </a:r>
            <a:r>
              <a:rPr lang="en-US" b="0">
                <a:solidFill>
                  <a:srgbClr val="263238"/>
                </a:solidFill>
              </a:rPr>
              <a:t>model functions under </a:t>
            </a:r>
            <a:r>
              <a:rPr lang="en-US" b="0" dirty="0">
                <a:solidFill>
                  <a:srgbClr val="263238"/>
                </a:solidFill>
              </a:rPr>
              <a:t>the hood</a:t>
            </a:r>
            <a:endParaRPr lang="en-GB" b="0" dirty="0">
              <a:solidFill>
                <a:srgbClr val="263238"/>
              </a:solidFill>
            </a:endParaRPr>
          </a:p>
        </p:txBody>
      </p:sp>
      <p:sp>
        <p:nvSpPr>
          <p:cNvPr id="67" name="Text Placeholder 2"/>
          <p:cNvSpPr>
            <a:spLocks noGrp="1"/>
          </p:cNvSpPr>
          <p:nvPr>
            <p:custDataLst>
              <p:tags r:id="rId5"/>
            </p:custDataLst>
          </p:nvPr>
        </p:nvSpPr>
        <p:spPr bwMode="gray">
          <a:xfrm>
            <a:off x="1806575" y="3632200"/>
            <a:ext cx="6483350" cy="407988"/>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dirty="0">
                <a:solidFill>
                  <a:srgbClr val="263238"/>
                </a:solidFill>
              </a:rPr>
              <a:t>Model infrastructure and scalability to other applications</a:t>
            </a:r>
          </a:p>
        </p:txBody>
      </p:sp>
      <p:sp>
        <p:nvSpPr>
          <p:cNvPr id="54" name="Text Placeholder 2">
            <a:hlinkClick r:id="rId12" action="ppaction://hlinksldjump"/>
          </p:cNvPr>
          <p:cNvSpPr>
            <a:spLocks noGrp="1"/>
          </p:cNvSpPr>
          <p:nvPr>
            <p:custDataLst>
              <p:tags r:id="rId6"/>
            </p:custDataLst>
          </p:nvPr>
        </p:nvSpPr>
        <p:spPr bwMode="gray">
          <a:xfrm>
            <a:off x="1806575" y="4040188"/>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How to make it function on your pc (installation)</a:t>
            </a:r>
          </a:p>
        </p:txBody>
      </p:sp>
    </p:spTree>
    <p:extLst>
      <p:ext uri="{BB962C8B-B14F-4D97-AF65-F5344CB8AC3E}">
        <p14:creationId xmlns:p14="http://schemas.microsoft.com/office/powerpoint/2010/main" val="2971994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model is already quite flexible, and can be easily extended</a:t>
            </a:r>
          </a:p>
        </p:txBody>
      </p:sp>
      <p:sp>
        <p:nvSpPr>
          <p:cNvPr id="3" name="TextBox 2"/>
          <p:cNvSpPr txBox="1"/>
          <p:nvPr/>
        </p:nvSpPr>
        <p:spPr>
          <a:xfrm>
            <a:off x="1915160" y="1145539"/>
            <a:ext cx="7763628"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rPr>
              <a:t>The current model can answer many questions, for instance those related to the feasibility of a production plan:</a:t>
            </a:r>
          </a:p>
          <a:p>
            <a:pPr marL="446088"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latin typeface="Arial" panose="020B0604020202020204" pitchFamily="34" charset="0"/>
              </a:rPr>
              <a:t>Are there bottlenecks that obstacles the production plan? Is the staffing adequate, or is it overestimated, or underestimated? Are the delivery dates in line with expectations or there is a need for expedite actions? Etc.</a:t>
            </a:r>
          </a:p>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latin typeface="Arial" panose="020B0604020202020204" pitchFamily="34" charset="0"/>
              </a:rPr>
              <a:t>The model is applicable to seasonal production systems, the simulation works also if the system is not in stable production</a:t>
            </a:r>
          </a:p>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latin typeface="Arial" panose="020B0604020202020204" pitchFamily="34" charset="0"/>
              </a:rPr>
              <a:t>It is applicable to variable key inputs as the number of shifts per day for each specific machine or the available blue collars to work</a:t>
            </a:r>
          </a:p>
        </p:txBody>
      </p:sp>
      <p:sp>
        <p:nvSpPr>
          <p:cNvPr id="10" name="Rectangle 9"/>
          <p:cNvSpPr/>
          <p:nvPr/>
        </p:nvSpPr>
        <p:spPr>
          <a:xfrm>
            <a:off x="238760" y="1115059"/>
            <a:ext cx="1676400" cy="830997"/>
          </a:xfrm>
          <a:prstGeom prst="rect">
            <a:avLst/>
          </a:prstGeom>
        </p:spPr>
        <p:txBody>
          <a:bodyPr wrap="square">
            <a:spAutoFit/>
          </a:bodyPr>
          <a:lstStyle/>
          <a:p>
            <a:pPr algn="l">
              <a:spcBef>
                <a:spcPts val="0"/>
              </a:spcBef>
              <a:spcAft>
                <a:spcPts val="0"/>
              </a:spcAft>
              <a:buClr>
                <a:schemeClr val="accent2"/>
              </a:buClr>
              <a:buSzPct val="95000"/>
            </a:pPr>
            <a:r>
              <a:rPr lang="en-GB" sz="1600" dirty="0">
                <a:solidFill>
                  <a:srgbClr val="263238"/>
                </a:solidFill>
              </a:rPr>
              <a:t>The model is already quite flexible</a:t>
            </a:r>
          </a:p>
        </p:txBody>
      </p:sp>
      <p:cxnSp>
        <p:nvCxnSpPr>
          <p:cNvPr id="12" name="Straight Connector 11"/>
          <p:cNvCxnSpPr/>
          <p:nvPr/>
        </p:nvCxnSpPr>
        <p:spPr bwMode="auto">
          <a:xfrm>
            <a:off x="238760" y="1115059"/>
            <a:ext cx="9382760"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p:nvPr/>
        </p:nvSpPr>
        <p:spPr>
          <a:xfrm>
            <a:off x="1915160" y="3929379"/>
            <a:ext cx="7763628" cy="168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rPr>
              <a:t>A learning curve parameter can be easily implemented for each code (component or product) having the working time reduced every time the code is produced</a:t>
            </a:r>
          </a:p>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latin typeface="Arial" panose="020B0604020202020204" pitchFamily="34" charset="0"/>
              </a:rPr>
              <a:t>The total production cost can be computed for each item including the information on purchase cost (which can depend on purchase time and quantity)</a:t>
            </a:r>
          </a:p>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latin typeface="Arial" panose="020B0604020202020204" pitchFamily="34" charset="0"/>
              </a:rPr>
              <a:t>Random disturbances can be easily modelled to verify the robustness of the production system; etc.</a:t>
            </a:r>
          </a:p>
        </p:txBody>
      </p:sp>
      <p:sp>
        <p:nvSpPr>
          <p:cNvPr id="14" name="Rectangle 13"/>
          <p:cNvSpPr/>
          <p:nvPr/>
        </p:nvSpPr>
        <p:spPr>
          <a:xfrm>
            <a:off x="238760" y="3898899"/>
            <a:ext cx="1676400" cy="830997"/>
          </a:xfrm>
          <a:prstGeom prst="rect">
            <a:avLst/>
          </a:prstGeom>
        </p:spPr>
        <p:txBody>
          <a:bodyPr wrap="square">
            <a:spAutoFit/>
          </a:bodyPr>
          <a:lstStyle/>
          <a:p>
            <a:pPr algn="l">
              <a:spcBef>
                <a:spcPts val="0"/>
              </a:spcBef>
              <a:spcAft>
                <a:spcPts val="0"/>
              </a:spcAft>
              <a:buClr>
                <a:schemeClr val="accent2"/>
              </a:buClr>
              <a:buSzPct val="95000"/>
            </a:pPr>
            <a:r>
              <a:rPr lang="en-GB" sz="1600" dirty="0">
                <a:solidFill>
                  <a:srgbClr val="263238"/>
                </a:solidFill>
              </a:rPr>
              <a:t>And can be further extended</a:t>
            </a:r>
          </a:p>
        </p:txBody>
      </p:sp>
      <p:cxnSp>
        <p:nvCxnSpPr>
          <p:cNvPr id="15" name="Straight Connector 14"/>
          <p:cNvCxnSpPr/>
          <p:nvPr/>
        </p:nvCxnSpPr>
        <p:spPr bwMode="auto">
          <a:xfrm>
            <a:off x="238760" y="3898899"/>
            <a:ext cx="9382760"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Rectangle 15"/>
          <p:cNvSpPr/>
          <p:nvPr/>
        </p:nvSpPr>
        <p:spPr>
          <a:xfrm>
            <a:off x="238760" y="5851742"/>
            <a:ext cx="9382760" cy="584775"/>
          </a:xfrm>
          <a:prstGeom prst="rect">
            <a:avLst/>
          </a:prstGeom>
        </p:spPr>
        <p:txBody>
          <a:bodyPr wrap="square">
            <a:spAutoFit/>
          </a:bodyPr>
          <a:lstStyle/>
          <a:p>
            <a:pPr algn="l">
              <a:spcBef>
                <a:spcPts val="0"/>
              </a:spcBef>
              <a:spcAft>
                <a:spcPts val="0"/>
              </a:spcAft>
              <a:buClr>
                <a:schemeClr val="accent2"/>
              </a:buClr>
              <a:buSzPct val="95000"/>
            </a:pPr>
            <a:r>
              <a:rPr lang="en-GB" sz="1600" dirty="0">
                <a:solidFill>
                  <a:srgbClr val="263238"/>
                </a:solidFill>
              </a:rPr>
              <a:t>The underlying language employed is quite powerful, and the know-how acquired can be employed to build other models with ease to solve complex business requests</a:t>
            </a:r>
          </a:p>
        </p:txBody>
      </p:sp>
      <p:cxnSp>
        <p:nvCxnSpPr>
          <p:cNvPr id="17" name="Straight Connector 16"/>
          <p:cNvCxnSpPr/>
          <p:nvPr/>
        </p:nvCxnSpPr>
        <p:spPr bwMode="auto">
          <a:xfrm>
            <a:off x="238760" y="5851742"/>
            <a:ext cx="9382760"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3701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The model has been designed starting from fundamental architectural choices</a:t>
            </a:r>
          </a:p>
        </p:txBody>
      </p:sp>
      <p:sp>
        <p:nvSpPr>
          <p:cNvPr id="8" name="TextBox 7"/>
          <p:cNvSpPr txBox="1"/>
          <p:nvPr/>
        </p:nvSpPr>
        <p:spPr>
          <a:xfrm>
            <a:off x="335432" y="1065574"/>
            <a:ext cx="934617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Considering all needs (mostly: flexibility, easiness to learn and scalability) only two solutions can be considered viable: Java or Python; Scala and BETA may have been viable solutions, but the community supporting such languages are for sure </a:t>
            </a:r>
            <a:r>
              <a:rPr lang="en-US" sz="1600" b="0" dirty="0">
                <a:solidFill>
                  <a:srgbClr val="263238"/>
                </a:solidFill>
              </a:rPr>
              <a:t>smaller than that of Java or Python</a:t>
            </a:r>
            <a:endParaRPr lang="en-GB" sz="1600" b="0" dirty="0">
              <a:solidFill>
                <a:srgbClr val="263238"/>
              </a:solidFill>
            </a:endParaRPr>
          </a:p>
        </p:txBody>
      </p:sp>
      <p:grpSp>
        <p:nvGrpSpPr>
          <p:cNvPr id="6" name="Group 5"/>
          <p:cNvGrpSpPr/>
          <p:nvPr/>
        </p:nvGrpSpPr>
        <p:grpSpPr>
          <a:xfrm>
            <a:off x="335432" y="2017146"/>
            <a:ext cx="9220047" cy="318924"/>
            <a:chOff x="873303" y="1412273"/>
            <a:chExt cx="8342616" cy="318924"/>
          </a:xfrm>
        </p:grpSpPr>
        <p:cxnSp>
          <p:nvCxnSpPr>
            <p:cNvPr id="7" name="Straight Connector 6"/>
            <p:cNvCxnSpPr/>
            <p:nvPr/>
          </p:nvCxnSpPr>
          <p:spPr bwMode="auto">
            <a:xfrm>
              <a:off x="873303" y="1731196"/>
              <a:ext cx="8342616" cy="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p:nvPr/>
          </p:nvSpPr>
          <p:spPr>
            <a:xfrm>
              <a:off x="873303" y="1412273"/>
              <a:ext cx="8342616" cy="31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b" anchorCtr="0" compatLnSpc="1">
              <a:prstTxWarp prst="textNoShape">
                <a:avLst/>
              </a:prstTxWarp>
              <a:noAutofit/>
            </a:bodyPr>
            <a:lstStyle/>
            <a:p>
              <a:pPr algn="l">
                <a:spcBef>
                  <a:spcPts val="0"/>
                </a:spcBef>
                <a:spcAft>
                  <a:spcPts val="0"/>
                </a:spcAft>
                <a:buClr>
                  <a:schemeClr val="accent2"/>
                </a:buClr>
                <a:buSzPct val="95000"/>
              </a:pPr>
              <a:r>
                <a:rPr lang="en-GB" sz="1600" dirty="0">
                  <a:solidFill>
                    <a:srgbClr val="263238"/>
                  </a:solidFill>
                </a:rPr>
                <a:t>Selection matrix </a:t>
              </a:r>
              <a:r>
                <a:rPr lang="en-GB" sz="1600" b="0" dirty="0">
                  <a:solidFill>
                    <a:srgbClr val="263238"/>
                  </a:solidFill>
                </a:rPr>
                <a:t>(in red are highlighted the reasons for which possible solutions are rejected)</a:t>
              </a:r>
            </a:p>
          </p:txBody>
        </p:sp>
      </p:grpSp>
      <p:pic>
        <p:nvPicPr>
          <p:cNvPr id="14" name="Picture 13"/>
          <p:cNvPicPr>
            <a:picLocks noChangeAspect="1"/>
          </p:cNvPicPr>
          <p:nvPr/>
        </p:nvPicPr>
        <p:blipFill>
          <a:blip r:embed="rId3"/>
          <a:stretch>
            <a:fillRect/>
          </a:stretch>
        </p:blipFill>
        <p:spPr>
          <a:xfrm>
            <a:off x="363371" y="2450739"/>
            <a:ext cx="9164168" cy="4165909"/>
          </a:xfrm>
          <a:prstGeom prst="rect">
            <a:avLst/>
          </a:prstGeom>
        </p:spPr>
      </p:pic>
    </p:spTree>
    <p:extLst>
      <p:ext uri="{BB962C8B-B14F-4D97-AF65-F5344CB8AC3E}">
        <p14:creationId xmlns:p14="http://schemas.microsoft.com/office/powerpoint/2010/main" val="38741646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Many articles on the web explain how useful is Python for the business and scientific worlds</a:t>
            </a:r>
          </a:p>
        </p:txBody>
      </p:sp>
      <p:sp>
        <p:nvSpPr>
          <p:cNvPr id="3" name="Rectangle 2"/>
          <p:cNvSpPr/>
          <p:nvPr/>
        </p:nvSpPr>
        <p:spPr>
          <a:xfrm>
            <a:off x="508000" y="1073458"/>
            <a:ext cx="8900160" cy="4832092"/>
          </a:xfrm>
          <a:prstGeom prst="rect">
            <a:avLst/>
          </a:prstGeom>
        </p:spPr>
        <p:txBody>
          <a:bodyPr wrap="square">
            <a:spAutoFit/>
          </a:bodyPr>
          <a:lstStyle/>
          <a:p>
            <a:pPr algn="l">
              <a:spcAft>
                <a:spcPts val="600"/>
              </a:spcAft>
            </a:pPr>
            <a:r>
              <a:rPr lang="en-US" sz="1600" dirty="0">
                <a:solidFill>
                  <a:srgbClr val="52656E"/>
                </a:solidFill>
                <a:latin typeface="+mj-lt"/>
              </a:rPr>
              <a:t>Accelerating Time to Value, Connecting Dots in the Data, Empowering Everyone</a:t>
            </a:r>
          </a:p>
          <a:p>
            <a:pPr algn="l">
              <a:spcAft>
                <a:spcPts val="600"/>
              </a:spcAft>
            </a:pPr>
            <a:r>
              <a:rPr lang="en-US" sz="1600" b="0" dirty="0">
                <a:solidFill>
                  <a:srgbClr val="263238"/>
                </a:solidFill>
                <a:latin typeface="+mj-lt"/>
              </a:rPr>
              <a:t>“Python is a powerful, flexible, open-source language that is easy to learn, easy to use, and has powerful libraries for data manipulation and analysis. Its simple syntax is very accessible to programming novices, and will look familiar to anyone with experience in </a:t>
            </a:r>
            <a:r>
              <a:rPr lang="en-US" sz="1600" b="0" dirty="0" err="1">
                <a:solidFill>
                  <a:srgbClr val="263238"/>
                </a:solidFill>
                <a:latin typeface="+mj-lt"/>
              </a:rPr>
              <a:t>Matlab</a:t>
            </a:r>
            <a:r>
              <a:rPr lang="en-US" sz="1600" b="0" dirty="0">
                <a:solidFill>
                  <a:srgbClr val="263238"/>
                </a:solidFill>
                <a:latin typeface="+mj-lt"/>
              </a:rPr>
              <a:t>, C/C++, Java, or Visual Basic. Python has a unique combination of being both a capable general-purpose programming language as well as being easy to use for analytical and quantitative computing.</a:t>
            </a:r>
          </a:p>
          <a:p>
            <a:pPr algn="l">
              <a:spcAft>
                <a:spcPts val="600"/>
              </a:spcAft>
            </a:pPr>
            <a:r>
              <a:rPr lang="en-US" sz="1600" b="0" dirty="0">
                <a:solidFill>
                  <a:srgbClr val="263238"/>
                </a:solidFill>
                <a:latin typeface="+mj-lt"/>
              </a:rPr>
              <a:t>For over a decade, Python has been used in scientific computing and highly quantitative domains such as finance, oil and gas, physics, and signal processing. It has been used to improve </a:t>
            </a:r>
            <a:r>
              <a:rPr lang="en-US" sz="1600" b="0" u="sng" dirty="0">
                <a:solidFill>
                  <a:srgbClr val="016485"/>
                </a:solidFill>
                <a:latin typeface="+mj-lt"/>
                <a:hlinkClick r:id="rId2"/>
              </a:rPr>
              <a:t>Space Shuttle mission design</a:t>
            </a:r>
            <a:r>
              <a:rPr lang="en-US" sz="1600" b="0" dirty="0">
                <a:solidFill>
                  <a:srgbClr val="263238"/>
                </a:solidFill>
                <a:latin typeface="+mj-lt"/>
              </a:rPr>
              <a:t>, process images from the Hubble Space Telescope, and was instrumental in orchestrating the physics experiments which led to the discovery of the Higgs Boson (the so-called "God particle").</a:t>
            </a:r>
          </a:p>
          <a:p>
            <a:pPr algn="l">
              <a:spcAft>
                <a:spcPts val="600"/>
              </a:spcAft>
            </a:pPr>
            <a:r>
              <a:rPr lang="en-US" sz="1600" b="0" dirty="0">
                <a:solidFill>
                  <a:srgbClr val="263238"/>
                </a:solidFill>
                <a:latin typeface="+mj-lt"/>
              </a:rPr>
              <a:t>…</a:t>
            </a:r>
          </a:p>
          <a:p>
            <a:pPr algn="l">
              <a:spcAft>
                <a:spcPts val="600"/>
              </a:spcAft>
            </a:pPr>
            <a:r>
              <a:rPr lang="en-US" sz="1600" b="0" dirty="0">
                <a:solidFill>
                  <a:srgbClr val="263238"/>
                </a:solidFill>
                <a:latin typeface="+mj-lt"/>
              </a:rPr>
              <a:t>Python is easy for analysts to learn and use, but powerful enough to tackle even the most difficult problems in virtually any domain. It integrates well with existing IT infrastructure, and is very platform independent. Among modern languages, its agility and the productivity of Python-based solutions is legendary. Companies of all sizes and in all areas — from the biggest investment banks to the smallest social/mobile web app startups — are using Python to run their business and manage their data.”</a:t>
            </a:r>
          </a:p>
        </p:txBody>
      </p:sp>
      <p:sp>
        <p:nvSpPr>
          <p:cNvPr id="4" name="Rectangle 3"/>
          <p:cNvSpPr/>
          <p:nvPr/>
        </p:nvSpPr>
        <p:spPr>
          <a:xfrm>
            <a:off x="241300" y="6443572"/>
            <a:ext cx="9213850" cy="153888"/>
          </a:xfrm>
          <a:prstGeom prst="rect">
            <a:avLst/>
          </a:prstGeom>
        </p:spPr>
        <p:txBody>
          <a:bodyPr vert="horz" wrap="square" lIns="0" tIns="0" rIns="0" bIns="0" anchor="b" anchorCtr="0">
            <a:spAutoFit/>
          </a:bodyPr>
          <a:lstStyle/>
          <a:p>
            <a:pPr algn="l"/>
            <a:r>
              <a:rPr lang="en-GB" sz="1000" b="0" dirty="0">
                <a:solidFill>
                  <a:srgbClr val="6A615A"/>
                </a:solidFill>
                <a:latin typeface="Arial" panose="020B0604020202020204" pitchFamily="34" charset="0"/>
                <a:hlinkClick r:id="rId3">
                  <a:extLst>
                    <a:ext uri="{A12FA001-AC4F-418D-AE19-62706E023703}">
                      <ahyp:hlinkClr xmlns:ahyp="http://schemas.microsoft.com/office/drawing/2018/hyperlinkcolor" val="tx"/>
                    </a:ext>
                  </a:extLst>
                </a:hlinkClick>
              </a:rPr>
              <a:t>https://</a:t>
            </a:r>
            <a:r>
              <a:rPr lang="en-GB" sz="1000" b="0" dirty="0">
                <a:solidFill>
                  <a:srgbClr val="263238"/>
                </a:solidFill>
                <a:latin typeface="Arial" panose="020B0604020202020204" pitchFamily="34" charset="0"/>
                <a:hlinkClick r:id="rId3">
                  <a:extLst>
                    <a:ext uri="{A12FA001-AC4F-418D-AE19-62706E023703}">
                      <ahyp:hlinkClr xmlns:ahyp="http://schemas.microsoft.com/office/drawing/2018/hyperlinkcolor" val="tx"/>
                    </a:ext>
                  </a:extLst>
                </a:hlinkClick>
              </a:rPr>
              <a:t>www.continuum.io/content/why-python</a:t>
            </a:r>
            <a:endParaRPr lang="en-GB" sz="1000" b="0" dirty="0">
              <a:solidFill>
                <a:srgbClr val="263238"/>
              </a:solidFill>
              <a:latin typeface="Arial" panose="020B0604020202020204" pitchFamily="34" charset="0"/>
            </a:endParaRPr>
          </a:p>
        </p:txBody>
      </p:sp>
    </p:spTree>
    <p:extLst>
      <p:ext uri="{BB962C8B-B14F-4D97-AF65-F5344CB8AC3E}">
        <p14:creationId xmlns:p14="http://schemas.microsoft.com/office/powerpoint/2010/main" val="1447930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Python infrastructure can be used, complementary to Excel, to work with large dataset and implement complex algorithms </a:t>
            </a:r>
          </a:p>
        </p:txBody>
      </p:sp>
      <p:sp>
        <p:nvSpPr>
          <p:cNvPr id="3" name="TextBox 2"/>
          <p:cNvSpPr txBox="1"/>
          <p:nvPr/>
        </p:nvSpPr>
        <p:spPr>
          <a:xfrm>
            <a:off x="492760" y="1270000"/>
            <a:ext cx="8737600" cy="199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rPr>
              <a:t>Many additional problems can be solved applying the same methodology and infrastructure:</a:t>
            </a:r>
          </a:p>
          <a:p>
            <a:pPr marL="446088"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Simulating service environments as hospitals</a:t>
            </a:r>
          </a:p>
          <a:p>
            <a:pPr marL="446088"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Simulating logistic networks</a:t>
            </a:r>
          </a:p>
          <a:p>
            <a:pPr marL="446088"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Simulating transportation systems</a:t>
            </a:r>
          </a:p>
          <a:p>
            <a:pPr marL="446088"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Working and manipulating big data</a:t>
            </a:r>
          </a:p>
          <a:p>
            <a:pPr marL="446088"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And more … </a:t>
            </a:r>
          </a:p>
        </p:txBody>
      </p:sp>
      <p:pic>
        <p:nvPicPr>
          <p:cNvPr id="4" name="Picture 3"/>
          <p:cNvPicPr>
            <a:picLocks noChangeAspect="1"/>
          </p:cNvPicPr>
          <p:nvPr/>
        </p:nvPicPr>
        <p:blipFill>
          <a:blip r:embed="rId2"/>
          <a:stretch>
            <a:fillRect/>
          </a:stretch>
        </p:blipFill>
        <p:spPr>
          <a:xfrm>
            <a:off x="774201" y="4099203"/>
            <a:ext cx="1488440" cy="543281"/>
          </a:xfrm>
          <a:prstGeom prst="rect">
            <a:avLst/>
          </a:prstGeom>
        </p:spPr>
      </p:pic>
      <p:sp>
        <p:nvSpPr>
          <p:cNvPr id="5" name="TextBox 4"/>
          <p:cNvSpPr txBox="1"/>
          <p:nvPr/>
        </p:nvSpPr>
        <p:spPr>
          <a:xfrm>
            <a:off x="774201" y="4876800"/>
            <a:ext cx="241300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Reference to the </a:t>
            </a:r>
            <a:r>
              <a:rPr lang="en-GB" sz="1600" b="0" dirty="0" err="1">
                <a:solidFill>
                  <a:srgbClr val="263238"/>
                </a:solidFill>
              </a:rPr>
              <a:t>Simpy</a:t>
            </a:r>
            <a:r>
              <a:rPr lang="en-GB" sz="1600" b="0" dirty="0">
                <a:solidFill>
                  <a:srgbClr val="263238"/>
                </a:solidFill>
              </a:rPr>
              <a:t> home page to get an understanding on the simulation potentials</a:t>
            </a:r>
          </a:p>
        </p:txBody>
      </p:sp>
      <p:pic>
        <p:nvPicPr>
          <p:cNvPr id="6" name="Picture 5"/>
          <p:cNvPicPr>
            <a:picLocks noChangeAspect="1"/>
          </p:cNvPicPr>
          <p:nvPr/>
        </p:nvPicPr>
        <p:blipFill rotWithShape="1">
          <a:blip r:embed="rId3"/>
          <a:srcRect r="41111"/>
          <a:stretch/>
        </p:blipFill>
        <p:spPr>
          <a:xfrm>
            <a:off x="3545205" y="4051934"/>
            <a:ext cx="2052955" cy="590550"/>
          </a:xfrm>
          <a:prstGeom prst="rect">
            <a:avLst/>
          </a:prstGeom>
        </p:spPr>
      </p:pic>
      <p:sp>
        <p:nvSpPr>
          <p:cNvPr id="7" name="TextBox 6"/>
          <p:cNvSpPr txBox="1"/>
          <p:nvPr/>
        </p:nvSpPr>
        <p:spPr>
          <a:xfrm>
            <a:off x="3545205" y="4876800"/>
            <a:ext cx="241300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Reference to the </a:t>
            </a:r>
            <a:r>
              <a:rPr lang="en-GB" sz="1600" b="0" dirty="0" err="1">
                <a:solidFill>
                  <a:srgbClr val="263238"/>
                </a:solidFill>
              </a:rPr>
              <a:t>SciPy</a:t>
            </a:r>
            <a:r>
              <a:rPr lang="en-GB" sz="1600" b="0" dirty="0">
                <a:solidFill>
                  <a:srgbClr val="263238"/>
                </a:solidFill>
              </a:rPr>
              <a:t> home page to get an understanding on the big data analysis potentials</a:t>
            </a:r>
          </a:p>
        </p:txBody>
      </p:sp>
    </p:spTree>
    <p:extLst>
      <p:ext uri="{BB962C8B-B14F-4D97-AF65-F5344CB8AC3E}">
        <p14:creationId xmlns:p14="http://schemas.microsoft.com/office/powerpoint/2010/main" val="2558017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hidden="1"/>
          <p:cNvSpPr/>
          <p:nvPr>
            <p:custDataLst>
              <p:tags r:id="rId1"/>
            </p:custDataLst>
          </p:nvPr>
        </p:nvSpPr>
        <p:spPr bwMode="auto">
          <a:xfrm>
            <a:off x="0" y="0"/>
            <a:ext cx="158750" cy="158750"/>
          </a:xfrm>
          <a:prstGeom prst="rect">
            <a:avLst/>
          </a:prstGeom>
          <a:solidFill>
            <a:schemeClr val="bg2">
              <a:lumMod val="20000"/>
              <a:lumOff val="80000"/>
            </a:schemeClr>
          </a:solidFill>
          <a:ln w="9525" cap="flat" cmpd="sng" algn="ctr">
            <a:solidFill>
              <a:srgbClr val="64748B"/>
            </a:solidFill>
            <a:prstDash val="solid"/>
            <a:round/>
            <a:headEnd type="none" w="med" len="med"/>
            <a:tailEnd type="none" w="med" len="med"/>
          </a:ln>
          <a:effectLst/>
        </p:spPr>
        <p:txBody>
          <a:bodyPr vert="horz" wrap="none" lIns="0" tIns="0" rIns="0" bIns="0" numCol="1" spcCol="0" rtlCol="0" anchor="t" anchorCtr="0" compatLnSpc="1">
            <a:prstTxWarp prst="textNoShape">
              <a:avLst/>
            </a:prstTxWarp>
            <a:noAutofit/>
          </a:bodyPr>
          <a:lstStyle/>
          <a:p>
            <a:pPr algn="l"/>
            <a:endParaRPr kumimoji="0" lang="en-GB" sz="1600" b="0" u="none" strike="noStrike" cap="none" normalizeH="0" dirty="0" err="1">
              <a:ln>
                <a:noFill/>
              </a:ln>
              <a:solidFill>
                <a:schemeClr val="tx1"/>
              </a:solidFill>
              <a:effectLst/>
              <a:latin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GB" dirty="0">
                <a:solidFill>
                  <a:srgbClr val="263238"/>
                </a:solidFill>
              </a:rPr>
              <a:t>Agenda</a:t>
            </a:r>
          </a:p>
        </p:txBody>
      </p:sp>
      <p:sp>
        <p:nvSpPr>
          <p:cNvPr id="21" name="Text Placeholder 2">
            <a:hlinkClick r:id="rId9" action="ppaction://hlinksldjump"/>
          </p:cNvPr>
          <p:cNvSpPr>
            <a:spLocks noGrp="1"/>
          </p:cNvSpPr>
          <p:nvPr>
            <p:custDataLst>
              <p:tags r:id="rId2"/>
            </p:custDataLst>
          </p:nvPr>
        </p:nvSpPr>
        <p:spPr bwMode="gray">
          <a:xfrm>
            <a:off x="1806575" y="2411413"/>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buFont typeface="Wingdings 2" panose="05020102010507070707" pitchFamily="18" charset="2"/>
              <a:buChar char=""/>
            </a:pPr>
            <a:r>
              <a:rPr lang="en-GB" b="0" dirty="0">
                <a:solidFill>
                  <a:srgbClr val="263238"/>
                </a:solidFill>
              </a:rPr>
              <a:t>The need for a factory simulation model</a:t>
            </a:r>
          </a:p>
        </p:txBody>
      </p:sp>
      <p:sp>
        <p:nvSpPr>
          <p:cNvPr id="65" name="Text Placeholder 2">
            <a:hlinkClick r:id="rId10" action="ppaction://hlinksldjump"/>
          </p:cNvPr>
          <p:cNvSpPr>
            <a:spLocks noGrp="1"/>
          </p:cNvSpPr>
          <p:nvPr>
            <p:custDataLst>
              <p:tags r:id="rId3"/>
            </p:custDataLst>
          </p:nvPr>
        </p:nvSpPr>
        <p:spPr bwMode="gray">
          <a:xfrm>
            <a:off x="1806575" y="2817813"/>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2550"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description </a:t>
            </a:r>
            <a:r>
              <a:rPr lang="en-GB" b="0">
                <a:solidFill>
                  <a:srgbClr val="263238"/>
                </a:solidFill>
              </a:rPr>
              <a:t>and illustrative example</a:t>
            </a:r>
            <a:endParaRPr lang="en-GB" b="0" dirty="0">
              <a:solidFill>
                <a:srgbClr val="263238"/>
              </a:solidFill>
            </a:endParaRPr>
          </a:p>
        </p:txBody>
      </p:sp>
      <p:sp>
        <p:nvSpPr>
          <p:cNvPr id="25" name="Text Placeholder 2">
            <a:hlinkClick r:id="rId11" action="ppaction://hlinksldjump"/>
          </p:cNvPr>
          <p:cNvSpPr>
            <a:spLocks noGrp="1"/>
          </p:cNvSpPr>
          <p:nvPr>
            <p:custDataLst>
              <p:tags r:id="rId4"/>
            </p:custDataLst>
          </p:nvPr>
        </p:nvSpPr>
        <p:spPr bwMode="gray">
          <a:xfrm>
            <a:off x="1806575" y="3225800"/>
            <a:ext cx="6483350" cy="406400"/>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US" b="0" dirty="0">
                <a:solidFill>
                  <a:srgbClr val="263238"/>
                </a:solidFill>
              </a:rPr>
              <a:t>How the </a:t>
            </a:r>
            <a:r>
              <a:rPr lang="en-US" b="0">
                <a:solidFill>
                  <a:srgbClr val="263238"/>
                </a:solidFill>
              </a:rPr>
              <a:t>model functions under </a:t>
            </a:r>
            <a:r>
              <a:rPr lang="en-US" b="0" dirty="0">
                <a:solidFill>
                  <a:srgbClr val="263238"/>
                </a:solidFill>
              </a:rPr>
              <a:t>the hood</a:t>
            </a:r>
            <a:endParaRPr lang="en-GB" b="0" dirty="0">
              <a:solidFill>
                <a:srgbClr val="263238"/>
              </a:solidFill>
            </a:endParaRPr>
          </a:p>
        </p:txBody>
      </p:sp>
      <p:sp>
        <p:nvSpPr>
          <p:cNvPr id="43" name="Text Placeholder 2">
            <a:hlinkClick r:id="rId12" action="ppaction://hlinksldjump"/>
          </p:cNvPr>
          <p:cNvSpPr>
            <a:spLocks noGrp="1"/>
          </p:cNvSpPr>
          <p:nvPr>
            <p:custDataLst>
              <p:tags r:id="rId5"/>
            </p:custDataLst>
          </p:nvPr>
        </p:nvSpPr>
        <p:spPr bwMode="gray">
          <a:xfrm>
            <a:off x="1806575" y="3632200"/>
            <a:ext cx="6483350" cy="407988"/>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2550"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b="0" dirty="0">
                <a:solidFill>
                  <a:srgbClr val="263238"/>
                </a:solidFill>
              </a:rPr>
              <a:t>Model infrastructure and scalability to other applications</a:t>
            </a:r>
          </a:p>
        </p:txBody>
      </p:sp>
      <p:sp>
        <p:nvSpPr>
          <p:cNvPr id="57" name="Text Placeholder 2"/>
          <p:cNvSpPr>
            <a:spLocks noGrp="1"/>
          </p:cNvSpPr>
          <p:nvPr>
            <p:custDataLst>
              <p:tags r:id="rId6"/>
            </p:custDataLst>
          </p:nvPr>
        </p:nvSpPr>
        <p:spPr bwMode="gray">
          <a:xfrm>
            <a:off x="1806575" y="4040188"/>
            <a:ext cx="6483350" cy="406400"/>
          </a:xfrm>
          <a:prstGeom prst="rect">
            <a:avLst/>
          </a:prstGeom>
          <a:noFill/>
          <a:ln w="9525" algn="ctr">
            <a:solidFill>
              <a:srgbClr val="26323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963" tIns="80963" rIns="0" bIns="80963" numCol="1" spcCol="0" anchor="ctr" anchorCtr="0" compatLnSpc="1">
            <a:prstTxWarp prst="textNoShape">
              <a:avLst/>
            </a:prstTxWarp>
            <a:noAutofit/>
          </a:bodyPr>
          <a:lstStyle>
            <a:lvl1pPr marL="0" indent="0" algn="l" defTabSz="942975" rtl="0" eaLnBrk="1" fontAlgn="base" hangingPunct="1">
              <a:spcBef>
                <a:spcPts val="600"/>
              </a:spcBef>
              <a:spcAft>
                <a:spcPts val="400"/>
              </a:spcAft>
              <a:buClr>
                <a:schemeClr val="tx1"/>
              </a:buClr>
              <a:buFont typeface="+mj-lt"/>
              <a:buNone/>
              <a:defRPr sz="1600" kern="0" baseline="0">
                <a:solidFill>
                  <a:schemeClr val="tx1"/>
                </a:solidFill>
                <a:latin typeface="+mn-lt"/>
                <a:ea typeface="+mn-ea"/>
                <a:cs typeface="+mn-cs"/>
              </a:defRPr>
            </a:lvl1pPr>
            <a:lvl2pPr marL="273050" indent="-273050" algn="l" defTabSz="942975" rtl="0" eaLnBrk="1" fontAlgn="base" hangingPunct="1">
              <a:spcBef>
                <a:spcPts val="400"/>
              </a:spcBef>
              <a:spcAft>
                <a:spcPts val="400"/>
              </a:spcAft>
              <a:buClr>
                <a:schemeClr val="accent2"/>
              </a:buClr>
              <a:buSzPct val="95000"/>
              <a:buFont typeface="Wingdings 2" panose="05020102010507070707" pitchFamily="18" charset="2"/>
              <a:buChar char=""/>
              <a:defRPr sz="1600" kern="0" baseline="0">
                <a:solidFill>
                  <a:schemeClr val="tx1"/>
                </a:solidFill>
                <a:latin typeface="+mn-lt"/>
              </a:defRPr>
            </a:lvl2pPr>
            <a:lvl3pPr marL="446088" indent="-180975" algn="l" defTabSz="942975" rtl="0" eaLnBrk="1" fontAlgn="base" hangingPunct="1">
              <a:spcBef>
                <a:spcPts val="400"/>
              </a:spcBef>
              <a:spcAft>
                <a:spcPts val="400"/>
              </a:spcAft>
              <a:buClr>
                <a:schemeClr val="accent2"/>
              </a:buClr>
              <a:buSzPct val="130000"/>
              <a:buFont typeface="Arial" panose="020B0604020202020204" pitchFamily="34" charset="0"/>
              <a:buChar char="›"/>
              <a:tabLst/>
              <a:defRPr sz="1600" kern="0" baseline="0">
                <a:solidFill>
                  <a:schemeClr val="tx1"/>
                </a:solidFill>
                <a:latin typeface="+mn-lt"/>
              </a:defRPr>
            </a:lvl3pPr>
            <a:lvl4pPr marL="627063" indent="-180975" algn="l" defTabSz="942975" rtl="0" eaLnBrk="1" fontAlgn="base" hangingPunct="1">
              <a:spcBef>
                <a:spcPts val="400"/>
              </a:spcBef>
              <a:spcAft>
                <a:spcPts val="400"/>
              </a:spcAft>
              <a:buClr>
                <a:schemeClr val="accent2"/>
              </a:buClr>
              <a:buSzPct val="85000"/>
              <a:buFont typeface="Wingdings 2" panose="05020102010507070707" pitchFamily="18" charset="2"/>
              <a:buChar char="¡"/>
              <a:defRPr sz="1600" kern="0" baseline="0">
                <a:solidFill>
                  <a:schemeClr val="tx1"/>
                </a:solidFill>
                <a:latin typeface="+mn-lt"/>
              </a:defRPr>
            </a:lvl4pPr>
            <a:lvl5pPr marL="804863" indent="-177800" algn="l" defTabSz="942975" rtl="0" eaLnBrk="1" fontAlgn="base" hangingPunct="1">
              <a:spcBef>
                <a:spcPts val="400"/>
              </a:spcBef>
              <a:spcAft>
                <a:spcPts val="400"/>
              </a:spcAft>
              <a:buClr>
                <a:schemeClr val="accent2"/>
              </a:buClr>
              <a:buFont typeface="Arial Unicode MS" pitchFamily="34" charset="-128"/>
              <a:buChar char="-"/>
              <a:defRPr sz="1600" kern="0" baseline="0">
                <a:solidFill>
                  <a:schemeClr val="tx1"/>
                </a:solidFill>
                <a:latin typeface="+mn-lt"/>
              </a:defRPr>
            </a:lvl5pPr>
            <a:lvl6pPr marL="982663" indent="-17462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6pPr>
            <a:lvl7pPr marL="1169988" indent="-180975"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7pPr>
            <a:lvl8pPr marL="1349375" indent="-179388"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8pPr>
            <a:lvl9pPr marL="1528763" indent="-188913" algn="l" defTabSz="942975" rtl="0" eaLnBrk="1" fontAlgn="base" hangingPunct="1">
              <a:spcBef>
                <a:spcPts val="400"/>
              </a:spcBef>
              <a:spcAft>
                <a:spcPts val="400"/>
              </a:spcAft>
              <a:buClr>
                <a:schemeClr val="accent2"/>
              </a:buClr>
              <a:buFont typeface="Arial Unicode MS" pitchFamily="34" charset="-128"/>
              <a:buChar char="-"/>
              <a:defRPr sz="1600">
                <a:solidFill>
                  <a:schemeClr val="tx1"/>
                </a:solidFill>
                <a:latin typeface="+mn-lt"/>
              </a:defRPr>
            </a:lvl9pPr>
          </a:lstStyle>
          <a:p>
            <a:pPr lvl="1">
              <a:spcBef>
                <a:spcPct val="0"/>
              </a:spcBef>
              <a:spcAft>
                <a:spcPct val="0"/>
              </a:spcAft>
              <a:buClr>
                <a:schemeClr val="accent2">
                  <a:lumMod val="100000"/>
                </a:schemeClr>
              </a:buClr>
            </a:pPr>
            <a:r>
              <a:rPr lang="en-GB" dirty="0">
                <a:solidFill>
                  <a:srgbClr val="263238"/>
                </a:solidFill>
              </a:rPr>
              <a:t>How to make it function on your pc </a:t>
            </a:r>
            <a:r>
              <a:rPr lang="en-GB">
                <a:solidFill>
                  <a:srgbClr val="263238"/>
                </a:solidFill>
              </a:rPr>
              <a:t>(installation)</a:t>
            </a:r>
            <a:endParaRPr lang="en-GB" dirty="0">
              <a:solidFill>
                <a:srgbClr val="263238"/>
              </a:solidFill>
            </a:endParaRPr>
          </a:p>
        </p:txBody>
      </p:sp>
    </p:spTree>
    <p:extLst>
      <p:ext uri="{BB962C8B-B14F-4D97-AF65-F5344CB8AC3E}">
        <p14:creationId xmlns:p14="http://schemas.microsoft.com/office/powerpoint/2010/main" val="1745029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Installing the software is easy and has virtually zero impact on the hosting computer</a:t>
            </a:r>
          </a:p>
        </p:txBody>
      </p:sp>
      <p:pic>
        <p:nvPicPr>
          <p:cNvPr id="4" name="Picture 3"/>
          <p:cNvPicPr>
            <a:picLocks noChangeAspect="1"/>
          </p:cNvPicPr>
          <p:nvPr/>
        </p:nvPicPr>
        <p:blipFill>
          <a:blip r:embed="rId2"/>
          <a:stretch>
            <a:fillRect/>
          </a:stretch>
        </p:blipFill>
        <p:spPr>
          <a:xfrm>
            <a:off x="1156505" y="1418931"/>
            <a:ext cx="1950169" cy="968136"/>
          </a:xfrm>
          <a:prstGeom prst="rect">
            <a:avLst/>
          </a:prstGeom>
        </p:spPr>
      </p:pic>
      <p:sp>
        <p:nvSpPr>
          <p:cNvPr id="5" name="TextBox 4"/>
          <p:cNvSpPr txBox="1"/>
          <p:nvPr/>
        </p:nvSpPr>
        <p:spPr>
          <a:xfrm>
            <a:off x="6852920" y="1779889"/>
            <a:ext cx="276352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hlinkClick r:id="rId3">
                  <a:extLst>
                    <a:ext uri="{A12FA001-AC4F-418D-AE19-62706E023703}">
                      <ahyp:hlinkClr xmlns:ahyp="http://schemas.microsoft.com/office/drawing/2018/hyperlinkcolor" val="tx"/>
                    </a:ext>
                  </a:extLst>
                </a:hlinkClick>
              </a:rPr>
              <a:t>https://www.continuum.io/</a:t>
            </a:r>
            <a:endParaRPr lang="en-GB" sz="1600" b="0" dirty="0">
              <a:solidFill>
                <a:srgbClr val="263238"/>
              </a:solidFill>
            </a:endParaRPr>
          </a:p>
        </p:txBody>
      </p:sp>
      <p:sp>
        <p:nvSpPr>
          <p:cNvPr id="6" name="TextBox 5"/>
          <p:cNvSpPr txBox="1"/>
          <p:nvPr/>
        </p:nvSpPr>
        <p:spPr>
          <a:xfrm>
            <a:off x="3573423" y="1410557"/>
            <a:ext cx="290794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Download and install Anaconda form Continuum Analytics; it includes Python and almost all scientific packages</a:t>
            </a:r>
          </a:p>
        </p:txBody>
      </p:sp>
      <p:sp>
        <p:nvSpPr>
          <p:cNvPr id="7" name="Rectangle 6"/>
          <p:cNvSpPr>
            <a:spLocks noChangeAspect="1"/>
          </p:cNvSpPr>
          <p:nvPr/>
        </p:nvSpPr>
        <p:spPr bwMode="auto">
          <a:xfrm>
            <a:off x="345440" y="1650999"/>
            <a:ext cx="504000" cy="504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rPr>
              <a:t>1</a:t>
            </a:r>
          </a:p>
        </p:txBody>
      </p:sp>
      <p:sp>
        <p:nvSpPr>
          <p:cNvPr id="8" name="Rectangle 7"/>
          <p:cNvSpPr>
            <a:spLocks noChangeAspect="1"/>
          </p:cNvSpPr>
          <p:nvPr/>
        </p:nvSpPr>
        <p:spPr bwMode="auto">
          <a:xfrm>
            <a:off x="361641" y="5364479"/>
            <a:ext cx="504000" cy="504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rPr>
              <a:t>3</a:t>
            </a:r>
          </a:p>
        </p:txBody>
      </p:sp>
      <p:sp>
        <p:nvSpPr>
          <p:cNvPr id="9" name="Rectangle 8"/>
          <p:cNvSpPr>
            <a:spLocks noChangeAspect="1"/>
          </p:cNvSpPr>
          <p:nvPr/>
        </p:nvSpPr>
        <p:spPr bwMode="auto">
          <a:xfrm>
            <a:off x="361641" y="3507739"/>
            <a:ext cx="504000" cy="504000"/>
          </a:xfrm>
          <a:prstGeom prst="rect">
            <a:avLst/>
          </a:prstGeom>
          <a:solidFill>
            <a:srgbClr val="167D9A"/>
          </a:solidFill>
          <a:ln w="381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defTabSz="914400" rtl="0" eaLnBrk="0" fontAlgn="base" latinLnBrk="0" hangingPunct="0">
              <a:lnSpc>
                <a:spcPct val="100000"/>
              </a:lnSpc>
              <a:spcBef>
                <a:spcPct val="0"/>
              </a:spcBef>
              <a:spcAft>
                <a:spcPct val="0"/>
              </a:spcAft>
              <a:buClrTx/>
              <a:buSzTx/>
              <a:buFontTx/>
              <a:buNone/>
              <a:tabLst/>
            </a:pPr>
            <a:r>
              <a:rPr kumimoji="0" lang="en-GB" sz="1600" i="0" u="none" strike="noStrike" cap="none" normalizeH="0" baseline="0" dirty="0">
                <a:ln>
                  <a:noFill/>
                </a:ln>
                <a:solidFill>
                  <a:schemeClr val="bg1"/>
                </a:solidFill>
                <a:effectLst/>
                <a:latin typeface="Arial" charset="0"/>
                <a:ea typeface="Arial Unicode MS" pitchFamily="34" charset="-128"/>
                <a:cs typeface="Arial Unicode MS" pitchFamily="34" charset="-128"/>
              </a:rPr>
              <a:t>2</a:t>
            </a:r>
          </a:p>
        </p:txBody>
      </p:sp>
      <p:pic>
        <p:nvPicPr>
          <p:cNvPr id="10" name="Picture 9"/>
          <p:cNvPicPr>
            <a:picLocks noChangeAspect="1"/>
          </p:cNvPicPr>
          <p:nvPr/>
        </p:nvPicPr>
        <p:blipFill>
          <a:blip r:embed="rId4"/>
          <a:stretch>
            <a:fillRect/>
          </a:stretch>
        </p:blipFill>
        <p:spPr>
          <a:xfrm>
            <a:off x="1265389" y="3423574"/>
            <a:ext cx="1841999" cy="672330"/>
          </a:xfrm>
          <a:prstGeom prst="rect">
            <a:avLst/>
          </a:prstGeom>
        </p:spPr>
      </p:pic>
      <p:sp>
        <p:nvSpPr>
          <p:cNvPr id="11" name="TextBox 10"/>
          <p:cNvSpPr txBox="1"/>
          <p:nvPr/>
        </p:nvSpPr>
        <p:spPr>
          <a:xfrm>
            <a:off x="6852920" y="3390407"/>
            <a:ext cx="276352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hlinkClick r:id="rId5">
                  <a:extLst>
                    <a:ext uri="{A12FA001-AC4F-418D-AE19-62706E023703}">
                      <ahyp:hlinkClr xmlns:ahyp="http://schemas.microsoft.com/office/drawing/2018/hyperlinkcolor" val="tx"/>
                    </a:ext>
                  </a:extLst>
                </a:hlinkClick>
              </a:rPr>
              <a:t>https://simpy.readthedocs.org/en/latest/simpy_intro/installation.html</a:t>
            </a:r>
            <a:endParaRPr lang="en-GB" sz="1600" b="0" dirty="0">
              <a:solidFill>
                <a:srgbClr val="263238"/>
              </a:solidFill>
            </a:endParaRPr>
          </a:p>
        </p:txBody>
      </p:sp>
      <p:sp>
        <p:nvSpPr>
          <p:cNvPr id="12" name="TextBox 11"/>
          <p:cNvSpPr txBox="1"/>
          <p:nvPr/>
        </p:nvSpPr>
        <p:spPr>
          <a:xfrm>
            <a:off x="3573423" y="3267296"/>
            <a:ext cx="290794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Install </a:t>
            </a:r>
            <a:r>
              <a:rPr lang="en-GB" sz="1600" b="0" dirty="0" err="1">
                <a:solidFill>
                  <a:srgbClr val="263238"/>
                </a:solidFill>
              </a:rPr>
              <a:t>SimPy</a:t>
            </a:r>
            <a:r>
              <a:rPr lang="en-GB" sz="1600" b="0" dirty="0">
                <a:solidFill>
                  <a:srgbClr val="263238"/>
                </a:solidFill>
              </a:rPr>
              <a:t> from the PIP interface; it includes the module to implement discrete event simulations with ease</a:t>
            </a:r>
          </a:p>
        </p:txBody>
      </p:sp>
      <p:sp>
        <p:nvSpPr>
          <p:cNvPr id="13" name="TextBox 12"/>
          <p:cNvSpPr txBox="1"/>
          <p:nvPr/>
        </p:nvSpPr>
        <p:spPr>
          <a:xfrm>
            <a:off x="6852920" y="5370257"/>
            <a:ext cx="276352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hlinkClick r:id="rId6">
                  <a:extLst>
                    <a:ext uri="{A12FA001-AC4F-418D-AE19-62706E023703}">
                      <ahyp:hlinkClr xmlns:ahyp="http://schemas.microsoft.com/office/drawing/2018/hyperlinkcolor" val="tx"/>
                    </a:ext>
                  </a:extLst>
                </a:hlinkClick>
              </a:rPr>
              <a:t>https://www.jetbrains.com/pycharm/</a:t>
            </a:r>
            <a:endParaRPr lang="en-GB" sz="1600" b="0" dirty="0">
              <a:solidFill>
                <a:srgbClr val="263238"/>
              </a:solidFill>
            </a:endParaRPr>
          </a:p>
        </p:txBody>
      </p:sp>
      <p:sp>
        <p:nvSpPr>
          <p:cNvPr id="14" name="TextBox 13"/>
          <p:cNvSpPr txBox="1"/>
          <p:nvPr/>
        </p:nvSpPr>
        <p:spPr>
          <a:xfrm>
            <a:off x="3573423" y="5124036"/>
            <a:ext cx="290794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p>
            <a:pPr algn="l">
              <a:spcBef>
                <a:spcPts val="400"/>
              </a:spcBef>
              <a:spcAft>
                <a:spcPts val="400"/>
              </a:spcAft>
              <a:buClr>
                <a:schemeClr val="accent2"/>
              </a:buClr>
              <a:buSzPct val="95000"/>
            </a:pPr>
            <a:r>
              <a:rPr lang="en-GB" sz="1600" b="0" dirty="0">
                <a:solidFill>
                  <a:srgbClr val="263238"/>
                </a:solidFill>
              </a:rPr>
              <a:t>Download and install </a:t>
            </a:r>
            <a:r>
              <a:rPr lang="en-GB" sz="1600" b="0" dirty="0" err="1">
                <a:solidFill>
                  <a:srgbClr val="263238"/>
                </a:solidFill>
              </a:rPr>
              <a:t>PyCharm</a:t>
            </a:r>
            <a:r>
              <a:rPr lang="en-GB" sz="1600" b="0" dirty="0">
                <a:solidFill>
                  <a:srgbClr val="263238"/>
                </a:solidFill>
              </a:rPr>
              <a:t>; it is a well structured and easy to use integrated development environment</a:t>
            </a:r>
          </a:p>
        </p:txBody>
      </p:sp>
      <p:pic>
        <p:nvPicPr>
          <p:cNvPr id="15" name="Picture 14"/>
          <p:cNvPicPr>
            <a:picLocks noChangeAspect="1"/>
          </p:cNvPicPr>
          <p:nvPr/>
        </p:nvPicPr>
        <p:blipFill>
          <a:blip r:embed="rId7"/>
          <a:stretch>
            <a:fillRect/>
          </a:stretch>
        </p:blipFill>
        <p:spPr>
          <a:xfrm>
            <a:off x="1318476" y="4805649"/>
            <a:ext cx="1621660" cy="1621660"/>
          </a:xfrm>
          <a:prstGeom prst="rect">
            <a:avLst/>
          </a:prstGeom>
        </p:spPr>
      </p:pic>
    </p:spTree>
    <p:extLst>
      <p:ext uri="{BB962C8B-B14F-4D97-AF65-F5344CB8AC3E}">
        <p14:creationId xmlns:p14="http://schemas.microsoft.com/office/powerpoint/2010/main" val="3905815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263238"/>
                </a:solidFill>
              </a:rPr>
              <a:t>After installing Anaconda and </a:t>
            </a:r>
            <a:r>
              <a:rPr lang="en-GB" dirty="0" err="1">
                <a:solidFill>
                  <a:srgbClr val="263238"/>
                </a:solidFill>
              </a:rPr>
              <a:t>SimPy</a:t>
            </a:r>
            <a:r>
              <a:rPr lang="en-GB" dirty="0">
                <a:solidFill>
                  <a:srgbClr val="263238"/>
                </a:solidFill>
              </a:rPr>
              <a:t> (and optionally </a:t>
            </a:r>
            <a:r>
              <a:rPr lang="en-GB" dirty="0" err="1">
                <a:solidFill>
                  <a:srgbClr val="263238"/>
                </a:solidFill>
              </a:rPr>
              <a:t>PyCharm</a:t>
            </a:r>
            <a:r>
              <a:rPr lang="en-GB" dirty="0">
                <a:solidFill>
                  <a:srgbClr val="263238"/>
                </a:solidFill>
              </a:rPr>
              <a:t>), you can run the program included here as an attachment</a:t>
            </a:r>
          </a:p>
        </p:txBody>
      </p:sp>
      <p:sp>
        <p:nvSpPr>
          <p:cNvPr id="3" name="TextBox 2"/>
          <p:cNvSpPr txBox="1"/>
          <p:nvPr/>
        </p:nvSpPr>
        <p:spPr>
          <a:xfrm>
            <a:off x="416560" y="1361440"/>
            <a:ext cx="2727960"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rPr>
              <a:t>Put in the same folder the code file and the excel input file provided as attachments to this document</a:t>
            </a:r>
          </a:p>
        </p:txBody>
      </p:sp>
      <p:sp>
        <p:nvSpPr>
          <p:cNvPr id="7" name="TextBox 6"/>
          <p:cNvSpPr txBox="1"/>
          <p:nvPr/>
        </p:nvSpPr>
        <p:spPr>
          <a:xfrm>
            <a:off x="416560" y="3108960"/>
            <a:ext cx="272796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rPr>
              <a:t>Run the python script from the command line</a:t>
            </a:r>
          </a:p>
        </p:txBody>
      </p:sp>
      <p:sp>
        <p:nvSpPr>
          <p:cNvPr id="9" name="TextBox 8"/>
          <p:cNvSpPr txBox="1"/>
          <p:nvPr/>
        </p:nvSpPr>
        <p:spPr>
          <a:xfrm>
            <a:off x="416560" y="4810760"/>
            <a:ext cx="272796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273050" lvl="1" indent="-273050" algn="l">
              <a:spcBef>
                <a:spcPts val="400"/>
              </a:spcBef>
              <a:spcAft>
                <a:spcPts val="400"/>
              </a:spcAft>
              <a:buClr>
                <a:schemeClr val="accent2">
                  <a:lumMod val="100000"/>
                </a:schemeClr>
              </a:buClr>
              <a:buSzPct val="95000"/>
              <a:buFont typeface="Wingdings 2" panose="05020102010507070707" pitchFamily="18" charset="2"/>
              <a:buChar char=""/>
            </a:pPr>
            <a:r>
              <a:rPr lang="en-GB" sz="1600" b="0" dirty="0">
                <a:solidFill>
                  <a:srgbClr val="263238"/>
                </a:solidFill>
              </a:rPr>
              <a:t>Alternatively, open the python file from </a:t>
            </a:r>
            <a:r>
              <a:rPr lang="en-GB" sz="1600" b="0" dirty="0" err="1">
                <a:solidFill>
                  <a:srgbClr val="263238"/>
                </a:solidFill>
              </a:rPr>
              <a:t>PyCharm</a:t>
            </a:r>
            <a:r>
              <a:rPr lang="en-GB" sz="1600" b="0" dirty="0">
                <a:solidFill>
                  <a:srgbClr val="263238"/>
                </a:solidFill>
              </a:rPr>
              <a:t> (where it is easier to read and make changes to the script) and execute the script from there</a:t>
            </a:r>
          </a:p>
        </p:txBody>
      </p:sp>
      <p:grpSp>
        <p:nvGrpSpPr>
          <p:cNvPr id="37" name="Group 36"/>
          <p:cNvGrpSpPr/>
          <p:nvPr/>
        </p:nvGrpSpPr>
        <p:grpSpPr>
          <a:xfrm>
            <a:off x="375920" y="1295400"/>
            <a:ext cx="6954520" cy="3449320"/>
            <a:chOff x="375920" y="1295400"/>
            <a:chExt cx="8773160" cy="3449320"/>
          </a:xfrm>
        </p:grpSpPr>
        <p:cxnSp>
          <p:nvCxnSpPr>
            <p:cNvPr id="5" name="Straight Connector 4"/>
            <p:cNvCxnSpPr/>
            <p:nvPr/>
          </p:nvCxnSpPr>
          <p:spPr bwMode="auto">
            <a:xfrm>
              <a:off x="375920" y="1295400"/>
              <a:ext cx="8773160" cy="0"/>
            </a:xfrm>
            <a:prstGeom prst="line">
              <a:avLst/>
            </a:prstGeom>
            <a:solidFill>
              <a:schemeClr val="accent1"/>
            </a:solidFill>
            <a:ln w="9525" cap="flat" cmpd="sng" algn="ctr">
              <a:solidFill>
                <a:srgbClr val="167D9A"/>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Connector 7"/>
            <p:cNvCxnSpPr/>
            <p:nvPr/>
          </p:nvCxnSpPr>
          <p:spPr bwMode="auto">
            <a:xfrm>
              <a:off x="375920" y="3020060"/>
              <a:ext cx="8773160" cy="0"/>
            </a:xfrm>
            <a:prstGeom prst="line">
              <a:avLst/>
            </a:prstGeom>
            <a:solidFill>
              <a:schemeClr val="accent1"/>
            </a:solidFill>
            <a:ln w="9525" cap="flat" cmpd="sng" algn="ctr">
              <a:solidFill>
                <a:srgbClr val="167D9A"/>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Connector 9"/>
            <p:cNvCxnSpPr/>
            <p:nvPr/>
          </p:nvCxnSpPr>
          <p:spPr bwMode="auto">
            <a:xfrm>
              <a:off x="375920" y="4744720"/>
              <a:ext cx="8773160" cy="0"/>
            </a:xfrm>
            <a:prstGeom prst="line">
              <a:avLst/>
            </a:prstGeom>
            <a:solidFill>
              <a:schemeClr val="accent1"/>
            </a:solidFill>
            <a:ln w="9525" cap="flat" cmpd="sng" algn="ctr">
              <a:solidFill>
                <a:srgbClr val="167D9A"/>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1" name="Picture 10"/>
          <p:cNvPicPr>
            <a:picLocks noChangeAspect="1"/>
          </p:cNvPicPr>
          <p:nvPr/>
        </p:nvPicPr>
        <p:blipFill>
          <a:blip r:embed="rId2"/>
          <a:stretch>
            <a:fillRect/>
          </a:stretch>
        </p:blipFill>
        <p:spPr>
          <a:xfrm>
            <a:off x="6488712" y="1724501"/>
            <a:ext cx="897254" cy="897254"/>
          </a:xfrm>
          <a:prstGeom prst="rect">
            <a:avLst/>
          </a:prstGeom>
        </p:spPr>
      </p:pic>
      <p:pic>
        <p:nvPicPr>
          <p:cNvPr id="12" name="Picture 11"/>
          <p:cNvPicPr>
            <a:picLocks noChangeAspect="1"/>
          </p:cNvPicPr>
          <p:nvPr/>
        </p:nvPicPr>
        <p:blipFill>
          <a:blip r:embed="rId3"/>
          <a:stretch>
            <a:fillRect/>
          </a:stretch>
        </p:blipFill>
        <p:spPr>
          <a:xfrm>
            <a:off x="3203800" y="1667550"/>
            <a:ext cx="865108" cy="865108"/>
          </a:xfrm>
          <a:prstGeom prst="rect">
            <a:avLst/>
          </a:prstGeom>
        </p:spPr>
      </p:pic>
      <p:pic>
        <p:nvPicPr>
          <p:cNvPr id="13" name="Picture 12"/>
          <p:cNvPicPr>
            <a:picLocks noChangeAspect="1"/>
          </p:cNvPicPr>
          <p:nvPr/>
        </p:nvPicPr>
        <p:blipFill>
          <a:blip r:embed="rId4"/>
          <a:stretch>
            <a:fillRect/>
          </a:stretch>
        </p:blipFill>
        <p:spPr>
          <a:xfrm>
            <a:off x="4802560" y="1666398"/>
            <a:ext cx="1013460" cy="1013460"/>
          </a:xfrm>
          <a:prstGeom prst="rect">
            <a:avLst/>
          </a:prstGeom>
        </p:spPr>
      </p:pic>
      <p:cxnSp>
        <p:nvCxnSpPr>
          <p:cNvPr id="15" name="Elbow Connector 14"/>
          <p:cNvCxnSpPr>
            <a:stCxn id="12" idx="0"/>
            <a:endCxn id="11" idx="0"/>
          </p:cNvCxnSpPr>
          <p:nvPr/>
        </p:nvCxnSpPr>
        <p:spPr bwMode="auto">
          <a:xfrm rot="16200000" flipH="1">
            <a:off x="5258370" y="45533"/>
            <a:ext cx="56951" cy="3300985"/>
          </a:xfrm>
          <a:prstGeom prst="bentConnector3">
            <a:avLst>
              <a:gd name="adj1" fmla="val -401398"/>
            </a:avLst>
          </a:prstGeom>
          <a:solidFill>
            <a:schemeClr val="accent1"/>
          </a:solidFill>
          <a:ln w="19050" cap="flat" cmpd="sng" algn="ctr">
            <a:solidFill>
              <a:srgbClr val="64748B"/>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Elbow Connector 16"/>
          <p:cNvCxnSpPr>
            <a:stCxn id="13" idx="0"/>
            <a:endCxn id="11" idx="0"/>
          </p:cNvCxnSpPr>
          <p:nvPr/>
        </p:nvCxnSpPr>
        <p:spPr bwMode="auto">
          <a:xfrm rot="16200000" flipH="1">
            <a:off x="6094262" y="881425"/>
            <a:ext cx="58103" cy="1628049"/>
          </a:xfrm>
          <a:prstGeom prst="bentConnector3">
            <a:avLst>
              <a:gd name="adj1" fmla="val -393439"/>
            </a:avLst>
          </a:prstGeom>
          <a:solidFill>
            <a:schemeClr val="accent1"/>
          </a:solidFill>
          <a:ln w="19050" cap="flat" cmpd="sng" algn="ctr">
            <a:solidFill>
              <a:srgbClr val="64748B"/>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Box 27"/>
          <p:cNvSpPr txBox="1"/>
          <p:nvPr/>
        </p:nvSpPr>
        <p:spPr>
          <a:xfrm>
            <a:off x="3289989" y="4092573"/>
            <a:ext cx="42011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400"/>
              </a:spcBef>
              <a:spcAft>
                <a:spcPts val="400"/>
              </a:spcAft>
              <a:buClr>
                <a:schemeClr val="accent2">
                  <a:lumMod val="100000"/>
                </a:schemeClr>
              </a:buClr>
              <a:buSzPct val="95000"/>
            </a:pPr>
            <a:r>
              <a:rPr lang="en-GB" sz="1600" b="0" dirty="0">
                <a:solidFill>
                  <a:srgbClr val="263238"/>
                </a:solidFill>
                <a:latin typeface="Lucida Console" panose="020B0609040504020204" pitchFamily="49" charset="0"/>
              </a:rPr>
              <a:t>C:\folder&gt; python sim_factory.py</a:t>
            </a:r>
          </a:p>
        </p:txBody>
      </p:sp>
      <p:sp>
        <p:nvSpPr>
          <p:cNvPr id="29" name="TextBox 28"/>
          <p:cNvSpPr txBox="1"/>
          <p:nvPr/>
        </p:nvSpPr>
        <p:spPr>
          <a:xfrm>
            <a:off x="6569992" y="2544049"/>
            <a:ext cx="100053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400"/>
              </a:spcBef>
              <a:spcAft>
                <a:spcPts val="400"/>
              </a:spcAft>
              <a:buClr>
                <a:schemeClr val="accent2">
                  <a:lumMod val="100000"/>
                </a:schemeClr>
              </a:buClr>
              <a:buSzPct val="95000"/>
            </a:pPr>
            <a:r>
              <a:rPr lang="en-GB" sz="1200" b="0" dirty="0">
                <a:solidFill>
                  <a:srgbClr val="263238"/>
                </a:solidFill>
                <a:latin typeface="Lucida Console" panose="020B0609040504020204" pitchFamily="49" charset="0"/>
              </a:rPr>
              <a:t>\folder</a:t>
            </a:r>
          </a:p>
        </p:txBody>
      </p:sp>
      <p:sp>
        <p:nvSpPr>
          <p:cNvPr id="30" name="TextBox 29"/>
          <p:cNvSpPr txBox="1"/>
          <p:nvPr/>
        </p:nvSpPr>
        <p:spPr>
          <a:xfrm>
            <a:off x="4746272" y="2698243"/>
            <a:ext cx="166468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400"/>
              </a:spcBef>
              <a:spcAft>
                <a:spcPts val="400"/>
              </a:spcAft>
              <a:buClr>
                <a:schemeClr val="accent2">
                  <a:lumMod val="100000"/>
                </a:schemeClr>
              </a:buClr>
              <a:buSzPct val="95000"/>
            </a:pPr>
            <a:r>
              <a:rPr lang="en-GB" sz="1200" b="0" dirty="0">
                <a:solidFill>
                  <a:srgbClr val="263238"/>
                </a:solidFill>
                <a:latin typeface="Lucida Console" panose="020B0609040504020204" pitchFamily="49" charset="0"/>
              </a:rPr>
              <a:t>sim_factory.py</a:t>
            </a:r>
          </a:p>
        </p:txBody>
      </p:sp>
      <p:sp>
        <p:nvSpPr>
          <p:cNvPr id="31" name="TextBox 30"/>
          <p:cNvSpPr txBox="1"/>
          <p:nvPr/>
        </p:nvSpPr>
        <p:spPr>
          <a:xfrm>
            <a:off x="2452080" y="2541145"/>
            <a:ext cx="260604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400"/>
              </a:spcBef>
              <a:spcAft>
                <a:spcPts val="400"/>
              </a:spcAft>
              <a:buClr>
                <a:schemeClr val="accent2">
                  <a:lumMod val="100000"/>
                </a:schemeClr>
              </a:buClr>
              <a:buSzPct val="95000"/>
            </a:pPr>
            <a:r>
              <a:rPr lang="en-GB" sz="1200" b="0" dirty="0">
                <a:solidFill>
                  <a:srgbClr val="263238"/>
                </a:solidFill>
                <a:latin typeface="Lucida Console" panose="020B0609040504020204" pitchFamily="49" charset="0"/>
              </a:rPr>
              <a:t>sim_factory_inputs.xlsx</a:t>
            </a:r>
          </a:p>
        </p:txBody>
      </p:sp>
      <p:pic>
        <p:nvPicPr>
          <p:cNvPr id="33" name="Picture 32"/>
          <p:cNvPicPr>
            <a:picLocks noChangeAspect="1"/>
          </p:cNvPicPr>
          <p:nvPr/>
        </p:nvPicPr>
        <p:blipFill>
          <a:blip r:embed="rId5"/>
          <a:stretch>
            <a:fillRect/>
          </a:stretch>
        </p:blipFill>
        <p:spPr>
          <a:xfrm>
            <a:off x="3568264" y="5029200"/>
            <a:ext cx="2700385" cy="981109"/>
          </a:xfrm>
          <a:prstGeom prst="rect">
            <a:avLst/>
          </a:prstGeom>
        </p:spPr>
      </p:pic>
      <p:pic>
        <p:nvPicPr>
          <p:cNvPr id="34" name="Picture 33"/>
          <p:cNvPicPr>
            <a:picLocks noChangeAspect="1"/>
          </p:cNvPicPr>
          <p:nvPr/>
        </p:nvPicPr>
        <p:blipFill>
          <a:blip r:embed="rId6"/>
          <a:stretch>
            <a:fillRect/>
          </a:stretch>
        </p:blipFill>
        <p:spPr>
          <a:xfrm>
            <a:off x="3289989" y="3224330"/>
            <a:ext cx="865491" cy="747225"/>
          </a:xfrm>
          <a:prstGeom prst="rect">
            <a:avLst/>
          </a:prstGeom>
        </p:spPr>
      </p:pic>
      <p:pic>
        <p:nvPicPr>
          <p:cNvPr id="40" name="Picture 39"/>
          <p:cNvPicPr>
            <a:picLocks noChangeAspect="1"/>
          </p:cNvPicPr>
          <p:nvPr/>
        </p:nvPicPr>
        <p:blipFill>
          <a:blip r:embed="rId2"/>
          <a:stretch>
            <a:fillRect/>
          </a:stretch>
        </p:blipFill>
        <p:spPr>
          <a:xfrm>
            <a:off x="8306833" y="5185330"/>
            <a:ext cx="897254" cy="897254"/>
          </a:xfrm>
          <a:prstGeom prst="rect">
            <a:avLst/>
          </a:prstGeom>
        </p:spPr>
      </p:pic>
      <p:sp>
        <p:nvSpPr>
          <p:cNvPr id="41" name="TextBox 40"/>
          <p:cNvSpPr txBox="1"/>
          <p:nvPr/>
        </p:nvSpPr>
        <p:spPr>
          <a:xfrm>
            <a:off x="8124574" y="6074071"/>
            <a:ext cx="1585767"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400"/>
              </a:spcBef>
              <a:spcAft>
                <a:spcPts val="400"/>
              </a:spcAft>
              <a:buClr>
                <a:schemeClr val="accent2">
                  <a:lumMod val="100000"/>
                </a:schemeClr>
              </a:buClr>
              <a:buSzPct val="95000"/>
            </a:pPr>
            <a:r>
              <a:rPr lang="en-GB" sz="1200" b="0" dirty="0">
                <a:solidFill>
                  <a:srgbClr val="263238"/>
                </a:solidFill>
                <a:latin typeface="Lucida Console" panose="020B0609040504020204" pitchFamily="49" charset="0"/>
              </a:rPr>
              <a:t>\folder\output</a:t>
            </a:r>
          </a:p>
        </p:txBody>
      </p:sp>
      <p:sp>
        <p:nvSpPr>
          <p:cNvPr id="42" name="TextBox 41"/>
          <p:cNvSpPr txBox="1"/>
          <p:nvPr/>
        </p:nvSpPr>
        <p:spPr>
          <a:xfrm>
            <a:off x="7702408" y="1695449"/>
            <a:ext cx="2084239" cy="3406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lvl="1" algn="l">
              <a:spcBef>
                <a:spcPts val="400"/>
              </a:spcBef>
              <a:spcAft>
                <a:spcPts val="400"/>
              </a:spcAft>
              <a:buClr>
                <a:schemeClr val="accent2">
                  <a:lumMod val="100000"/>
                </a:schemeClr>
              </a:buClr>
              <a:buSzPct val="95000"/>
            </a:pPr>
            <a:r>
              <a:rPr lang="en-GB" sz="1600" b="0" dirty="0">
                <a:solidFill>
                  <a:srgbClr val="263238"/>
                </a:solidFill>
              </a:rPr>
              <a:t>An output folder will be generated which will include two files</a:t>
            </a:r>
          </a:p>
          <a:p>
            <a:pPr marL="180975"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A copy of the input file for future reference, as the original input file may be changed for what if analyses</a:t>
            </a:r>
          </a:p>
          <a:p>
            <a:pPr marL="180975" lvl="2" indent="-180975" algn="l">
              <a:spcBef>
                <a:spcPts val="400"/>
              </a:spcBef>
              <a:spcAft>
                <a:spcPts val="400"/>
              </a:spcAft>
              <a:buClr>
                <a:schemeClr val="accent2">
                  <a:lumMod val="100000"/>
                </a:schemeClr>
              </a:buClr>
              <a:buSzPct val="130000"/>
              <a:buFont typeface="Arial" panose="020B0604020202020204" pitchFamily="34" charset="0"/>
              <a:buChar char="›"/>
            </a:pPr>
            <a:r>
              <a:rPr lang="en-GB" sz="1600" b="0" dirty="0">
                <a:solidFill>
                  <a:srgbClr val="263238"/>
                </a:solidFill>
              </a:rPr>
              <a:t>The output spreadsheet to be further analysed and pivoted</a:t>
            </a:r>
          </a:p>
        </p:txBody>
      </p:sp>
      <p:cxnSp>
        <p:nvCxnSpPr>
          <p:cNvPr id="44" name="Straight Connector 43"/>
          <p:cNvCxnSpPr/>
          <p:nvPr/>
        </p:nvCxnSpPr>
        <p:spPr bwMode="auto">
          <a:xfrm flipH="1">
            <a:off x="7524015" y="1441715"/>
            <a:ext cx="41966" cy="5059680"/>
          </a:xfrm>
          <a:prstGeom prst="line">
            <a:avLst/>
          </a:prstGeom>
          <a:solidFill>
            <a:schemeClr val="accent1"/>
          </a:solidFill>
          <a:ln w="19050" cap="flat" cmpd="sng" algn="ctr">
            <a:solidFill>
              <a:srgbClr val="167D9A"/>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872350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cd991bf-f022-4378-96e7-2c338aeb3f5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gjNwlmDbW0Cepmes5HJ7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ysDc8c4uNU6qIndb8IgQM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IczpEjozOUerWDUr6XZuR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em117I_NaUq0dN_exp6kT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XcnbTVuvu0ea021_jvAYR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Sd_G7icxx0Gla6J3N1Rkg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M50TxWoPzkmAvcJke2CFT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IZRo7qHsEaVHq9xG5dtK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T_UysQl02kIo2xwcGQs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zzZ6.qW7TEeVYlTStPmxW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RfNrnov.eE.rS0N.D8ZuL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NsNdLlnBU0.cIH3WGTmC9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VS6XL2Mj3U6iEYPDwV.tg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IsWg2SrECXJgpIwaW_e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mXiKt7ApQ0S1QrKtO_O.w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d6Tcgy1aNEi_nPoYzC3d6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baaeFZwQekaKlwrr6IEUD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RH3XhV9QvEqe4egv6YtKK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fJhVsresVECOukKU8Dxvt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S43RhlAKb0WTAZ6Vf2MwM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VOgzsDfJ0mKhBzlhTy3h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Rkn3aee81UqqT2PbrH1MD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efjIoLvimE2MhYrMd.2yD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GA1KS4MYIE.lUzXUJdmAw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U97.g637tEG3Lit6fFH4A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5P7NaeTNyEal960QgivJ5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9KPd6HyjgUuNFAauYDtUy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Gpz.O0tCpkStw5XXpza5l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VGbw896RkkKkaEGJnr13c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G8svV64HvEWJwlzW8YmdX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5Oz4Ztzpe0.WhJKed6E4A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9KPd6HyjgUuNFAauYDtUy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Gpz.O0tCpkStw5XXpza5l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efkMuwu.nkaW95itciW9y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G8svV64HvEWJwlzW8YmdX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5Oz4Ztzpe0.WhJKed6E4A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y95fr75k4UyvwGRa2_Aq8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e8pBFJ70kkGkb3FjIOvzO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4rd__9.0SkCEh0xwUvPiO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TTNO8yrf6kKpBNGjFJgzy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L1NxXAGFF0.tR2VS3g0Ne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Z3VgrFCQOUGjWohQxhRQ1Q"/>
</p:tagLst>
</file>

<file path=ppt/theme/theme1.xml><?xml version="1.0" encoding="utf-8"?>
<a:theme xmlns:a="http://schemas.openxmlformats.org/drawingml/2006/main" name="Factory Toolkit">
  <a:themeElements>
    <a:clrScheme name="Factory_Grey">
      <a:dk1>
        <a:srgbClr val="263238"/>
      </a:dk1>
      <a:lt1>
        <a:srgbClr val="FFFFFF"/>
      </a:lt1>
      <a:dk2>
        <a:srgbClr val="0F766E"/>
      </a:dk2>
      <a:lt2>
        <a:srgbClr val="64748B"/>
      </a:lt2>
      <a:accent1>
        <a:srgbClr val="0F766E"/>
      </a:accent1>
      <a:accent2>
        <a:srgbClr val="167D9A"/>
      </a:accent2>
      <a:accent3>
        <a:srgbClr val="70A288"/>
      </a:accent3>
      <a:accent4>
        <a:srgbClr val="5BA8A0"/>
      </a:accent4>
      <a:accent5>
        <a:srgbClr val="DCEFEB"/>
      </a:accent5>
      <a:accent6>
        <a:srgbClr val="CBD5D1"/>
      </a:accent6>
      <a:hlink>
        <a:srgbClr val="263238"/>
      </a:hlink>
      <a:folHlink>
        <a:srgbClr val="64748B"/>
      </a:folHlink>
    </a:clrScheme>
    <a:fontScheme name="Factory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lumMod val="20000"/>
            <a:lumOff val="80000"/>
          </a:schemeClr>
        </a:solidFill>
        <a:ln w="9525" cap="flat" cmpd="sng" algn="ctr">
          <a:solidFill>
            <a:schemeClr val="bg2"/>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noAutofit/>
      </a:bodyPr>
      <a:lstStyle>
        <a:defPPr marL="0" marR="0" indent="0" algn="l" defTabSz="914400" rtl="0" eaLnBrk="0" fontAlgn="base" latinLnBrk="0" hangingPunct="0">
          <a:lnSpc>
            <a:spcPct val="100000"/>
          </a:lnSpc>
          <a:spcBef>
            <a:spcPct val="0"/>
          </a:spcBef>
          <a:spcAft>
            <a:spcPct val="0"/>
          </a:spcAft>
          <a:buClrTx/>
          <a:buSzTx/>
          <a:buFontTx/>
          <a:buNone/>
          <a:tabLst/>
          <a:defRPr kumimoji="0" sz="1600" b="0" i="0" u="none" strike="noStrike" cap="none" normalizeH="0" baseline="0" dirty="0" err="1" smtClean="0">
            <a:ln>
              <a:noFill/>
            </a:ln>
            <a:solidFill>
              <a:schemeClr val="tx1"/>
            </a:solidFill>
            <a:effectLst/>
            <a:latin typeface="Arial" charset="0"/>
            <a:ea typeface="Arial Unicode MS" pitchFamily="34" charset="-128"/>
            <a:cs typeface="Arial Unicode MS" pitchFamily="34" charset="-128"/>
          </a:defRPr>
        </a:defPPr>
      </a:lstStyle>
    </a:spDef>
    <a:lnDef>
      <a:spPr bwMode="auto">
        <a:solidFill>
          <a:schemeClr val="accent1"/>
        </a:solidFill>
        <a:ln w="1905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rtlCol="0" anchor="t" anchorCtr="0" compatLnSpc="1">
        <a:prstTxWarp prst="textNoShape">
          <a:avLst/>
        </a:prstTxWarp>
        <a:spAutoFit/>
      </a:bodyPr>
      <a:lstStyle>
        <a:defPPr marL="268288" indent="-268288" algn="l">
          <a:spcBef>
            <a:spcPts val="400"/>
          </a:spcBef>
          <a:spcAft>
            <a:spcPts val="400"/>
          </a:spcAft>
          <a:buClr>
            <a:schemeClr val="accent2"/>
          </a:buClr>
          <a:buSzPct val="95000"/>
          <a:buFont typeface="Wingdings 2" panose="05020102010507070707" pitchFamily="18" charset="2"/>
          <a:buChar char="¾"/>
          <a:defRPr sz="1600" b="0" dirty="0" err="1" smtClean="0"/>
        </a:defPPr>
      </a:lstStyle>
    </a:txDef>
  </a:objectDefaults>
  <a:extraClrSchemeLst/>
</a:theme>
</file>

<file path=ppt/theme/theme2.xml><?xml version="1.0" encoding="utf-8"?>
<a:theme xmlns:a="http://schemas.openxmlformats.org/drawingml/2006/main" name="Office Theme">
  <a:themeElements>
    <a:clrScheme name="_Factory">
      <a:dk1>
        <a:srgbClr val="6A615A"/>
      </a:dk1>
      <a:lt1>
        <a:srgbClr val="FFFFFF"/>
      </a:lt1>
      <a:dk2>
        <a:srgbClr val="442778"/>
      </a:dk2>
      <a:lt2>
        <a:srgbClr val="8D8279"/>
      </a:lt2>
      <a:accent1>
        <a:srgbClr val="442778"/>
      </a:accent1>
      <a:accent2>
        <a:srgbClr val="EF7918"/>
      </a:accent2>
      <a:accent3>
        <a:srgbClr val="CFBF4E"/>
      </a:accent3>
      <a:accent4>
        <a:srgbClr val="62B9B4"/>
      </a:accent4>
      <a:accent5>
        <a:srgbClr val="DDD1E9"/>
      </a:accent5>
      <a:accent6>
        <a:srgbClr val="BBB4AF"/>
      </a:accent6>
      <a:hlink>
        <a:srgbClr val="6A615A"/>
      </a:hlink>
      <a:folHlink>
        <a:srgbClr val="BBB4AF"/>
      </a:folHlink>
    </a:clrScheme>
    <a:fontScheme name="Factory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_Factory">
      <a:dk1>
        <a:srgbClr val="6A615A"/>
      </a:dk1>
      <a:lt1>
        <a:srgbClr val="FFFFFF"/>
      </a:lt1>
      <a:dk2>
        <a:srgbClr val="442778"/>
      </a:dk2>
      <a:lt2>
        <a:srgbClr val="8D8279"/>
      </a:lt2>
      <a:accent1>
        <a:srgbClr val="442778"/>
      </a:accent1>
      <a:accent2>
        <a:srgbClr val="EF7918"/>
      </a:accent2>
      <a:accent3>
        <a:srgbClr val="CFBF4E"/>
      </a:accent3>
      <a:accent4>
        <a:srgbClr val="62B9B4"/>
      </a:accent4>
      <a:accent5>
        <a:srgbClr val="DDD1E9"/>
      </a:accent5>
      <a:accent6>
        <a:srgbClr val="BBB4AF"/>
      </a:accent6>
      <a:hlink>
        <a:srgbClr val="6A615A"/>
      </a:hlink>
      <a:folHlink>
        <a:srgbClr val="BBB4AF"/>
      </a:folHlink>
    </a:clrScheme>
    <a:fontScheme name="Factory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3823</Words>
  <Application>Microsoft Office PowerPoint</Application>
  <PresentationFormat>A4 Paper (210x297 mm)</PresentationFormat>
  <Paragraphs>332</Paragraphs>
  <Slides>34</Slides>
  <Notes>24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Arial Unicode MS</vt:lpstr>
      <vt:lpstr>Lucida Console</vt:lpstr>
      <vt:lpstr>Wingdings 2</vt:lpstr>
      <vt:lpstr>Factory Toolkit</vt:lpstr>
      <vt:lpstr>Agenda</vt:lpstr>
      <vt:lpstr>Nailing the dynamic of complex production systems may require the application of computer simulation modelling</vt:lpstr>
      <vt:lpstr>FSM-B: The basic model is flexible and powerful enough to solve a large set of problems; furthermore, it can be easily extended</vt:lpstr>
      <vt:lpstr>Agenda</vt:lpstr>
      <vt:lpstr>Agenda</vt:lpstr>
      <vt:lpstr>The bill of material describes the “composition” of products and can be implemented through a “recursive” database</vt:lpstr>
      <vt:lpstr>The example that will be solved is realized with the inputs illustrated hereby and in the following pages</vt:lpstr>
      <vt:lpstr>Information about the content of work, labour hours and machine hours for each product, are included in a “bill of labour” BOM table</vt:lpstr>
      <vt:lpstr>The yearly openings schedule and the available workforce is included in a file that gives the key inputs for each production day</vt:lpstr>
      <vt:lpstr>Additional information on products, machines, and other can be set in separated sheets that are connected to the BOM and BOL tables</vt:lpstr>
      <vt:lpstr>At time zero, when the simulation starts, the warehouse may already store some components that shall not be produced again</vt:lpstr>
      <vt:lpstr>The production schedule tells when the production shall start for each order – the delivery date is generated through the simulation</vt:lpstr>
      <vt:lpstr>Converting the typical table for a production schedule in a sequence of orders format can be easily done within excel</vt:lpstr>
      <vt:lpstr>Agenda</vt:lpstr>
      <vt:lpstr>The output of the model is a table listing all production events, which can be further analysed, for instance through pivoting</vt:lpstr>
      <vt:lpstr>Bottlenecks location can be identified easily by plotting the weekly hours utilized for each cell</vt:lpstr>
      <vt:lpstr>The production lead time and the delivery dates can be assessed to understand whether the factory has enough capacity</vt:lpstr>
      <vt:lpstr>Also observing the delivery date for each order it can be understood whether the factory capacity is sufficient </vt:lpstr>
      <vt:lpstr>Total labour hours simulated per week is an information that can be used to better plan hiring and define line balance</vt:lpstr>
      <vt:lpstr>Agenda</vt:lpstr>
      <vt:lpstr>The simulation model has been implemented following a relatively simple and visual process which can be adapted to different needs</vt:lpstr>
      <vt:lpstr>The simulation is initiated creating the objects that will last for the entire duration and running the time-line from start to end</vt:lpstr>
      <vt:lpstr>When a production of a final product is started, the bill of material is recursively looked up to schedule the production of components</vt:lpstr>
      <vt:lpstr>Production box objects are used to signal the need for a product, which can trigger production, purchasing, or warehouse withdraw</vt:lpstr>
      <vt:lpstr>The components and subcomponents to be produced require time from work station and blue collars</vt:lpstr>
      <vt:lpstr>Components are produced trough an inverse order in respect to the bom listing – from subcomponents to assemblies</vt:lpstr>
      <vt:lpstr>Agenda</vt:lpstr>
      <vt:lpstr>The model is already quite flexible, and can be easily extended</vt:lpstr>
      <vt:lpstr>The model has been designed starting from fundamental architectural choices</vt:lpstr>
      <vt:lpstr>Many articles on the web explain how useful is Python for the business and scientific worlds</vt:lpstr>
      <vt:lpstr>Python infrastructure can be used, complementary to Excel, to work with large dataset and implement complex algorithms </vt:lpstr>
      <vt:lpstr>Agenda</vt:lpstr>
      <vt:lpstr>Installing the software is easy and has virtually zero impact on the hosting computer</vt:lpstr>
      <vt:lpstr>After installing Anaconda and SimPy (and optionally PyCharm), you can run the program included here as an attachment</vt:lpstr>
    </vt:vector>
  </TitlesOfParts>
  <Manager/>
  <Company>Factory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Fausto Palma</cp:lastModifiedBy>
  <cp:revision>216</cp:revision>
  <cp:lastPrinted>2015-07-23T08:08:43Z</cp:lastPrinted>
  <dcterms:created xsi:type="dcterms:W3CDTF">2015-07-13T06:47:52Z</dcterms:created>
  <dcterms:modified xsi:type="dcterms:W3CDTF">2026-10-15T12:40:21Z</dcterms:modified>
</cp:coreProperties>
</file>